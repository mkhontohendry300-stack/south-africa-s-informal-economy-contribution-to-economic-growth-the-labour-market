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Lst>
  <p:notesMasterIdLst>
    <p:notesMasterId r:id="rId32"/>
  </p:notesMasterIdLst>
  <p:sldIdLst>
    <p:sldId id="256" r:id="rId5"/>
    <p:sldId id="290" r:id="rId6"/>
    <p:sldId id="257" r:id="rId7"/>
    <p:sldId id="272" r:id="rId8"/>
    <p:sldId id="265" r:id="rId9"/>
    <p:sldId id="266" r:id="rId10"/>
    <p:sldId id="270" r:id="rId11"/>
    <p:sldId id="284" r:id="rId12"/>
    <p:sldId id="294" r:id="rId13"/>
    <p:sldId id="268" r:id="rId14"/>
    <p:sldId id="288" r:id="rId15"/>
    <p:sldId id="259" r:id="rId16"/>
    <p:sldId id="289" r:id="rId17"/>
    <p:sldId id="291" r:id="rId18"/>
    <p:sldId id="269" r:id="rId19"/>
    <p:sldId id="260" r:id="rId20"/>
    <p:sldId id="293" r:id="rId21"/>
    <p:sldId id="292" r:id="rId22"/>
    <p:sldId id="295" r:id="rId23"/>
    <p:sldId id="273" r:id="rId24"/>
    <p:sldId id="274" r:id="rId25"/>
    <p:sldId id="279" r:id="rId26"/>
    <p:sldId id="281" r:id="rId27"/>
    <p:sldId id="262" r:id="rId28"/>
    <p:sldId id="283" r:id="rId29"/>
    <p:sldId id="263" r:id="rId30"/>
    <p:sldId id="287"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0" autoAdjust="0"/>
  </p:normalViewPr>
  <p:slideViewPr>
    <p:cSldViewPr snapToGrid="0">
      <p:cViewPr varScale="1">
        <p:scale>
          <a:sx n="113" d="100"/>
          <a:sy n="113" d="100"/>
        </p:scale>
        <p:origin x="1152" y="10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_rels/data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ata8.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rawing8.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F1AAA0-98D8-4BC2-A3B0-55195F58DB3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1CD5EE9-EDBD-484B-B3F1-2B672D61CCD8}">
      <dgm:prSet custT="1"/>
      <dgm:spPr/>
      <dgm:t>
        <a:bodyPr/>
        <a:lstStyle/>
        <a:p>
          <a:pPr>
            <a:lnSpc>
              <a:spcPct val="100000"/>
            </a:lnSpc>
          </a:pPr>
          <a:r>
            <a:rPr lang="en-US" sz="2000" dirty="0"/>
            <a:t>Introduction</a:t>
          </a:r>
        </a:p>
      </dgm:t>
    </dgm:pt>
    <dgm:pt modelId="{3DC312E4-F695-4F97-9DC3-2F0597E25F38}" type="parTrans" cxnId="{A260C031-095F-48DD-8661-8C00B79FFC09}">
      <dgm:prSet/>
      <dgm:spPr/>
      <dgm:t>
        <a:bodyPr/>
        <a:lstStyle/>
        <a:p>
          <a:endParaRPr lang="en-US"/>
        </a:p>
      </dgm:t>
    </dgm:pt>
    <dgm:pt modelId="{4A93F337-3166-48FE-BB28-DEA9FEE564DC}" type="sibTrans" cxnId="{A260C031-095F-48DD-8661-8C00B79FFC09}">
      <dgm:prSet/>
      <dgm:spPr/>
      <dgm:t>
        <a:bodyPr/>
        <a:lstStyle/>
        <a:p>
          <a:pPr>
            <a:lnSpc>
              <a:spcPct val="100000"/>
            </a:lnSpc>
          </a:pPr>
          <a:endParaRPr lang="en-US"/>
        </a:p>
      </dgm:t>
    </dgm:pt>
    <dgm:pt modelId="{6F90947D-F4D6-4035-BF06-26106695A855}">
      <dgm:prSet custT="1"/>
      <dgm:spPr/>
      <dgm:t>
        <a:bodyPr/>
        <a:lstStyle/>
        <a:p>
          <a:pPr>
            <a:lnSpc>
              <a:spcPct val="100000"/>
            </a:lnSpc>
          </a:pPr>
          <a:r>
            <a:rPr lang="en-US" sz="2000" dirty="0"/>
            <a:t>Methodology </a:t>
          </a:r>
        </a:p>
      </dgm:t>
    </dgm:pt>
    <dgm:pt modelId="{38D0030E-1826-429B-AE7C-151D20E89506}" type="parTrans" cxnId="{6997A89F-4440-47A5-A1B6-FFD419F21664}">
      <dgm:prSet/>
      <dgm:spPr/>
      <dgm:t>
        <a:bodyPr/>
        <a:lstStyle/>
        <a:p>
          <a:endParaRPr lang="en-US"/>
        </a:p>
      </dgm:t>
    </dgm:pt>
    <dgm:pt modelId="{147DCD7F-6F95-43F2-A368-29A648956C85}" type="sibTrans" cxnId="{6997A89F-4440-47A5-A1B6-FFD419F21664}">
      <dgm:prSet/>
      <dgm:spPr/>
      <dgm:t>
        <a:bodyPr/>
        <a:lstStyle/>
        <a:p>
          <a:pPr>
            <a:lnSpc>
              <a:spcPct val="100000"/>
            </a:lnSpc>
          </a:pPr>
          <a:endParaRPr lang="en-US"/>
        </a:p>
      </dgm:t>
    </dgm:pt>
    <dgm:pt modelId="{AD1B4BC2-AFF5-42AC-B6A5-DA6019B6227C}">
      <dgm:prSet custT="1"/>
      <dgm:spPr/>
      <dgm:t>
        <a:bodyPr/>
        <a:lstStyle/>
        <a:p>
          <a:pPr>
            <a:lnSpc>
              <a:spcPct val="100000"/>
            </a:lnSpc>
          </a:pPr>
          <a:r>
            <a:rPr lang="en-US" sz="2000" dirty="0"/>
            <a:t>Result and Discussion</a:t>
          </a:r>
        </a:p>
      </dgm:t>
    </dgm:pt>
    <dgm:pt modelId="{6F172F97-8ACC-417B-802C-A034A450F0E6}" type="parTrans" cxnId="{625BF700-3014-46BE-8E6E-68FCD6A5CBB1}">
      <dgm:prSet/>
      <dgm:spPr/>
      <dgm:t>
        <a:bodyPr/>
        <a:lstStyle/>
        <a:p>
          <a:endParaRPr lang="en-US"/>
        </a:p>
      </dgm:t>
    </dgm:pt>
    <dgm:pt modelId="{02D6BEBB-DC37-48B2-AAD2-DFB73FD944D4}" type="sibTrans" cxnId="{625BF700-3014-46BE-8E6E-68FCD6A5CBB1}">
      <dgm:prSet/>
      <dgm:spPr/>
      <dgm:t>
        <a:bodyPr/>
        <a:lstStyle/>
        <a:p>
          <a:pPr>
            <a:lnSpc>
              <a:spcPct val="100000"/>
            </a:lnSpc>
          </a:pPr>
          <a:endParaRPr lang="en-US"/>
        </a:p>
      </dgm:t>
    </dgm:pt>
    <dgm:pt modelId="{0001EB46-023A-47AD-BB6E-AA6D8D6DF964}">
      <dgm:prSet custT="1"/>
      <dgm:spPr/>
      <dgm:t>
        <a:bodyPr/>
        <a:lstStyle/>
        <a:p>
          <a:pPr>
            <a:lnSpc>
              <a:spcPct val="100000"/>
            </a:lnSpc>
          </a:pPr>
          <a:r>
            <a:rPr lang="en-US" sz="2000" dirty="0"/>
            <a:t>Conclusion</a:t>
          </a:r>
        </a:p>
      </dgm:t>
    </dgm:pt>
    <dgm:pt modelId="{980850DF-00E6-40A7-A42A-6A274C3B8C69}" type="parTrans" cxnId="{2CA952DC-22D2-4E22-BB5A-9B4BA61B7157}">
      <dgm:prSet/>
      <dgm:spPr/>
      <dgm:t>
        <a:bodyPr/>
        <a:lstStyle/>
        <a:p>
          <a:endParaRPr lang="en-US"/>
        </a:p>
      </dgm:t>
    </dgm:pt>
    <dgm:pt modelId="{EC8D7C71-2939-4BB1-9326-94B206F0F0C8}" type="sibTrans" cxnId="{2CA952DC-22D2-4E22-BB5A-9B4BA61B7157}">
      <dgm:prSet/>
      <dgm:spPr/>
      <dgm:t>
        <a:bodyPr/>
        <a:lstStyle/>
        <a:p>
          <a:pPr>
            <a:lnSpc>
              <a:spcPct val="100000"/>
            </a:lnSpc>
          </a:pPr>
          <a:endParaRPr lang="en-US"/>
        </a:p>
      </dgm:t>
    </dgm:pt>
    <dgm:pt modelId="{E38C3752-C9EB-4B22-81AD-750DE100A3DE}">
      <dgm:prSet custT="1"/>
      <dgm:spPr/>
      <dgm:t>
        <a:bodyPr/>
        <a:lstStyle/>
        <a:p>
          <a:pPr>
            <a:lnSpc>
              <a:spcPct val="100000"/>
            </a:lnSpc>
          </a:pPr>
          <a:r>
            <a:rPr lang="en-US" sz="2000" dirty="0"/>
            <a:t>References</a:t>
          </a:r>
        </a:p>
      </dgm:t>
    </dgm:pt>
    <dgm:pt modelId="{104F8279-4497-4A6E-A609-57596F898103}" type="parTrans" cxnId="{DF739A8D-3AED-41DD-B084-A4BF6375D599}">
      <dgm:prSet/>
      <dgm:spPr/>
      <dgm:t>
        <a:bodyPr/>
        <a:lstStyle/>
        <a:p>
          <a:endParaRPr lang="en-US"/>
        </a:p>
      </dgm:t>
    </dgm:pt>
    <dgm:pt modelId="{AE691FEE-C033-464C-90B8-1D45FCB786BB}" type="sibTrans" cxnId="{DF739A8D-3AED-41DD-B084-A4BF6375D599}">
      <dgm:prSet/>
      <dgm:spPr/>
      <dgm:t>
        <a:bodyPr/>
        <a:lstStyle/>
        <a:p>
          <a:endParaRPr lang="en-US"/>
        </a:p>
      </dgm:t>
    </dgm:pt>
    <dgm:pt modelId="{79F5C2C2-5325-4505-82D9-511DF3E749D5}" type="pres">
      <dgm:prSet presAssocID="{84F1AAA0-98D8-4BC2-A3B0-55195F58DB38}" presName="root" presStyleCnt="0">
        <dgm:presLayoutVars>
          <dgm:dir/>
          <dgm:resizeHandles val="exact"/>
        </dgm:presLayoutVars>
      </dgm:prSet>
      <dgm:spPr/>
    </dgm:pt>
    <dgm:pt modelId="{D31E3F9A-D95E-4E95-84BA-6CA3F8CA0294}" type="pres">
      <dgm:prSet presAssocID="{C1CD5EE9-EDBD-484B-B3F1-2B672D61CCD8}" presName="compNode" presStyleCnt="0"/>
      <dgm:spPr/>
    </dgm:pt>
    <dgm:pt modelId="{96BCF6BC-8C43-44D9-B338-8D58472EA7F6}" type="pres">
      <dgm:prSet presAssocID="{C1CD5EE9-EDBD-484B-B3F1-2B672D61CCD8}" presName="bgRect" presStyleLbl="bgShp" presStyleIdx="0" presStyleCnt="5"/>
      <dgm:spPr/>
    </dgm:pt>
    <dgm:pt modelId="{DD83AA66-3FF9-4D79-94BA-4A67C0B20ACF}" type="pres">
      <dgm:prSet presAssocID="{C1CD5EE9-EDBD-484B-B3F1-2B672D61CCD8}" presName="iconRect" presStyleLbl="node1" presStyleIdx="0" presStyleCnt="5"/>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DBA70C81-9B5D-4D91-ACB6-3D0D85E0FBBC}" type="pres">
      <dgm:prSet presAssocID="{C1CD5EE9-EDBD-484B-B3F1-2B672D61CCD8}" presName="spaceRect" presStyleCnt="0"/>
      <dgm:spPr/>
    </dgm:pt>
    <dgm:pt modelId="{F63C2FF3-7EB9-476B-9CAD-A7DEC0A7E741}" type="pres">
      <dgm:prSet presAssocID="{C1CD5EE9-EDBD-484B-B3F1-2B672D61CCD8}" presName="parTx" presStyleLbl="revTx" presStyleIdx="0" presStyleCnt="5">
        <dgm:presLayoutVars>
          <dgm:chMax val="0"/>
          <dgm:chPref val="0"/>
        </dgm:presLayoutVars>
      </dgm:prSet>
      <dgm:spPr/>
    </dgm:pt>
    <dgm:pt modelId="{CFFDEE4B-BF52-44DC-9390-1C1B238A19F9}" type="pres">
      <dgm:prSet presAssocID="{4A93F337-3166-48FE-BB28-DEA9FEE564DC}" presName="sibTrans" presStyleCnt="0"/>
      <dgm:spPr/>
    </dgm:pt>
    <dgm:pt modelId="{7F6C1578-3455-425B-BA51-3361847FBD21}" type="pres">
      <dgm:prSet presAssocID="{6F90947D-F4D6-4035-BF06-26106695A855}" presName="compNode" presStyleCnt="0"/>
      <dgm:spPr/>
    </dgm:pt>
    <dgm:pt modelId="{1DB5B8C6-801C-4014-AEF6-38ADBF4898E6}" type="pres">
      <dgm:prSet presAssocID="{6F90947D-F4D6-4035-BF06-26106695A855}" presName="bgRect" presStyleLbl="bgShp" presStyleIdx="1" presStyleCnt="5"/>
      <dgm:spPr/>
    </dgm:pt>
    <dgm:pt modelId="{D4633DF2-91C2-46DA-9387-0AB92A444EFB}" type="pres">
      <dgm:prSet presAssocID="{6F90947D-F4D6-4035-BF06-26106695A855}" presName="iconRect" presStyleLbl="node1" presStyleIdx="1" presStyleCnt="5"/>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C43B1089-1FE0-4C82-8454-D8B6416D7026}" type="pres">
      <dgm:prSet presAssocID="{6F90947D-F4D6-4035-BF06-26106695A855}" presName="spaceRect" presStyleCnt="0"/>
      <dgm:spPr/>
    </dgm:pt>
    <dgm:pt modelId="{BC187747-0878-4A0A-A8DA-665686C1D1B2}" type="pres">
      <dgm:prSet presAssocID="{6F90947D-F4D6-4035-BF06-26106695A855}" presName="parTx" presStyleLbl="revTx" presStyleIdx="1" presStyleCnt="5">
        <dgm:presLayoutVars>
          <dgm:chMax val="0"/>
          <dgm:chPref val="0"/>
        </dgm:presLayoutVars>
      </dgm:prSet>
      <dgm:spPr/>
    </dgm:pt>
    <dgm:pt modelId="{A5515A49-8F4F-4738-BE58-5DAF5C99134E}" type="pres">
      <dgm:prSet presAssocID="{147DCD7F-6F95-43F2-A368-29A648956C85}" presName="sibTrans" presStyleCnt="0"/>
      <dgm:spPr/>
    </dgm:pt>
    <dgm:pt modelId="{0B48A219-52D8-4BC0-AC19-733015472063}" type="pres">
      <dgm:prSet presAssocID="{AD1B4BC2-AFF5-42AC-B6A5-DA6019B6227C}" presName="compNode" presStyleCnt="0"/>
      <dgm:spPr/>
    </dgm:pt>
    <dgm:pt modelId="{E9772EE2-7FC5-4CBF-8729-31BFD1A861E3}" type="pres">
      <dgm:prSet presAssocID="{AD1B4BC2-AFF5-42AC-B6A5-DA6019B6227C}" presName="bgRect" presStyleLbl="bgShp" presStyleIdx="2" presStyleCnt="5"/>
      <dgm:spPr/>
    </dgm:pt>
    <dgm:pt modelId="{76393E9F-7100-4948-A0A6-DF1D25CF3F52}" type="pres">
      <dgm:prSet presAssocID="{AD1B4BC2-AFF5-42AC-B6A5-DA6019B6227C}" presName="iconRect" presStyleLbl="node1" presStyleIdx="2" presStyleCnt="5"/>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pward trend"/>
        </a:ext>
      </dgm:extLst>
    </dgm:pt>
    <dgm:pt modelId="{EDFE7C8D-D7DA-4D73-8C6C-0B6AEC7E79BC}" type="pres">
      <dgm:prSet presAssocID="{AD1B4BC2-AFF5-42AC-B6A5-DA6019B6227C}" presName="spaceRect" presStyleCnt="0"/>
      <dgm:spPr/>
    </dgm:pt>
    <dgm:pt modelId="{0F27DDB2-8052-45DE-A237-6E0ED52BFEB9}" type="pres">
      <dgm:prSet presAssocID="{AD1B4BC2-AFF5-42AC-B6A5-DA6019B6227C}" presName="parTx" presStyleLbl="revTx" presStyleIdx="2" presStyleCnt="5">
        <dgm:presLayoutVars>
          <dgm:chMax val="0"/>
          <dgm:chPref val="0"/>
        </dgm:presLayoutVars>
      </dgm:prSet>
      <dgm:spPr/>
    </dgm:pt>
    <dgm:pt modelId="{4D03B755-ABFD-4C31-99A5-A09FA79A568F}" type="pres">
      <dgm:prSet presAssocID="{02D6BEBB-DC37-48B2-AAD2-DFB73FD944D4}" presName="sibTrans" presStyleCnt="0"/>
      <dgm:spPr/>
    </dgm:pt>
    <dgm:pt modelId="{C8E8787E-F4F9-483F-9616-EDF56AB41439}" type="pres">
      <dgm:prSet presAssocID="{0001EB46-023A-47AD-BB6E-AA6D8D6DF964}" presName="compNode" presStyleCnt="0"/>
      <dgm:spPr/>
    </dgm:pt>
    <dgm:pt modelId="{83A06D65-E54E-4322-AB18-699164D8FE2E}" type="pres">
      <dgm:prSet presAssocID="{0001EB46-023A-47AD-BB6E-AA6D8D6DF964}" presName="bgRect" presStyleLbl="bgShp" presStyleIdx="3" presStyleCnt="5" custLinFactNeighborX="-6398" custLinFactNeighborY="12738"/>
      <dgm:spPr/>
    </dgm:pt>
    <dgm:pt modelId="{A527AE66-8105-4EDB-AD13-0528B0712AE9}" type="pres">
      <dgm:prSet presAssocID="{0001EB46-023A-47AD-BB6E-AA6D8D6DF964}" presName="iconRect" presStyleLbl="node1" presStyleIdx="3" presStyleCnt="5"/>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avel"/>
        </a:ext>
      </dgm:extLst>
    </dgm:pt>
    <dgm:pt modelId="{A0113D44-0F74-4DA4-B8B9-AB75979DF764}" type="pres">
      <dgm:prSet presAssocID="{0001EB46-023A-47AD-BB6E-AA6D8D6DF964}" presName="spaceRect" presStyleCnt="0"/>
      <dgm:spPr/>
    </dgm:pt>
    <dgm:pt modelId="{CAACB851-BCEB-4143-B8D4-3E86830150A9}" type="pres">
      <dgm:prSet presAssocID="{0001EB46-023A-47AD-BB6E-AA6D8D6DF964}" presName="parTx" presStyleLbl="revTx" presStyleIdx="3" presStyleCnt="5" custScaleX="101053">
        <dgm:presLayoutVars>
          <dgm:chMax val="0"/>
          <dgm:chPref val="0"/>
        </dgm:presLayoutVars>
      </dgm:prSet>
      <dgm:spPr/>
    </dgm:pt>
    <dgm:pt modelId="{B832D0EB-3102-40DE-A835-CEBFFF19F679}" type="pres">
      <dgm:prSet presAssocID="{EC8D7C71-2939-4BB1-9326-94B206F0F0C8}" presName="sibTrans" presStyleCnt="0"/>
      <dgm:spPr/>
    </dgm:pt>
    <dgm:pt modelId="{D905073C-9380-48CE-8079-A0CBED6B2E08}" type="pres">
      <dgm:prSet presAssocID="{E38C3752-C9EB-4B22-81AD-750DE100A3DE}" presName="compNode" presStyleCnt="0"/>
      <dgm:spPr/>
    </dgm:pt>
    <dgm:pt modelId="{14C69781-51A6-4A24-9246-A2485A08A6CC}" type="pres">
      <dgm:prSet presAssocID="{E38C3752-C9EB-4B22-81AD-750DE100A3DE}" presName="bgRect" presStyleLbl="bgShp" presStyleIdx="4" presStyleCnt="5"/>
      <dgm:spPr/>
    </dgm:pt>
    <dgm:pt modelId="{F194D109-8FCD-498A-84E6-FFE7CDE4F177}" type="pres">
      <dgm:prSet presAssocID="{E38C3752-C9EB-4B22-81AD-750DE100A3DE}" presName="iconRect" presStyleLbl="node1" presStyleIdx="4" presStyleCnt="5"/>
      <dgm:spPr>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ooks"/>
        </a:ext>
      </dgm:extLst>
    </dgm:pt>
    <dgm:pt modelId="{8FB4F154-D663-404F-8F84-25819AFDE69E}" type="pres">
      <dgm:prSet presAssocID="{E38C3752-C9EB-4B22-81AD-750DE100A3DE}" presName="spaceRect" presStyleCnt="0"/>
      <dgm:spPr/>
    </dgm:pt>
    <dgm:pt modelId="{8DCBEC2E-5B78-42F7-ADFF-5513CCC5CBA2}" type="pres">
      <dgm:prSet presAssocID="{E38C3752-C9EB-4B22-81AD-750DE100A3DE}" presName="parTx" presStyleLbl="revTx" presStyleIdx="4" presStyleCnt="5">
        <dgm:presLayoutVars>
          <dgm:chMax val="0"/>
          <dgm:chPref val="0"/>
        </dgm:presLayoutVars>
      </dgm:prSet>
      <dgm:spPr/>
    </dgm:pt>
  </dgm:ptLst>
  <dgm:cxnLst>
    <dgm:cxn modelId="{625BF700-3014-46BE-8E6E-68FCD6A5CBB1}" srcId="{84F1AAA0-98D8-4BC2-A3B0-55195F58DB38}" destId="{AD1B4BC2-AFF5-42AC-B6A5-DA6019B6227C}" srcOrd="2" destOrd="0" parTransId="{6F172F97-8ACC-417B-802C-A034A450F0E6}" sibTransId="{02D6BEBB-DC37-48B2-AAD2-DFB73FD944D4}"/>
    <dgm:cxn modelId="{23B5D907-3738-48D3-BBB9-760C4C7BD39B}" type="presOf" srcId="{AD1B4BC2-AFF5-42AC-B6A5-DA6019B6227C}" destId="{0F27DDB2-8052-45DE-A237-6E0ED52BFEB9}" srcOrd="0" destOrd="0" presId="urn:microsoft.com/office/officeart/2018/2/layout/IconVerticalSolidList"/>
    <dgm:cxn modelId="{A260C031-095F-48DD-8661-8C00B79FFC09}" srcId="{84F1AAA0-98D8-4BC2-A3B0-55195F58DB38}" destId="{C1CD5EE9-EDBD-484B-B3F1-2B672D61CCD8}" srcOrd="0" destOrd="0" parTransId="{3DC312E4-F695-4F97-9DC3-2F0597E25F38}" sibTransId="{4A93F337-3166-48FE-BB28-DEA9FEE564DC}"/>
    <dgm:cxn modelId="{1A392F46-3EB6-4748-A690-C5A8C443FAF4}" type="presOf" srcId="{E38C3752-C9EB-4B22-81AD-750DE100A3DE}" destId="{8DCBEC2E-5B78-42F7-ADFF-5513CCC5CBA2}" srcOrd="0" destOrd="0" presId="urn:microsoft.com/office/officeart/2018/2/layout/IconVerticalSolidList"/>
    <dgm:cxn modelId="{86836D4B-7154-404A-9FED-C41D0AE28265}" type="presOf" srcId="{6F90947D-F4D6-4035-BF06-26106695A855}" destId="{BC187747-0878-4A0A-A8DA-665686C1D1B2}" srcOrd="0" destOrd="0" presId="urn:microsoft.com/office/officeart/2018/2/layout/IconVerticalSolidList"/>
    <dgm:cxn modelId="{0B2E7778-59AC-4D2A-9926-F7C3FE2B9150}" type="presOf" srcId="{0001EB46-023A-47AD-BB6E-AA6D8D6DF964}" destId="{CAACB851-BCEB-4143-B8D4-3E86830150A9}" srcOrd="0" destOrd="0" presId="urn:microsoft.com/office/officeart/2018/2/layout/IconVerticalSolidList"/>
    <dgm:cxn modelId="{40CCFF83-1E2A-433B-ADEB-FBBA5CD917FD}" type="presOf" srcId="{C1CD5EE9-EDBD-484B-B3F1-2B672D61CCD8}" destId="{F63C2FF3-7EB9-476B-9CAD-A7DEC0A7E741}" srcOrd="0" destOrd="0" presId="urn:microsoft.com/office/officeart/2018/2/layout/IconVerticalSolidList"/>
    <dgm:cxn modelId="{DF739A8D-3AED-41DD-B084-A4BF6375D599}" srcId="{84F1AAA0-98D8-4BC2-A3B0-55195F58DB38}" destId="{E38C3752-C9EB-4B22-81AD-750DE100A3DE}" srcOrd="4" destOrd="0" parTransId="{104F8279-4497-4A6E-A609-57596F898103}" sibTransId="{AE691FEE-C033-464C-90B8-1D45FCB786BB}"/>
    <dgm:cxn modelId="{FAD0E98D-DB94-498D-AF1D-FF9E5D23E33E}" type="presOf" srcId="{84F1AAA0-98D8-4BC2-A3B0-55195F58DB38}" destId="{79F5C2C2-5325-4505-82D9-511DF3E749D5}" srcOrd="0" destOrd="0" presId="urn:microsoft.com/office/officeart/2018/2/layout/IconVerticalSolidList"/>
    <dgm:cxn modelId="{6997A89F-4440-47A5-A1B6-FFD419F21664}" srcId="{84F1AAA0-98D8-4BC2-A3B0-55195F58DB38}" destId="{6F90947D-F4D6-4035-BF06-26106695A855}" srcOrd="1" destOrd="0" parTransId="{38D0030E-1826-429B-AE7C-151D20E89506}" sibTransId="{147DCD7F-6F95-43F2-A368-29A648956C85}"/>
    <dgm:cxn modelId="{2CA952DC-22D2-4E22-BB5A-9B4BA61B7157}" srcId="{84F1AAA0-98D8-4BC2-A3B0-55195F58DB38}" destId="{0001EB46-023A-47AD-BB6E-AA6D8D6DF964}" srcOrd="3" destOrd="0" parTransId="{980850DF-00E6-40A7-A42A-6A274C3B8C69}" sibTransId="{EC8D7C71-2939-4BB1-9326-94B206F0F0C8}"/>
    <dgm:cxn modelId="{C85D9812-5722-43D2-B66F-976EA470C219}" type="presParOf" srcId="{79F5C2C2-5325-4505-82D9-511DF3E749D5}" destId="{D31E3F9A-D95E-4E95-84BA-6CA3F8CA0294}" srcOrd="0" destOrd="0" presId="urn:microsoft.com/office/officeart/2018/2/layout/IconVerticalSolidList"/>
    <dgm:cxn modelId="{94D64DE5-9F20-425F-8AF1-ED33AC984233}" type="presParOf" srcId="{D31E3F9A-D95E-4E95-84BA-6CA3F8CA0294}" destId="{96BCF6BC-8C43-44D9-B338-8D58472EA7F6}" srcOrd="0" destOrd="0" presId="urn:microsoft.com/office/officeart/2018/2/layout/IconVerticalSolidList"/>
    <dgm:cxn modelId="{90E67C8C-48E7-45D8-A9EB-0768705F4D7B}" type="presParOf" srcId="{D31E3F9A-D95E-4E95-84BA-6CA3F8CA0294}" destId="{DD83AA66-3FF9-4D79-94BA-4A67C0B20ACF}" srcOrd="1" destOrd="0" presId="urn:microsoft.com/office/officeart/2018/2/layout/IconVerticalSolidList"/>
    <dgm:cxn modelId="{86B3752A-48C7-4D52-B62D-52A500D50BDF}" type="presParOf" srcId="{D31E3F9A-D95E-4E95-84BA-6CA3F8CA0294}" destId="{DBA70C81-9B5D-4D91-ACB6-3D0D85E0FBBC}" srcOrd="2" destOrd="0" presId="urn:microsoft.com/office/officeart/2018/2/layout/IconVerticalSolidList"/>
    <dgm:cxn modelId="{24AB7C6A-E9E2-43B8-A795-C436350AB76C}" type="presParOf" srcId="{D31E3F9A-D95E-4E95-84BA-6CA3F8CA0294}" destId="{F63C2FF3-7EB9-476B-9CAD-A7DEC0A7E741}" srcOrd="3" destOrd="0" presId="urn:microsoft.com/office/officeart/2018/2/layout/IconVerticalSolidList"/>
    <dgm:cxn modelId="{352BAEF7-FFEA-4961-B451-6B62FB90C8D4}" type="presParOf" srcId="{79F5C2C2-5325-4505-82D9-511DF3E749D5}" destId="{CFFDEE4B-BF52-44DC-9390-1C1B238A19F9}" srcOrd="1" destOrd="0" presId="urn:microsoft.com/office/officeart/2018/2/layout/IconVerticalSolidList"/>
    <dgm:cxn modelId="{D08CD790-EC3E-4EA6-9AA9-170B95D4DC22}" type="presParOf" srcId="{79F5C2C2-5325-4505-82D9-511DF3E749D5}" destId="{7F6C1578-3455-425B-BA51-3361847FBD21}" srcOrd="2" destOrd="0" presId="urn:microsoft.com/office/officeart/2018/2/layout/IconVerticalSolidList"/>
    <dgm:cxn modelId="{247C19DC-540B-44E9-ADC9-74E582CE66F0}" type="presParOf" srcId="{7F6C1578-3455-425B-BA51-3361847FBD21}" destId="{1DB5B8C6-801C-4014-AEF6-38ADBF4898E6}" srcOrd="0" destOrd="0" presId="urn:microsoft.com/office/officeart/2018/2/layout/IconVerticalSolidList"/>
    <dgm:cxn modelId="{86FF2019-AD17-4D1A-B116-9B7F4E581E4A}" type="presParOf" srcId="{7F6C1578-3455-425B-BA51-3361847FBD21}" destId="{D4633DF2-91C2-46DA-9387-0AB92A444EFB}" srcOrd="1" destOrd="0" presId="urn:microsoft.com/office/officeart/2018/2/layout/IconVerticalSolidList"/>
    <dgm:cxn modelId="{729BB303-D513-4B49-B99B-4839E4EB2C3F}" type="presParOf" srcId="{7F6C1578-3455-425B-BA51-3361847FBD21}" destId="{C43B1089-1FE0-4C82-8454-D8B6416D7026}" srcOrd="2" destOrd="0" presId="urn:microsoft.com/office/officeart/2018/2/layout/IconVerticalSolidList"/>
    <dgm:cxn modelId="{D219084F-55A8-42E9-AA42-965CCAF4A6DC}" type="presParOf" srcId="{7F6C1578-3455-425B-BA51-3361847FBD21}" destId="{BC187747-0878-4A0A-A8DA-665686C1D1B2}" srcOrd="3" destOrd="0" presId="urn:microsoft.com/office/officeart/2018/2/layout/IconVerticalSolidList"/>
    <dgm:cxn modelId="{5DDD7A98-823E-47C2-9848-9280F16A06DC}" type="presParOf" srcId="{79F5C2C2-5325-4505-82D9-511DF3E749D5}" destId="{A5515A49-8F4F-4738-BE58-5DAF5C99134E}" srcOrd="3" destOrd="0" presId="urn:microsoft.com/office/officeart/2018/2/layout/IconVerticalSolidList"/>
    <dgm:cxn modelId="{496C1A1E-4350-4D19-83B4-17AA412289D3}" type="presParOf" srcId="{79F5C2C2-5325-4505-82D9-511DF3E749D5}" destId="{0B48A219-52D8-4BC0-AC19-733015472063}" srcOrd="4" destOrd="0" presId="urn:microsoft.com/office/officeart/2018/2/layout/IconVerticalSolidList"/>
    <dgm:cxn modelId="{42A33ABA-1C60-4AAA-BEB1-713279D12CED}" type="presParOf" srcId="{0B48A219-52D8-4BC0-AC19-733015472063}" destId="{E9772EE2-7FC5-4CBF-8729-31BFD1A861E3}" srcOrd="0" destOrd="0" presId="urn:microsoft.com/office/officeart/2018/2/layout/IconVerticalSolidList"/>
    <dgm:cxn modelId="{4979DA38-0016-43D0-A554-BBC6EA1D2049}" type="presParOf" srcId="{0B48A219-52D8-4BC0-AC19-733015472063}" destId="{76393E9F-7100-4948-A0A6-DF1D25CF3F52}" srcOrd="1" destOrd="0" presId="urn:microsoft.com/office/officeart/2018/2/layout/IconVerticalSolidList"/>
    <dgm:cxn modelId="{722A6A0D-9C93-4FA9-A1C8-A36BFC2F2498}" type="presParOf" srcId="{0B48A219-52D8-4BC0-AC19-733015472063}" destId="{EDFE7C8D-D7DA-4D73-8C6C-0B6AEC7E79BC}" srcOrd="2" destOrd="0" presId="urn:microsoft.com/office/officeart/2018/2/layout/IconVerticalSolidList"/>
    <dgm:cxn modelId="{43CD88F0-7E54-43D5-B18A-70BA2D57FF54}" type="presParOf" srcId="{0B48A219-52D8-4BC0-AC19-733015472063}" destId="{0F27DDB2-8052-45DE-A237-6E0ED52BFEB9}" srcOrd="3" destOrd="0" presId="urn:microsoft.com/office/officeart/2018/2/layout/IconVerticalSolidList"/>
    <dgm:cxn modelId="{960222E2-089F-49AA-97CD-E2E5F175F17B}" type="presParOf" srcId="{79F5C2C2-5325-4505-82D9-511DF3E749D5}" destId="{4D03B755-ABFD-4C31-99A5-A09FA79A568F}" srcOrd="5" destOrd="0" presId="urn:microsoft.com/office/officeart/2018/2/layout/IconVerticalSolidList"/>
    <dgm:cxn modelId="{59F91108-23B0-4B62-AC67-3F5F2C26F61F}" type="presParOf" srcId="{79F5C2C2-5325-4505-82D9-511DF3E749D5}" destId="{C8E8787E-F4F9-483F-9616-EDF56AB41439}" srcOrd="6" destOrd="0" presId="urn:microsoft.com/office/officeart/2018/2/layout/IconVerticalSolidList"/>
    <dgm:cxn modelId="{D00671B7-B8C2-4F5C-81DD-2C1FA6372421}" type="presParOf" srcId="{C8E8787E-F4F9-483F-9616-EDF56AB41439}" destId="{83A06D65-E54E-4322-AB18-699164D8FE2E}" srcOrd="0" destOrd="0" presId="urn:microsoft.com/office/officeart/2018/2/layout/IconVerticalSolidList"/>
    <dgm:cxn modelId="{36BBCAAC-D13D-43F5-8F82-64114CBC0D92}" type="presParOf" srcId="{C8E8787E-F4F9-483F-9616-EDF56AB41439}" destId="{A527AE66-8105-4EDB-AD13-0528B0712AE9}" srcOrd="1" destOrd="0" presId="urn:microsoft.com/office/officeart/2018/2/layout/IconVerticalSolidList"/>
    <dgm:cxn modelId="{F1CBB100-02A1-4BE9-83FE-64B0C8ED7F1F}" type="presParOf" srcId="{C8E8787E-F4F9-483F-9616-EDF56AB41439}" destId="{A0113D44-0F74-4DA4-B8B9-AB75979DF764}" srcOrd="2" destOrd="0" presId="urn:microsoft.com/office/officeart/2018/2/layout/IconVerticalSolidList"/>
    <dgm:cxn modelId="{66B86B15-1822-46EB-A466-8B306764EF72}" type="presParOf" srcId="{C8E8787E-F4F9-483F-9616-EDF56AB41439}" destId="{CAACB851-BCEB-4143-B8D4-3E86830150A9}" srcOrd="3" destOrd="0" presId="urn:microsoft.com/office/officeart/2018/2/layout/IconVerticalSolidList"/>
    <dgm:cxn modelId="{AFE795F6-AD6B-4E21-B0F1-D5958D037380}" type="presParOf" srcId="{79F5C2C2-5325-4505-82D9-511DF3E749D5}" destId="{B832D0EB-3102-40DE-A835-CEBFFF19F679}" srcOrd="7" destOrd="0" presId="urn:microsoft.com/office/officeart/2018/2/layout/IconVerticalSolidList"/>
    <dgm:cxn modelId="{BF07FDCA-BA1C-4863-839D-3E56650759DA}" type="presParOf" srcId="{79F5C2C2-5325-4505-82D9-511DF3E749D5}" destId="{D905073C-9380-48CE-8079-A0CBED6B2E08}" srcOrd="8" destOrd="0" presId="urn:microsoft.com/office/officeart/2018/2/layout/IconVerticalSolidList"/>
    <dgm:cxn modelId="{42DCE9FD-DDB0-4D89-A64D-2EC161BE6ABA}" type="presParOf" srcId="{D905073C-9380-48CE-8079-A0CBED6B2E08}" destId="{14C69781-51A6-4A24-9246-A2485A08A6CC}" srcOrd="0" destOrd="0" presId="urn:microsoft.com/office/officeart/2018/2/layout/IconVerticalSolidList"/>
    <dgm:cxn modelId="{7FC8B333-ED33-432C-A971-6672AD1DA0A9}" type="presParOf" srcId="{D905073C-9380-48CE-8079-A0CBED6B2E08}" destId="{F194D109-8FCD-498A-84E6-FFE7CDE4F177}" srcOrd="1" destOrd="0" presId="urn:microsoft.com/office/officeart/2018/2/layout/IconVerticalSolidList"/>
    <dgm:cxn modelId="{A87EEA20-E29A-4F99-BBF9-7BF7D0FA871F}" type="presParOf" srcId="{D905073C-9380-48CE-8079-A0CBED6B2E08}" destId="{8FB4F154-D663-404F-8F84-25819AFDE69E}" srcOrd="2" destOrd="0" presId="urn:microsoft.com/office/officeart/2018/2/layout/IconVerticalSolidList"/>
    <dgm:cxn modelId="{05411997-B74E-45CD-B535-D1BD47511AA5}" type="presParOf" srcId="{D905073C-9380-48CE-8079-A0CBED6B2E08}" destId="{8DCBEC2E-5B78-42F7-ADFF-5513CCC5CBA2}" srcOrd="3" destOrd="0" presId="urn:microsoft.com/office/officeart/2018/2/layout/IconVerticalSolidList"/>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882849-EAAC-420E-BBDB-EE9D412CEC28}" type="doc">
      <dgm:prSet loTypeId="urn:microsoft.com/office/officeart/2008/layout/LinedList" loCatId="list" qsTypeId="urn:microsoft.com/office/officeart/2005/8/quickstyle/simple2" qsCatId="simple" csTypeId="urn:microsoft.com/office/officeart/2005/8/colors/accent1_2" csCatId="accent1" phldr="1"/>
      <dgm:spPr/>
      <dgm:t>
        <a:bodyPr/>
        <a:lstStyle/>
        <a:p>
          <a:endParaRPr lang="en-US"/>
        </a:p>
      </dgm:t>
    </dgm:pt>
    <dgm:pt modelId="{A112CC4A-C89D-4A05-828E-70C064584D1D}">
      <dgm:prSet/>
      <dgm:spPr/>
      <dgm:t>
        <a:bodyPr/>
        <a:lstStyle/>
        <a:p>
          <a:pPr rtl="0"/>
          <a:r>
            <a:rPr lang="en-US" b="0" dirty="0">
              <a:latin typeface="Grandview Display"/>
            </a:rPr>
            <a:t>What is informal economy ?</a:t>
          </a:r>
        </a:p>
      </dgm:t>
    </dgm:pt>
    <dgm:pt modelId="{AA3D9F32-F44D-4F69-96DA-06E7DD6C5540}" type="parTrans" cxnId="{5AB1723F-C0BF-488C-B0D2-BA1C8AD60F38}">
      <dgm:prSet/>
      <dgm:spPr/>
      <dgm:t>
        <a:bodyPr/>
        <a:lstStyle/>
        <a:p>
          <a:endParaRPr lang="en-US"/>
        </a:p>
      </dgm:t>
    </dgm:pt>
    <dgm:pt modelId="{AEB3A766-310A-44C1-A23D-02733B4534CF}" type="sibTrans" cxnId="{5AB1723F-C0BF-488C-B0D2-BA1C8AD60F38}">
      <dgm:prSet/>
      <dgm:spPr/>
      <dgm:t>
        <a:bodyPr/>
        <a:lstStyle/>
        <a:p>
          <a:endParaRPr lang="en-US"/>
        </a:p>
      </dgm:t>
    </dgm:pt>
    <dgm:pt modelId="{C845340C-0DD8-4176-BD94-19E9C0493C25}">
      <dgm:prSet/>
      <dgm:spPr/>
      <dgm:t>
        <a:bodyPr/>
        <a:lstStyle/>
        <a:p>
          <a:pPr rtl="0"/>
          <a:r>
            <a:rPr lang="en-US" dirty="0">
              <a:latin typeface="Grandview Display"/>
            </a:rPr>
            <a:t>What is the importance of informal economy ?</a:t>
          </a:r>
        </a:p>
      </dgm:t>
    </dgm:pt>
    <dgm:pt modelId="{CFA44A81-6159-43B6-95CB-D3BF40755B7F}" type="parTrans" cxnId="{84B3B139-EF6D-49AC-A4F7-F144DCF93A4C}">
      <dgm:prSet/>
      <dgm:spPr/>
      <dgm:t>
        <a:bodyPr/>
        <a:lstStyle/>
        <a:p>
          <a:endParaRPr lang="en-US"/>
        </a:p>
      </dgm:t>
    </dgm:pt>
    <dgm:pt modelId="{1F635631-86BF-4C58-B9D2-A5034D6B0249}" type="sibTrans" cxnId="{84B3B139-EF6D-49AC-A4F7-F144DCF93A4C}">
      <dgm:prSet/>
      <dgm:spPr/>
      <dgm:t>
        <a:bodyPr/>
        <a:lstStyle/>
        <a:p>
          <a:endParaRPr lang="en-US"/>
        </a:p>
      </dgm:t>
    </dgm:pt>
    <dgm:pt modelId="{25201835-F1AC-4134-8DC5-DCCB3E9353FB}">
      <dgm:prSet/>
      <dgm:spPr/>
      <dgm:t>
        <a:bodyPr/>
        <a:lstStyle/>
        <a:p>
          <a:r>
            <a:rPr lang="en-US" dirty="0">
              <a:latin typeface="Grandview Display"/>
            </a:rPr>
            <a:t>Problem statement</a:t>
          </a:r>
        </a:p>
      </dgm:t>
    </dgm:pt>
    <dgm:pt modelId="{E1E22C01-B3E8-4977-8488-35AD4FA5CC43}" type="parTrans" cxnId="{BC59F0BA-F1CA-4568-B66F-C291C2D0EB61}">
      <dgm:prSet/>
      <dgm:spPr/>
      <dgm:t>
        <a:bodyPr/>
        <a:lstStyle/>
        <a:p>
          <a:endParaRPr lang="en-US"/>
        </a:p>
      </dgm:t>
    </dgm:pt>
    <dgm:pt modelId="{2868C072-7EC2-4368-AC07-5768863E0A3E}" type="sibTrans" cxnId="{BC59F0BA-F1CA-4568-B66F-C291C2D0EB61}">
      <dgm:prSet/>
      <dgm:spPr/>
      <dgm:t>
        <a:bodyPr/>
        <a:lstStyle/>
        <a:p>
          <a:endParaRPr lang="en-US"/>
        </a:p>
      </dgm:t>
    </dgm:pt>
    <dgm:pt modelId="{4710CDCA-039A-4EC5-A20F-EC164C098DE9}">
      <dgm:prSet phldr="0"/>
      <dgm:spPr/>
      <dgm:t>
        <a:bodyPr/>
        <a:lstStyle/>
        <a:p>
          <a:pPr rtl="0"/>
          <a:r>
            <a:rPr lang="en-US" dirty="0">
              <a:latin typeface="Grandview Display"/>
            </a:rPr>
            <a:t>What are the Informal economy activities ?</a:t>
          </a:r>
        </a:p>
      </dgm:t>
    </dgm:pt>
    <dgm:pt modelId="{8B7CB4F5-44A0-453D-A3C0-125FE105CD84}" type="parTrans" cxnId="{063F880A-9071-4772-856D-8626198E7055}">
      <dgm:prSet/>
      <dgm:spPr/>
      <dgm:t>
        <a:bodyPr/>
        <a:lstStyle/>
        <a:p>
          <a:endParaRPr lang="en-ZA"/>
        </a:p>
      </dgm:t>
    </dgm:pt>
    <dgm:pt modelId="{C623B64B-7B80-4688-9BD2-CDDC20FE6135}" type="sibTrans" cxnId="{063F880A-9071-4772-856D-8626198E7055}">
      <dgm:prSet/>
      <dgm:spPr/>
      <dgm:t>
        <a:bodyPr/>
        <a:lstStyle/>
        <a:p>
          <a:endParaRPr lang="en-ZA"/>
        </a:p>
      </dgm:t>
    </dgm:pt>
    <dgm:pt modelId="{79BCC498-81FD-45DC-8C64-63E4DC00D6BD}" type="pres">
      <dgm:prSet presAssocID="{5F882849-EAAC-420E-BBDB-EE9D412CEC28}" presName="vert0" presStyleCnt="0">
        <dgm:presLayoutVars>
          <dgm:dir/>
          <dgm:animOne val="branch"/>
          <dgm:animLvl val="lvl"/>
        </dgm:presLayoutVars>
      </dgm:prSet>
      <dgm:spPr/>
    </dgm:pt>
    <dgm:pt modelId="{D944F91A-0073-4D49-83E9-80D21D3F555C}" type="pres">
      <dgm:prSet presAssocID="{A112CC4A-C89D-4A05-828E-70C064584D1D}" presName="thickLine" presStyleLbl="alignNode1" presStyleIdx="0" presStyleCnt="4"/>
      <dgm:spPr/>
    </dgm:pt>
    <dgm:pt modelId="{6F53E237-1CB2-4774-B177-0224C1767FC8}" type="pres">
      <dgm:prSet presAssocID="{A112CC4A-C89D-4A05-828E-70C064584D1D}" presName="horz1" presStyleCnt="0"/>
      <dgm:spPr/>
    </dgm:pt>
    <dgm:pt modelId="{45A8BA8A-0F4E-4CDD-8EA2-BB433422CDAD}" type="pres">
      <dgm:prSet presAssocID="{A112CC4A-C89D-4A05-828E-70C064584D1D}" presName="tx1" presStyleLbl="revTx" presStyleIdx="0" presStyleCnt="4"/>
      <dgm:spPr/>
    </dgm:pt>
    <dgm:pt modelId="{2B5D587C-41A7-4971-B10E-8559EE2CD7FD}" type="pres">
      <dgm:prSet presAssocID="{A112CC4A-C89D-4A05-828E-70C064584D1D}" presName="vert1" presStyleCnt="0"/>
      <dgm:spPr/>
    </dgm:pt>
    <dgm:pt modelId="{BABA0650-35CC-49EF-AD28-C85CCD9360F9}" type="pres">
      <dgm:prSet presAssocID="{C845340C-0DD8-4176-BD94-19E9C0493C25}" presName="thickLine" presStyleLbl="alignNode1" presStyleIdx="1" presStyleCnt="4"/>
      <dgm:spPr/>
    </dgm:pt>
    <dgm:pt modelId="{23D3003F-389E-4366-8F57-4600BBE88D80}" type="pres">
      <dgm:prSet presAssocID="{C845340C-0DD8-4176-BD94-19E9C0493C25}" presName="horz1" presStyleCnt="0"/>
      <dgm:spPr/>
    </dgm:pt>
    <dgm:pt modelId="{81DA8BE5-DD8F-4A37-9429-6E3D951F54E4}" type="pres">
      <dgm:prSet presAssocID="{C845340C-0DD8-4176-BD94-19E9C0493C25}" presName="tx1" presStyleLbl="revTx" presStyleIdx="1" presStyleCnt="4"/>
      <dgm:spPr/>
    </dgm:pt>
    <dgm:pt modelId="{DE5DAB04-6FD4-4844-8F38-F2B01F079AB4}" type="pres">
      <dgm:prSet presAssocID="{C845340C-0DD8-4176-BD94-19E9C0493C25}" presName="vert1" presStyleCnt="0"/>
      <dgm:spPr/>
    </dgm:pt>
    <dgm:pt modelId="{AC7AAFE8-B1BE-4B0F-9821-DCC1BED5C65C}" type="pres">
      <dgm:prSet presAssocID="{4710CDCA-039A-4EC5-A20F-EC164C098DE9}" presName="thickLine" presStyleLbl="alignNode1" presStyleIdx="2" presStyleCnt="4"/>
      <dgm:spPr/>
    </dgm:pt>
    <dgm:pt modelId="{B08A0C14-105D-4621-AC3B-E7C0E6B85F82}" type="pres">
      <dgm:prSet presAssocID="{4710CDCA-039A-4EC5-A20F-EC164C098DE9}" presName="horz1" presStyleCnt="0"/>
      <dgm:spPr/>
    </dgm:pt>
    <dgm:pt modelId="{F837905B-204E-48AF-80A9-6A49C8636E8B}" type="pres">
      <dgm:prSet presAssocID="{4710CDCA-039A-4EC5-A20F-EC164C098DE9}" presName="tx1" presStyleLbl="revTx" presStyleIdx="2" presStyleCnt="4"/>
      <dgm:spPr/>
    </dgm:pt>
    <dgm:pt modelId="{8036C11E-8F85-4F84-B714-83B86142EDD0}" type="pres">
      <dgm:prSet presAssocID="{4710CDCA-039A-4EC5-A20F-EC164C098DE9}" presName="vert1" presStyleCnt="0"/>
      <dgm:spPr/>
    </dgm:pt>
    <dgm:pt modelId="{2B07DED8-FCA3-4A81-B63C-AF50DC5474C2}" type="pres">
      <dgm:prSet presAssocID="{25201835-F1AC-4134-8DC5-DCCB3E9353FB}" presName="thickLine" presStyleLbl="alignNode1" presStyleIdx="3" presStyleCnt="4"/>
      <dgm:spPr/>
    </dgm:pt>
    <dgm:pt modelId="{86ABF909-0A73-4BFD-9125-3A62894F6731}" type="pres">
      <dgm:prSet presAssocID="{25201835-F1AC-4134-8DC5-DCCB3E9353FB}" presName="horz1" presStyleCnt="0"/>
      <dgm:spPr/>
    </dgm:pt>
    <dgm:pt modelId="{452A7D9C-2DB8-4863-B999-B187E8C5F673}" type="pres">
      <dgm:prSet presAssocID="{25201835-F1AC-4134-8DC5-DCCB3E9353FB}" presName="tx1" presStyleLbl="revTx" presStyleIdx="3" presStyleCnt="4"/>
      <dgm:spPr/>
    </dgm:pt>
    <dgm:pt modelId="{E1DDB38E-AB5D-4C3A-B24E-D65A08EEA586}" type="pres">
      <dgm:prSet presAssocID="{25201835-F1AC-4134-8DC5-DCCB3E9353FB}" presName="vert1" presStyleCnt="0"/>
      <dgm:spPr/>
    </dgm:pt>
  </dgm:ptLst>
  <dgm:cxnLst>
    <dgm:cxn modelId="{063F880A-9071-4772-856D-8626198E7055}" srcId="{5F882849-EAAC-420E-BBDB-EE9D412CEC28}" destId="{4710CDCA-039A-4EC5-A20F-EC164C098DE9}" srcOrd="2" destOrd="0" parTransId="{8B7CB4F5-44A0-453D-A3C0-125FE105CD84}" sibTransId="{C623B64B-7B80-4688-9BD2-CDDC20FE6135}"/>
    <dgm:cxn modelId="{0643930E-269B-4700-BDD0-44C29D8F34EF}" type="presOf" srcId="{25201835-F1AC-4134-8DC5-DCCB3E9353FB}" destId="{452A7D9C-2DB8-4863-B999-B187E8C5F673}" srcOrd="0" destOrd="0" presId="urn:microsoft.com/office/officeart/2008/layout/LinedList"/>
    <dgm:cxn modelId="{A15E8C27-CE57-44A7-BC6B-6CF15C7DA6CB}" type="presOf" srcId="{C845340C-0DD8-4176-BD94-19E9C0493C25}" destId="{81DA8BE5-DD8F-4A37-9429-6E3D951F54E4}" srcOrd="0" destOrd="0" presId="urn:microsoft.com/office/officeart/2008/layout/LinedList"/>
    <dgm:cxn modelId="{9A832F2B-AD65-4C27-93F9-A7E79AB7D4CB}" type="presOf" srcId="{A112CC4A-C89D-4A05-828E-70C064584D1D}" destId="{45A8BA8A-0F4E-4CDD-8EA2-BB433422CDAD}" srcOrd="0" destOrd="0" presId="urn:microsoft.com/office/officeart/2008/layout/LinedList"/>
    <dgm:cxn modelId="{84B3B139-EF6D-49AC-A4F7-F144DCF93A4C}" srcId="{5F882849-EAAC-420E-BBDB-EE9D412CEC28}" destId="{C845340C-0DD8-4176-BD94-19E9C0493C25}" srcOrd="1" destOrd="0" parTransId="{CFA44A81-6159-43B6-95CB-D3BF40755B7F}" sibTransId="{1F635631-86BF-4C58-B9D2-A5034D6B0249}"/>
    <dgm:cxn modelId="{5AB1723F-C0BF-488C-B0D2-BA1C8AD60F38}" srcId="{5F882849-EAAC-420E-BBDB-EE9D412CEC28}" destId="{A112CC4A-C89D-4A05-828E-70C064584D1D}" srcOrd="0" destOrd="0" parTransId="{AA3D9F32-F44D-4F69-96DA-06E7DD6C5540}" sibTransId="{AEB3A766-310A-44C1-A23D-02733B4534CF}"/>
    <dgm:cxn modelId="{F7EEE84D-C994-45CA-89FD-E83177657C57}" type="presOf" srcId="{4710CDCA-039A-4EC5-A20F-EC164C098DE9}" destId="{F837905B-204E-48AF-80A9-6A49C8636E8B}" srcOrd="0" destOrd="0" presId="urn:microsoft.com/office/officeart/2008/layout/LinedList"/>
    <dgm:cxn modelId="{6F7B4A7C-6F84-4C67-BAA0-09CE563406B9}" type="presOf" srcId="{5F882849-EAAC-420E-BBDB-EE9D412CEC28}" destId="{79BCC498-81FD-45DC-8C64-63E4DC00D6BD}" srcOrd="0" destOrd="0" presId="urn:microsoft.com/office/officeart/2008/layout/LinedList"/>
    <dgm:cxn modelId="{BC59F0BA-F1CA-4568-B66F-C291C2D0EB61}" srcId="{5F882849-EAAC-420E-BBDB-EE9D412CEC28}" destId="{25201835-F1AC-4134-8DC5-DCCB3E9353FB}" srcOrd="3" destOrd="0" parTransId="{E1E22C01-B3E8-4977-8488-35AD4FA5CC43}" sibTransId="{2868C072-7EC2-4368-AC07-5768863E0A3E}"/>
    <dgm:cxn modelId="{8FF35BCA-5050-41B2-8457-1223A5D36C21}" type="presParOf" srcId="{79BCC498-81FD-45DC-8C64-63E4DC00D6BD}" destId="{D944F91A-0073-4D49-83E9-80D21D3F555C}" srcOrd="0" destOrd="0" presId="urn:microsoft.com/office/officeart/2008/layout/LinedList"/>
    <dgm:cxn modelId="{9EC48C62-3860-48B1-9041-24B34003A624}" type="presParOf" srcId="{79BCC498-81FD-45DC-8C64-63E4DC00D6BD}" destId="{6F53E237-1CB2-4774-B177-0224C1767FC8}" srcOrd="1" destOrd="0" presId="urn:microsoft.com/office/officeart/2008/layout/LinedList"/>
    <dgm:cxn modelId="{F174FA5B-025C-49F6-A213-6402BE8A791B}" type="presParOf" srcId="{6F53E237-1CB2-4774-B177-0224C1767FC8}" destId="{45A8BA8A-0F4E-4CDD-8EA2-BB433422CDAD}" srcOrd="0" destOrd="0" presId="urn:microsoft.com/office/officeart/2008/layout/LinedList"/>
    <dgm:cxn modelId="{FFF7469C-0FC5-4470-B8E0-703D87217FC6}" type="presParOf" srcId="{6F53E237-1CB2-4774-B177-0224C1767FC8}" destId="{2B5D587C-41A7-4971-B10E-8559EE2CD7FD}" srcOrd="1" destOrd="0" presId="urn:microsoft.com/office/officeart/2008/layout/LinedList"/>
    <dgm:cxn modelId="{E966C828-FB9B-4CCF-A70C-7E86F5CCE178}" type="presParOf" srcId="{79BCC498-81FD-45DC-8C64-63E4DC00D6BD}" destId="{BABA0650-35CC-49EF-AD28-C85CCD9360F9}" srcOrd="2" destOrd="0" presId="urn:microsoft.com/office/officeart/2008/layout/LinedList"/>
    <dgm:cxn modelId="{D9380EC3-3980-4A4C-9BE5-DCB86299140F}" type="presParOf" srcId="{79BCC498-81FD-45DC-8C64-63E4DC00D6BD}" destId="{23D3003F-389E-4366-8F57-4600BBE88D80}" srcOrd="3" destOrd="0" presId="urn:microsoft.com/office/officeart/2008/layout/LinedList"/>
    <dgm:cxn modelId="{F976D7DA-74DC-498F-9B15-9C878011C99C}" type="presParOf" srcId="{23D3003F-389E-4366-8F57-4600BBE88D80}" destId="{81DA8BE5-DD8F-4A37-9429-6E3D951F54E4}" srcOrd="0" destOrd="0" presId="urn:microsoft.com/office/officeart/2008/layout/LinedList"/>
    <dgm:cxn modelId="{04904BD0-5890-4A40-A56E-2EF475184450}" type="presParOf" srcId="{23D3003F-389E-4366-8F57-4600BBE88D80}" destId="{DE5DAB04-6FD4-4844-8F38-F2B01F079AB4}" srcOrd="1" destOrd="0" presId="urn:microsoft.com/office/officeart/2008/layout/LinedList"/>
    <dgm:cxn modelId="{37227D28-2B24-4243-898C-39FEBAC44116}" type="presParOf" srcId="{79BCC498-81FD-45DC-8C64-63E4DC00D6BD}" destId="{AC7AAFE8-B1BE-4B0F-9821-DCC1BED5C65C}" srcOrd="4" destOrd="0" presId="urn:microsoft.com/office/officeart/2008/layout/LinedList"/>
    <dgm:cxn modelId="{7D301918-0CE4-4F61-B96D-21233E88CD1E}" type="presParOf" srcId="{79BCC498-81FD-45DC-8C64-63E4DC00D6BD}" destId="{B08A0C14-105D-4621-AC3B-E7C0E6B85F82}" srcOrd="5" destOrd="0" presId="urn:microsoft.com/office/officeart/2008/layout/LinedList"/>
    <dgm:cxn modelId="{3F0B9638-8A76-4F0B-B757-63789718F444}" type="presParOf" srcId="{B08A0C14-105D-4621-AC3B-E7C0E6B85F82}" destId="{F837905B-204E-48AF-80A9-6A49C8636E8B}" srcOrd="0" destOrd="0" presId="urn:microsoft.com/office/officeart/2008/layout/LinedList"/>
    <dgm:cxn modelId="{FCC3984C-5461-4A03-ABE4-811479D25409}" type="presParOf" srcId="{B08A0C14-105D-4621-AC3B-E7C0E6B85F82}" destId="{8036C11E-8F85-4F84-B714-83B86142EDD0}" srcOrd="1" destOrd="0" presId="urn:microsoft.com/office/officeart/2008/layout/LinedList"/>
    <dgm:cxn modelId="{B93311EC-5254-4A23-9009-40471140D759}" type="presParOf" srcId="{79BCC498-81FD-45DC-8C64-63E4DC00D6BD}" destId="{2B07DED8-FCA3-4A81-B63C-AF50DC5474C2}" srcOrd="6" destOrd="0" presId="urn:microsoft.com/office/officeart/2008/layout/LinedList"/>
    <dgm:cxn modelId="{B528A34D-3575-4970-BC5D-7412C35A82F3}" type="presParOf" srcId="{79BCC498-81FD-45DC-8C64-63E4DC00D6BD}" destId="{86ABF909-0A73-4BFD-9125-3A62894F6731}" srcOrd="7" destOrd="0" presId="urn:microsoft.com/office/officeart/2008/layout/LinedList"/>
    <dgm:cxn modelId="{AD2E4AFF-043C-45FA-8116-C05FBE982C70}" type="presParOf" srcId="{86ABF909-0A73-4BFD-9125-3A62894F6731}" destId="{452A7D9C-2DB8-4863-B999-B187E8C5F673}" srcOrd="0" destOrd="0" presId="urn:microsoft.com/office/officeart/2008/layout/LinedList"/>
    <dgm:cxn modelId="{F6930F77-E4A9-4725-B346-723BF796DDC3}" type="presParOf" srcId="{86ABF909-0A73-4BFD-9125-3A62894F6731}" destId="{E1DDB38E-AB5D-4C3A-B24E-D65A08EEA58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A784B7-4D19-49E0-83B0-C8847A69756A}" type="doc">
      <dgm:prSet loTypeId="urn:microsoft.com/office/officeart/2018/2/layout/IconVerticalSolidList" loCatId="icon" qsTypeId="urn:microsoft.com/office/officeart/2005/8/quickstyle/simple5" qsCatId="simple" csTypeId="urn:microsoft.com/office/officeart/2005/8/colors/accent5_4" csCatId="accent5" phldr="1"/>
      <dgm:spPr/>
      <dgm:t>
        <a:bodyPr/>
        <a:lstStyle/>
        <a:p>
          <a:endParaRPr lang="en-US"/>
        </a:p>
      </dgm:t>
    </dgm:pt>
    <dgm:pt modelId="{0F4A5149-A8D2-4CF7-954A-29820516FA3A}">
      <dgm:prSet custT="1"/>
      <dgm:spPr/>
      <dgm:t>
        <a:bodyPr/>
        <a:lstStyle/>
        <a:p>
          <a:pPr>
            <a:lnSpc>
              <a:spcPct val="100000"/>
            </a:lnSpc>
          </a:pPr>
          <a:r>
            <a:rPr lang="en-US" sz="1800" b="0" dirty="0">
              <a:latin typeface="Arial" panose="020B0604020202020204" pitchFamily="34" charset="0"/>
              <a:cs typeface="Arial" panose="020B0604020202020204" pitchFamily="34" charset="0"/>
            </a:rPr>
            <a:t>“informal sector” Originates from apartheid-era policies by John Keith Hart 1973 while doing his research about Kenya economy.</a:t>
          </a:r>
          <a:endParaRPr lang="en-US" sz="1800" b="0" dirty="0"/>
        </a:p>
      </dgm:t>
    </dgm:pt>
    <dgm:pt modelId="{7DC2D6E3-383C-47BC-8A84-7E4F7A06D728}" type="parTrans" cxnId="{72B17929-B16A-4FDE-90B8-DFF750DEDF02}">
      <dgm:prSet/>
      <dgm:spPr/>
      <dgm:t>
        <a:bodyPr/>
        <a:lstStyle/>
        <a:p>
          <a:endParaRPr lang="en-US"/>
        </a:p>
      </dgm:t>
    </dgm:pt>
    <dgm:pt modelId="{2F0030F4-5DE7-481B-A3EF-A69AF2285B28}" type="sibTrans" cxnId="{72B17929-B16A-4FDE-90B8-DFF750DEDF02}">
      <dgm:prSet/>
      <dgm:spPr/>
      <dgm:t>
        <a:bodyPr/>
        <a:lstStyle/>
        <a:p>
          <a:endParaRPr lang="en-US"/>
        </a:p>
      </dgm:t>
    </dgm:pt>
    <dgm:pt modelId="{7120686A-60F8-4F1B-9FB2-C36DE14F95C1}">
      <dgm:prSet custT="1"/>
      <dgm:spPr/>
      <dgm:t>
        <a:bodyPr/>
        <a:lstStyle/>
        <a:p>
          <a:pPr>
            <a:lnSpc>
              <a:spcPct val="100000"/>
            </a:lnSpc>
          </a:pPr>
          <a:r>
            <a:rPr lang="en-US" sz="1600" b="0" dirty="0">
              <a:latin typeface="Arial" panose="020B0604020202020204" pitchFamily="34" charset="0"/>
              <a:cs typeface="Arial" panose="020B0604020202020204" pitchFamily="34" charset="0"/>
            </a:rPr>
            <a:t>Current structure, after nearly two decades since the ending of apartheid colonialism, poverty, unemployment, inequality, and environmental degradation remain persistent problems South Africa (Kantor, 1999)</a:t>
          </a:r>
          <a:endParaRPr lang="en-US" sz="1600" b="0" dirty="0"/>
        </a:p>
      </dgm:t>
    </dgm:pt>
    <dgm:pt modelId="{4B429F21-40CF-4509-B06C-3402F131DC4F}" type="parTrans" cxnId="{189518B2-6732-403B-B072-FFAE7CE74569}">
      <dgm:prSet/>
      <dgm:spPr/>
      <dgm:t>
        <a:bodyPr/>
        <a:lstStyle/>
        <a:p>
          <a:endParaRPr lang="en-US"/>
        </a:p>
      </dgm:t>
    </dgm:pt>
    <dgm:pt modelId="{8F09FBD9-94D5-49EB-A0CA-C91DC550EEAC}" type="sibTrans" cxnId="{189518B2-6732-403B-B072-FFAE7CE74569}">
      <dgm:prSet/>
      <dgm:spPr/>
      <dgm:t>
        <a:bodyPr/>
        <a:lstStyle/>
        <a:p>
          <a:endParaRPr lang="en-US"/>
        </a:p>
      </dgm:t>
    </dgm:pt>
    <dgm:pt modelId="{807580D3-EDBD-425C-895E-C73E2CF8F6AF}">
      <dgm:prSet custT="1"/>
      <dgm:spPr/>
      <dgm:t>
        <a:bodyPr/>
        <a:lstStyle/>
        <a:p>
          <a:pPr>
            <a:lnSpc>
              <a:spcPct val="100000"/>
            </a:lnSpc>
          </a:pPr>
          <a:r>
            <a:rPr lang="en-US" sz="1600" b="0" dirty="0">
              <a:solidFill>
                <a:schemeClr val="tx1"/>
              </a:solidFill>
              <a:latin typeface="Arial" panose="020B0604020202020204" pitchFamily="34" charset="0"/>
              <a:cs typeface="Arial" panose="020B0604020202020204" pitchFamily="34" charset="0"/>
            </a:rPr>
            <a:t>Most South African countries gained political independence in the 1950s and 1970s and South Africa became politically independent in 1994(</a:t>
          </a:r>
          <a:r>
            <a:rPr lang="en-ZA" sz="1600" b="0" dirty="0">
              <a:solidFill>
                <a:schemeClr val="tx1"/>
              </a:solidFill>
              <a:latin typeface="Arial" panose="020B0604020202020204" pitchFamily="34" charset="0"/>
              <a:cs typeface="Arial" panose="020B0604020202020204" pitchFamily="34" charset="0"/>
            </a:rPr>
            <a:t>Ntuli, 2020)</a:t>
          </a:r>
        </a:p>
      </dgm:t>
    </dgm:pt>
    <dgm:pt modelId="{5C1701B4-8CCE-4709-80D5-83F10AF937C3}" type="parTrans" cxnId="{E98AF65E-AEA6-4D42-95CF-0D7A570213A8}">
      <dgm:prSet/>
      <dgm:spPr/>
      <dgm:t>
        <a:bodyPr/>
        <a:lstStyle/>
        <a:p>
          <a:endParaRPr lang="en-US"/>
        </a:p>
      </dgm:t>
    </dgm:pt>
    <dgm:pt modelId="{9562765F-4D7E-41FE-AB78-ADEA5A81ED3D}" type="sibTrans" cxnId="{E98AF65E-AEA6-4D42-95CF-0D7A570213A8}">
      <dgm:prSet/>
      <dgm:spPr/>
      <dgm:t>
        <a:bodyPr/>
        <a:lstStyle/>
        <a:p>
          <a:endParaRPr lang="en-US"/>
        </a:p>
      </dgm:t>
    </dgm:pt>
    <dgm:pt modelId="{47C1A997-07DC-4734-89A0-C63A55F60242}" type="pres">
      <dgm:prSet presAssocID="{D4A784B7-4D19-49E0-83B0-C8847A69756A}" presName="root" presStyleCnt="0">
        <dgm:presLayoutVars>
          <dgm:dir/>
          <dgm:resizeHandles val="exact"/>
        </dgm:presLayoutVars>
      </dgm:prSet>
      <dgm:spPr/>
    </dgm:pt>
    <dgm:pt modelId="{0402BAB4-8DF2-4EA2-8C2F-604C4F6B6FD3}" type="pres">
      <dgm:prSet presAssocID="{0F4A5149-A8D2-4CF7-954A-29820516FA3A}" presName="compNode" presStyleCnt="0"/>
      <dgm:spPr/>
    </dgm:pt>
    <dgm:pt modelId="{C33C5038-F331-46EB-BE97-23425A4DB979}" type="pres">
      <dgm:prSet presAssocID="{0F4A5149-A8D2-4CF7-954A-29820516FA3A}" presName="bgRect" presStyleLbl="bgShp" presStyleIdx="0" presStyleCnt="3" custLinFactNeighborX="-6719" custLinFactNeighborY="-1053"/>
      <dgm:spPr/>
    </dgm:pt>
    <dgm:pt modelId="{0A9A0810-0540-420B-ABB6-BAE5100382BF}" type="pres">
      <dgm:prSet presAssocID="{0F4A5149-A8D2-4CF7-954A-29820516FA3A}" presName="iconRect"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7208D162-0F4F-4FC2-96A7-1A841B323D3B}" type="pres">
      <dgm:prSet presAssocID="{0F4A5149-A8D2-4CF7-954A-29820516FA3A}" presName="spaceRect" presStyleCnt="0"/>
      <dgm:spPr/>
    </dgm:pt>
    <dgm:pt modelId="{033F4D37-50B2-4ECA-AC42-321B1C145AE2}" type="pres">
      <dgm:prSet presAssocID="{0F4A5149-A8D2-4CF7-954A-29820516FA3A}" presName="parTx" presStyleLbl="revTx" presStyleIdx="0" presStyleCnt="3">
        <dgm:presLayoutVars>
          <dgm:chMax val="0"/>
          <dgm:chPref val="0"/>
        </dgm:presLayoutVars>
      </dgm:prSet>
      <dgm:spPr/>
    </dgm:pt>
    <dgm:pt modelId="{59D89C5A-D9AC-47EF-A3A9-223ABB012126}" type="pres">
      <dgm:prSet presAssocID="{2F0030F4-5DE7-481B-A3EF-A69AF2285B28}" presName="sibTrans" presStyleCnt="0"/>
      <dgm:spPr/>
    </dgm:pt>
    <dgm:pt modelId="{729CC00E-6997-4271-96A2-82FB3149F758}" type="pres">
      <dgm:prSet presAssocID="{7120686A-60F8-4F1B-9FB2-C36DE14F95C1}" presName="compNode" presStyleCnt="0"/>
      <dgm:spPr/>
    </dgm:pt>
    <dgm:pt modelId="{EBCE6B0D-53A3-4D61-9F7F-F7BB96633A55}" type="pres">
      <dgm:prSet presAssocID="{7120686A-60F8-4F1B-9FB2-C36DE14F95C1}" presName="bgRect" presStyleLbl="bgShp" presStyleIdx="1" presStyleCnt="3"/>
      <dgm:spPr/>
    </dgm:pt>
    <dgm:pt modelId="{565F40D3-A6D4-4005-9A18-DE95E2E0704A}" type="pres">
      <dgm:prSet presAssocID="{7120686A-60F8-4F1B-9FB2-C36DE14F95C1}" presName="iconRect" presStyleLbl="node1" presStyleIdx="1" presStyleCnt="3"/>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rawing Compass"/>
        </a:ext>
      </dgm:extLst>
    </dgm:pt>
    <dgm:pt modelId="{35149D65-61F6-4D20-9FCB-03DBD9587FB0}" type="pres">
      <dgm:prSet presAssocID="{7120686A-60F8-4F1B-9FB2-C36DE14F95C1}" presName="spaceRect" presStyleCnt="0"/>
      <dgm:spPr/>
    </dgm:pt>
    <dgm:pt modelId="{BE22040D-F3DD-4D55-988A-3E4DAAAD883F}" type="pres">
      <dgm:prSet presAssocID="{7120686A-60F8-4F1B-9FB2-C36DE14F95C1}" presName="parTx" presStyleLbl="revTx" presStyleIdx="1" presStyleCnt="3">
        <dgm:presLayoutVars>
          <dgm:chMax val="0"/>
          <dgm:chPref val="0"/>
        </dgm:presLayoutVars>
      </dgm:prSet>
      <dgm:spPr/>
    </dgm:pt>
    <dgm:pt modelId="{58D9A07E-7801-4FF8-8E5D-A91C025EFA60}" type="pres">
      <dgm:prSet presAssocID="{8F09FBD9-94D5-49EB-A0CA-C91DC550EEAC}" presName="sibTrans" presStyleCnt="0"/>
      <dgm:spPr/>
    </dgm:pt>
    <dgm:pt modelId="{EE2DC0F6-4ECA-43C4-928B-6CDF83B6EC96}" type="pres">
      <dgm:prSet presAssocID="{807580D3-EDBD-425C-895E-C73E2CF8F6AF}" presName="compNode" presStyleCnt="0"/>
      <dgm:spPr/>
    </dgm:pt>
    <dgm:pt modelId="{3A9484F3-4529-4E4E-98AF-C558AE01CEC9}" type="pres">
      <dgm:prSet presAssocID="{807580D3-EDBD-425C-895E-C73E2CF8F6AF}" presName="bgRect" presStyleLbl="bgShp" presStyleIdx="2" presStyleCnt="3"/>
      <dgm:spPr/>
    </dgm:pt>
    <dgm:pt modelId="{2A912AB4-7257-411F-B4E8-81F2804500F3}" type="pres">
      <dgm:prSet presAssocID="{807580D3-EDBD-425C-895E-C73E2CF8F6AF}"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sconnected"/>
        </a:ext>
      </dgm:extLst>
    </dgm:pt>
    <dgm:pt modelId="{18354271-BC63-45E7-A3D2-0015F20A1C48}" type="pres">
      <dgm:prSet presAssocID="{807580D3-EDBD-425C-895E-C73E2CF8F6AF}" presName="spaceRect" presStyleCnt="0"/>
      <dgm:spPr/>
    </dgm:pt>
    <dgm:pt modelId="{B0D2256E-1341-4A51-9C76-190DFC12003E}" type="pres">
      <dgm:prSet presAssocID="{807580D3-EDBD-425C-895E-C73E2CF8F6AF}" presName="parTx" presStyleLbl="revTx" presStyleIdx="2" presStyleCnt="3">
        <dgm:presLayoutVars>
          <dgm:chMax val="0"/>
          <dgm:chPref val="0"/>
        </dgm:presLayoutVars>
      </dgm:prSet>
      <dgm:spPr/>
    </dgm:pt>
  </dgm:ptLst>
  <dgm:cxnLst>
    <dgm:cxn modelId="{72B17929-B16A-4FDE-90B8-DFF750DEDF02}" srcId="{D4A784B7-4D19-49E0-83B0-C8847A69756A}" destId="{0F4A5149-A8D2-4CF7-954A-29820516FA3A}" srcOrd="0" destOrd="0" parTransId="{7DC2D6E3-383C-47BC-8A84-7E4F7A06D728}" sibTransId="{2F0030F4-5DE7-481B-A3EF-A69AF2285B28}"/>
    <dgm:cxn modelId="{140ADE34-481E-41E1-91AA-9C11AE650197}" type="presOf" srcId="{7120686A-60F8-4F1B-9FB2-C36DE14F95C1}" destId="{BE22040D-F3DD-4D55-988A-3E4DAAAD883F}" srcOrd="0" destOrd="0" presId="urn:microsoft.com/office/officeart/2018/2/layout/IconVerticalSolidList"/>
    <dgm:cxn modelId="{DC6D4538-C6B5-4C6D-8D11-AF65B5BCF192}" type="presOf" srcId="{D4A784B7-4D19-49E0-83B0-C8847A69756A}" destId="{47C1A997-07DC-4734-89A0-C63A55F60242}" srcOrd="0" destOrd="0" presId="urn:microsoft.com/office/officeart/2018/2/layout/IconVerticalSolidList"/>
    <dgm:cxn modelId="{E98AF65E-AEA6-4D42-95CF-0D7A570213A8}" srcId="{D4A784B7-4D19-49E0-83B0-C8847A69756A}" destId="{807580D3-EDBD-425C-895E-C73E2CF8F6AF}" srcOrd="2" destOrd="0" parTransId="{5C1701B4-8CCE-4709-80D5-83F10AF937C3}" sibTransId="{9562765F-4D7E-41FE-AB78-ADEA5A81ED3D}"/>
    <dgm:cxn modelId="{1C991960-0890-43AA-BF70-2B39B074ED70}" type="presOf" srcId="{807580D3-EDBD-425C-895E-C73E2CF8F6AF}" destId="{B0D2256E-1341-4A51-9C76-190DFC12003E}" srcOrd="0" destOrd="0" presId="urn:microsoft.com/office/officeart/2018/2/layout/IconVerticalSolidList"/>
    <dgm:cxn modelId="{189518B2-6732-403B-B072-FFAE7CE74569}" srcId="{D4A784B7-4D19-49E0-83B0-C8847A69756A}" destId="{7120686A-60F8-4F1B-9FB2-C36DE14F95C1}" srcOrd="1" destOrd="0" parTransId="{4B429F21-40CF-4509-B06C-3402F131DC4F}" sibTransId="{8F09FBD9-94D5-49EB-A0CA-C91DC550EEAC}"/>
    <dgm:cxn modelId="{4E1ACFFD-00B0-4962-BEAD-23E79CBCE5D1}" type="presOf" srcId="{0F4A5149-A8D2-4CF7-954A-29820516FA3A}" destId="{033F4D37-50B2-4ECA-AC42-321B1C145AE2}" srcOrd="0" destOrd="0" presId="urn:microsoft.com/office/officeart/2018/2/layout/IconVerticalSolidList"/>
    <dgm:cxn modelId="{9DC1761D-33C9-4BF1-B0AD-92A583164AEE}" type="presParOf" srcId="{47C1A997-07DC-4734-89A0-C63A55F60242}" destId="{0402BAB4-8DF2-4EA2-8C2F-604C4F6B6FD3}" srcOrd="0" destOrd="0" presId="urn:microsoft.com/office/officeart/2018/2/layout/IconVerticalSolidList"/>
    <dgm:cxn modelId="{52003AF1-FA1E-4CF4-AD23-6F9B89DEDF3C}" type="presParOf" srcId="{0402BAB4-8DF2-4EA2-8C2F-604C4F6B6FD3}" destId="{C33C5038-F331-46EB-BE97-23425A4DB979}" srcOrd="0" destOrd="0" presId="urn:microsoft.com/office/officeart/2018/2/layout/IconVerticalSolidList"/>
    <dgm:cxn modelId="{1B9516A9-B8D3-47A6-A213-D0DE5B550920}" type="presParOf" srcId="{0402BAB4-8DF2-4EA2-8C2F-604C4F6B6FD3}" destId="{0A9A0810-0540-420B-ABB6-BAE5100382BF}" srcOrd="1" destOrd="0" presId="urn:microsoft.com/office/officeart/2018/2/layout/IconVerticalSolidList"/>
    <dgm:cxn modelId="{05AB455F-BEE3-44C7-8451-B58A0DDE4983}" type="presParOf" srcId="{0402BAB4-8DF2-4EA2-8C2F-604C4F6B6FD3}" destId="{7208D162-0F4F-4FC2-96A7-1A841B323D3B}" srcOrd="2" destOrd="0" presId="urn:microsoft.com/office/officeart/2018/2/layout/IconVerticalSolidList"/>
    <dgm:cxn modelId="{6755A26A-C829-49B2-9C8B-005356CB214D}" type="presParOf" srcId="{0402BAB4-8DF2-4EA2-8C2F-604C4F6B6FD3}" destId="{033F4D37-50B2-4ECA-AC42-321B1C145AE2}" srcOrd="3" destOrd="0" presId="urn:microsoft.com/office/officeart/2018/2/layout/IconVerticalSolidList"/>
    <dgm:cxn modelId="{94ED25A5-4DCD-422C-B66E-A4819CFEEAE8}" type="presParOf" srcId="{47C1A997-07DC-4734-89A0-C63A55F60242}" destId="{59D89C5A-D9AC-47EF-A3A9-223ABB012126}" srcOrd="1" destOrd="0" presId="urn:microsoft.com/office/officeart/2018/2/layout/IconVerticalSolidList"/>
    <dgm:cxn modelId="{78979CE8-44C6-4F96-B442-21403B788820}" type="presParOf" srcId="{47C1A997-07DC-4734-89A0-C63A55F60242}" destId="{729CC00E-6997-4271-96A2-82FB3149F758}" srcOrd="2" destOrd="0" presId="urn:microsoft.com/office/officeart/2018/2/layout/IconVerticalSolidList"/>
    <dgm:cxn modelId="{FFA7C61D-E2D4-48B8-938C-8D8B233DE644}" type="presParOf" srcId="{729CC00E-6997-4271-96A2-82FB3149F758}" destId="{EBCE6B0D-53A3-4D61-9F7F-F7BB96633A55}" srcOrd="0" destOrd="0" presId="urn:microsoft.com/office/officeart/2018/2/layout/IconVerticalSolidList"/>
    <dgm:cxn modelId="{08E52156-4C09-40F6-BDBD-EF53743EFA5E}" type="presParOf" srcId="{729CC00E-6997-4271-96A2-82FB3149F758}" destId="{565F40D3-A6D4-4005-9A18-DE95E2E0704A}" srcOrd="1" destOrd="0" presId="urn:microsoft.com/office/officeart/2018/2/layout/IconVerticalSolidList"/>
    <dgm:cxn modelId="{746465E5-C990-43E2-8F70-45D4666A1514}" type="presParOf" srcId="{729CC00E-6997-4271-96A2-82FB3149F758}" destId="{35149D65-61F6-4D20-9FCB-03DBD9587FB0}" srcOrd="2" destOrd="0" presId="urn:microsoft.com/office/officeart/2018/2/layout/IconVerticalSolidList"/>
    <dgm:cxn modelId="{DAD4F995-D7D3-4BE8-B1E3-FB3CFFB1C526}" type="presParOf" srcId="{729CC00E-6997-4271-96A2-82FB3149F758}" destId="{BE22040D-F3DD-4D55-988A-3E4DAAAD883F}" srcOrd="3" destOrd="0" presId="urn:microsoft.com/office/officeart/2018/2/layout/IconVerticalSolidList"/>
    <dgm:cxn modelId="{D0CBF81A-ABBB-4E36-B596-49E08360A2BF}" type="presParOf" srcId="{47C1A997-07DC-4734-89A0-C63A55F60242}" destId="{58D9A07E-7801-4FF8-8E5D-A91C025EFA60}" srcOrd="3" destOrd="0" presId="urn:microsoft.com/office/officeart/2018/2/layout/IconVerticalSolidList"/>
    <dgm:cxn modelId="{57A016F8-C183-4A2D-8125-355906F81099}" type="presParOf" srcId="{47C1A997-07DC-4734-89A0-C63A55F60242}" destId="{EE2DC0F6-4ECA-43C4-928B-6CDF83B6EC96}" srcOrd="4" destOrd="0" presId="urn:microsoft.com/office/officeart/2018/2/layout/IconVerticalSolidList"/>
    <dgm:cxn modelId="{B02E5B1D-E153-48C1-82EB-938AD169A94E}" type="presParOf" srcId="{EE2DC0F6-4ECA-43C4-928B-6CDF83B6EC96}" destId="{3A9484F3-4529-4E4E-98AF-C558AE01CEC9}" srcOrd="0" destOrd="0" presId="urn:microsoft.com/office/officeart/2018/2/layout/IconVerticalSolidList"/>
    <dgm:cxn modelId="{4C853905-B080-4A60-8BE9-D70729182F19}" type="presParOf" srcId="{EE2DC0F6-4ECA-43C4-928B-6CDF83B6EC96}" destId="{2A912AB4-7257-411F-B4E8-81F2804500F3}" srcOrd="1" destOrd="0" presId="urn:microsoft.com/office/officeart/2018/2/layout/IconVerticalSolidList"/>
    <dgm:cxn modelId="{4CA75B35-D096-4479-8810-F2DF20B7B847}" type="presParOf" srcId="{EE2DC0F6-4ECA-43C4-928B-6CDF83B6EC96}" destId="{18354271-BC63-45E7-A3D2-0015F20A1C48}" srcOrd="2" destOrd="0" presId="urn:microsoft.com/office/officeart/2018/2/layout/IconVerticalSolidList"/>
    <dgm:cxn modelId="{BD0917B1-C64E-4CF2-A79F-2084A6A19400}" type="presParOf" srcId="{EE2DC0F6-4ECA-43C4-928B-6CDF83B6EC96}" destId="{B0D2256E-1341-4A51-9C76-190DFC12003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88757AC-6BB9-4EAC-9791-EBE9568019CD}" type="doc">
      <dgm:prSet loTypeId="urn:microsoft.com/office/officeart/2008/layout/LinedList" loCatId="list" qsTypeId="urn:microsoft.com/office/officeart/2005/8/quickstyle/simple2" qsCatId="simple" csTypeId="urn:microsoft.com/office/officeart/2005/8/colors/accent0_3" csCatId="mainScheme" phldr="1"/>
      <dgm:spPr/>
      <dgm:t>
        <a:bodyPr/>
        <a:lstStyle/>
        <a:p>
          <a:endParaRPr lang="en-US"/>
        </a:p>
      </dgm:t>
    </dgm:pt>
    <dgm:pt modelId="{D4C51323-CF0A-46E6-A477-76C59E6F022F}">
      <dgm:prSet custT="1"/>
      <dgm:spPr/>
      <dgm:t>
        <a:bodyPr/>
        <a:lstStyle/>
        <a:p>
          <a:pPr>
            <a:lnSpc>
              <a:spcPct val="150000"/>
            </a:lnSpc>
          </a:pPr>
          <a:r>
            <a:rPr lang="en-US" sz="1400" b="0" dirty="0">
              <a:latin typeface="Arial" panose="020B0604020202020204" pitchFamily="34" charset="0"/>
              <a:cs typeface="Arial" panose="020B0604020202020204" pitchFamily="34" charset="0"/>
            </a:rPr>
            <a:t>According to </a:t>
          </a:r>
          <a:r>
            <a:rPr lang="en-ZA" sz="1400" b="0" dirty="0">
              <a:latin typeface="Arial" panose="020B0604020202020204" pitchFamily="34" charset="0"/>
              <a:cs typeface="Arial" panose="020B0604020202020204" pitchFamily="34" charset="0"/>
            </a:rPr>
            <a:t>Tokman state that it's an</a:t>
          </a:r>
          <a:r>
            <a:rPr lang="en-US" sz="1400" b="0" dirty="0">
              <a:latin typeface="Arial" panose="020B0604020202020204" pitchFamily="34" charset="0"/>
              <a:cs typeface="Arial" panose="020B0604020202020204" pitchFamily="34" charset="0"/>
            </a:rPr>
            <a:t> economic activities that have market value and that is neither tax or registered by the government, often operate outside the formal labour market (1980). </a:t>
          </a:r>
        </a:p>
        <a:p>
          <a:pPr>
            <a:lnSpc>
              <a:spcPct val="90000"/>
            </a:lnSpc>
          </a:pPr>
          <a:endParaRPr lang="en-US" sz="1400" b="0" dirty="0">
            <a:latin typeface="Arial" panose="020B0604020202020204" pitchFamily="34" charset="0"/>
            <a:cs typeface="Arial" panose="020B0604020202020204" pitchFamily="34" charset="0"/>
          </a:endParaRPr>
        </a:p>
        <a:p>
          <a:pPr>
            <a:lnSpc>
              <a:spcPct val="90000"/>
            </a:lnSpc>
          </a:pPr>
          <a:r>
            <a:rPr lang="en-US" sz="1400" b="0" dirty="0">
              <a:latin typeface="Arial" panose="020B0604020202020204" pitchFamily="34" charset="0"/>
              <a:cs typeface="Arial" panose="020B0604020202020204" pitchFamily="34" charset="0"/>
            </a:rPr>
            <a:t>Activities of informal economy:</a:t>
          </a:r>
        </a:p>
        <a:p>
          <a:pPr>
            <a:lnSpc>
              <a:spcPct val="90000"/>
            </a:lnSpc>
          </a:pPr>
          <a:r>
            <a:rPr lang="en-ZA" sz="1400" b="0" i="0" dirty="0">
              <a:latin typeface="Arial" panose="020B0604020202020204" pitchFamily="34" charset="0"/>
              <a:cs typeface="Arial" panose="020B0604020202020204" pitchFamily="34" charset="0"/>
            </a:rPr>
            <a:t>.</a:t>
          </a:r>
        </a:p>
        <a:p>
          <a:pPr>
            <a:lnSpc>
              <a:spcPct val="90000"/>
            </a:lnSpc>
            <a:buFont typeface="Arial" panose="020B0604020202020204" pitchFamily="34" charset="0"/>
            <a:buChar char="•"/>
          </a:pPr>
          <a:r>
            <a:rPr lang="en-US" sz="1600" b="0" i="0" dirty="0">
              <a:latin typeface="Arial" panose="020B0604020202020204" pitchFamily="34" charset="0"/>
              <a:cs typeface="Arial" panose="020B0604020202020204" pitchFamily="34" charset="0"/>
            </a:rPr>
            <a:t> Home-Based Workers (Domestic Workers)</a:t>
          </a:r>
        </a:p>
        <a:p>
          <a:pPr>
            <a:lnSpc>
              <a:spcPct val="90000"/>
            </a:lnSpc>
            <a:buFont typeface="Arial" panose="020B0604020202020204" pitchFamily="34" charset="0"/>
            <a:buChar char="•"/>
          </a:pPr>
          <a:r>
            <a:rPr lang="en-ZA" sz="1600" b="0" i="0" dirty="0">
              <a:latin typeface="Arial" panose="020B0604020202020204" pitchFamily="34" charset="0"/>
              <a:cs typeface="Arial" panose="020B0604020202020204" pitchFamily="34" charset="0"/>
            </a:rPr>
            <a:t> Street Vendors.</a:t>
          </a:r>
        </a:p>
        <a:p>
          <a:pPr>
            <a:lnSpc>
              <a:spcPct val="90000"/>
            </a:lnSpc>
            <a:buFont typeface="Arial" panose="020B0604020202020204" pitchFamily="34" charset="0"/>
            <a:buChar char="•"/>
          </a:pPr>
          <a:r>
            <a:rPr lang="en-ZA" sz="1600" b="0" i="0" dirty="0">
              <a:latin typeface="Arial" panose="020B0604020202020204" pitchFamily="34" charset="0"/>
              <a:cs typeface="Arial" panose="020B0604020202020204" pitchFamily="34" charset="0"/>
            </a:rPr>
            <a:t> Waste Pickers.</a:t>
          </a:r>
        </a:p>
        <a:p>
          <a:pPr>
            <a:lnSpc>
              <a:spcPct val="90000"/>
            </a:lnSpc>
            <a:buFont typeface="Arial" panose="020B0604020202020204" pitchFamily="34" charset="0"/>
            <a:buChar char="•"/>
          </a:pPr>
          <a:r>
            <a:rPr lang="en-ZA" sz="1600" b="0" dirty="0">
              <a:latin typeface="Arial" panose="020B0604020202020204" pitchFamily="34" charset="0"/>
              <a:cs typeface="Arial" panose="020B0604020202020204" pitchFamily="34" charset="0"/>
            </a:rPr>
            <a:t> </a:t>
          </a:r>
          <a:r>
            <a:rPr lang="en-US" sz="1600" b="0" dirty="0">
              <a:latin typeface="Arial" panose="020B0604020202020204" pitchFamily="34" charset="0"/>
              <a:cs typeface="Arial" panose="020B0604020202020204" pitchFamily="34" charset="0"/>
            </a:rPr>
            <a:t>Informal transportation (e.g., unregistered taxis)</a:t>
          </a:r>
          <a:endParaRPr lang="en-ZA" sz="1600" b="0" dirty="0">
            <a:latin typeface="Arial" panose="020B0604020202020204" pitchFamily="34" charset="0"/>
            <a:cs typeface="Arial" panose="020B0604020202020204" pitchFamily="34" charset="0"/>
          </a:endParaRPr>
        </a:p>
      </dgm:t>
    </dgm:pt>
    <dgm:pt modelId="{2255BFD4-557D-45BC-A79F-0CC856088FB7}" type="sibTrans" cxnId="{49F5E3AB-384D-43D1-B7C1-1A80CE49A491}">
      <dgm:prSet/>
      <dgm:spPr/>
      <dgm:t>
        <a:bodyPr/>
        <a:lstStyle/>
        <a:p>
          <a:endParaRPr lang="en-US"/>
        </a:p>
      </dgm:t>
    </dgm:pt>
    <dgm:pt modelId="{C60FD78F-169A-4B70-9388-F932466E6630}" type="parTrans" cxnId="{49F5E3AB-384D-43D1-B7C1-1A80CE49A491}">
      <dgm:prSet/>
      <dgm:spPr/>
      <dgm:t>
        <a:bodyPr/>
        <a:lstStyle/>
        <a:p>
          <a:endParaRPr lang="en-US"/>
        </a:p>
      </dgm:t>
    </dgm:pt>
    <dgm:pt modelId="{D944AD7D-DE0E-43EC-B999-3AD9903593A5}" type="pres">
      <dgm:prSet presAssocID="{988757AC-6BB9-4EAC-9791-EBE9568019CD}" presName="vert0" presStyleCnt="0">
        <dgm:presLayoutVars>
          <dgm:dir/>
          <dgm:animOne val="branch"/>
          <dgm:animLvl val="lvl"/>
        </dgm:presLayoutVars>
      </dgm:prSet>
      <dgm:spPr/>
    </dgm:pt>
    <dgm:pt modelId="{9DAE071F-A62A-4264-9472-F87653A07D27}" type="pres">
      <dgm:prSet presAssocID="{D4C51323-CF0A-46E6-A477-76C59E6F022F}" presName="thickLine" presStyleLbl="alignNode1" presStyleIdx="0" presStyleCnt="1"/>
      <dgm:spPr/>
    </dgm:pt>
    <dgm:pt modelId="{9D02E489-F512-44D0-AD84-60BA42A7C729}" type="pres">
      <dgm:prSet presAssocID="{D4C51323-CF0A-46E6-A477-76C59E6F022F}" presName="horz1" presStyleCnt="0"/>
      <dgm:spPr/>
    </dgm:pt>
    <dgm:pt modelId="{468BACFC-3A1D-485A-8C6A-E5E90CCA3C09}" type="pres">
      <dgm:prSet presAssocID="{D4C51323-CF0A-46E6-A477-76C59E6F022F}" presName="tx1" presStyleLbl="revTx" presStyleIdx="0" presStyleCnt="1" custScaleY="100098"/>
      <dgm:spPr/>
    </dgm:pt>
    <dgm:pt modelId="{7EE648E9-A1DB-4D3F-AF3E-586C9E4A34AD}" type="pres">
      <dgm:prSet presAssocID="{D4C51323-CF0A-46E6-A477-76C59E6F022F}" presName="vert1" presStyleCnt="0"/>
      <dgm:spPr/>
    </dgm:pt>
  </dgm:ptLst>
  <dgm:cxnLst>
    <dgm:cxn modelId="{7EF5F211-7F42-478E-9006-0BA81E6936C7}" type="presOf" srcId="{988757AC-6BB9-4EAC-9791-EBE9568019CD}" destId="{D944AD7D-DE0E-43EC-B999-3AD9903593A5}" srcOrd="0" destOrd="0" presId="urn:microsoft.com/office/officeart/2008/layout/LinedList"/>
    <dgm:cxn modelId="{49F5E3AB-384D-43D1-B7C1-1A80CE49A491}" srcId="{988757AC-6BB9-4EAC-9791-EBE9568019CD}" destId="{D4C51323-CF0A-46E6-A477-76C59E6F022F}" srcOrd="0" destOrd="0" parTransId="{C60FD78F-169A-4B70-9388-F932466E6630}" sibTransId="{2255BFD4-557D-45BC-A79F-0CC856088FB7}"/>
    <dgm:cxn modelId="{69E499BA-F96B-46ED-BA36-E94A4A3A2339}" type="presOf" srcId="{D4C51323-CF0A-46E6-A477-76C59E6F022F}" destId="{468BACFC-3A1D-485A-8C6A-E5E90CCA3C09}" srcOrd="0" destOrd="0" presId="urn:microsoft.com/office/officeart/2008/layout/LinedList"/>
    <dgm:cxn modelId="{564380CA-B146-42E9-A70B-9EFA6456B614}" type="presParOf" srcId="{D944AD7D-DE0E-43EC-B999-3AD9903593A5}" destId="{9DAE071F-A62A-4264-9472-F87653A07D27}" srcOrd="0" destOrd="0" presId="urn:microsoft.com/office/officeart/2008/layout/LinedList"/>
    <dgm:cxn modelId="{C8A9C911-895C-4B30-AD33-2E8958996875}" type="presParOf" srcId="{D944AD7D-DE0E-43EC-B999-3AD9903593A5}" destId="{9D02E489-F512-44D0-AD84-60BA42A7C729}" srcOrd="1" destOrd="0" presId="urn:microsoft.com/office/officeart/2008/layout/LinedList"/>
    <dgm:cxn modelId="{3B4BC9B4-36E6-401A-9921-1BEC0B9A94CD}" type="presParOf" srcId="{9D02E489-F512-44D0-AD84-60BA42A7C729}" destId="{468BACFC-3A1D-485A-8C6A-E5E90CCA3C09}" srcOrd="0" destOrd="0" presId="urn:microsoft.com/office/officeart/2008/layout/LinedList"/>
    <dgm:cxn modelId="{D56DEFC5-0525-4438-8BF5-045E0AC840DF}" type="presParOf" srcId="{9D02E489-F512-44D0-AD84-60BA42A7C729}" destId="{7EE648E9-A1DB-4D3F-AF3E-586C9E4A34A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9C2C8D4-0BE5-42EC-8DE6-69856957E741}"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A2865873-6095-417F-9F64-208A8328A378}">
      <dgm:prSet/>
      <dgm:spPr/>
      <dgm:t>
        <a:bodyPr/>
        <a:lstStyle/>
        <a:p>
          <a:r>
            <a:rPr lang="en-GB" dirty="0"/>
            <a:t>This research aim to develop strategies to formalize the informal economy in South Africa</a:t>
          </a:r>
          <a:endParaRPr lang="en-US" dirty="0"/>
        </a:p>
      </dgm:t>
    </dgm:pt>
    <dgm:pt modelId="{9D01DEFF-2693-4888-9002-76B7D311E8CC}" type="parTrans" cxnId="{4FDF231F-7EB0-4EDF-B1F7-609EB8F2F789}">
      <dgm:prSet/>
      <dgm:spPr/>
      <dgm:t>
        <a:bodyPr/>
        <a:lstStyle/>
        <a:p>
          <a:endParaRPr lang="en-US"/>
        </a:p>
      </dgm:t>
    </dgm:pt>
    <dgm:pt modelId="{CEB5ED45-61CC-489A-95F0-5C240574EF75}" type="sibTrans" cxnId="{4FDF231F-7EB0-4EDF-B1F7-609EB8F2F789}">
      <dgm:prSet/>
      <dgm:spPr/>
      <dgm:t>
        <a:bodyPr/>
        <a:lstStyle/>
        <a:p>
          <a:endParaRPr lang="en-US"/>
        </a:p>
      </dgm:t>
    </dgm:pt>
    <dgm:pt modelId="{C5F8420C-3389-44C7-B9B7-C4EF71B56725}">
      <dgm:prSet/>
      <dgm:spPr/>
      <dgm:t>
        <a:bodyPr/>
        <a:lstStyle/>
        <a:p>
          <a:r>
            <a:rPr lang="en-GB" b="1" dirty="0"/>
            <a:t>Goals:</a:t>
          </a:r>
          <a:r>
            <a:rPr lang="en-GB" dirty="0"/>
            <a:t> Enhance economic growth, employment, and tax revenue; ensure social security for informal workers</a:t>
          </a:r>
          <a:endParaRPr lang="en-US" dirty="0"/>
        </a:p>
      </dgm:t>
    </dgm:pt>
    <dgm:pt modelId="{401FE146-15CF-4C7F-98AB-59A26FEFC422}" type="parTrans" cxnId="{7F14AC36-8FF7-4866-95C8-C92C5C325509}">
      <dgm:prSet/>
      <dgm:spPr/>
      <dgm:t>
        <a:bodyPr/>
        <a:lstStyle/>
        <a:p>
          <a:endParaRPr lang="en-US"/>
        </a:p>
      </dgm:t>
    </dgm:pt>
    <dgm:pt modelId="{B84776E8-3232-4B93-966D-5E7C93D1BA60}" type="sibTrans" cxnId="{7F14AC36-8FF7-4866-95C8-C92C5C325509}">
      <dgm:prSet/>
      <dgm:spPr/>
      <dgm:t>
        <a:bodyPr/>
        <a:lstStyle/>
        <a:p>
          <a:endParaRPr lang="en-US"/>
        </a:p>
      </dgm:t>
    </dgm:pt>
    <dgm:pt modelId="{933E99B6-8388-4F5B-A814-A6A0D3707DC4}" type="pres">
      <dgm:prSet presAssocID="{49C2C8D4-0BE5-42EC-8DE6-69856957E741}" presName="root" presStyleCnt="0">
        <dgm:presLayoutVars>
          <dgm:dir/>
          <dgm:resizeHandles val="exact"/>
        </dgm:presLayoutVars>
      </dgm:prSet>
      <dgm:spPr/>
    </dgm:pt>
    <dgm:pt modelId="{8156B973-A3C2-4E05-896F-01C070591A2B}" type="pres">
      <dgm:prSet presAssocID="{A2865873-6095-417F-9F64-208A8328A378}" presName="compNode" presStyleCnt="0"/>
      <dgm:spPr/>
    </dgm:pt>
    <dgm:pt modelId="{61FE441B-BB1C-49FC-AC1D-F67610F2099F}" type="pres">
      <dgm:prSet presAssocID="{A2865873-6095-417F-9F64-208A8328A378}" presName="iconRect" presStyleLbl="node1" presStyleIdx="0" presStyleCnt="2" custScaleX="81012" custScaleY="71113" custLinFactNeighborX="21042" custLinFactNeighborY="-1472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ext>
      </dgm:extLst>
    </dgm:pt>
    <dgm:pt modelId="{025F0734-61D3-4559-BA59-F242FBCCA6CB}" type="pres">
      <dgm:prSet presAssocID="{A2865873-6095-417F-9F64-208A8328A378}" presName="spaceRect" presStyleCnt="0"/>
      <dgm:spPr/>
    </dgm:pt>
    <dgm:pt modelId="{D1819EA6-FE4C-4672-812A-0FC1F06B0259}" type="pres">
      <dgm:prSet presAssocID="{A2865873-6095-417F-9F64-208A8328A378}" presName="textRect" presStyleLbl="revTx" presStyleIdx="0" presStyleCnt="2" custScaleY="159946" custLinFactNeighborX="8750" custLinFactNeighborY="-52917">
        <dgm:presLayoutVars>
          <dgm:chMax val="1"/>
          <dgm:chPref val="1"/>
        </dgm:presLayoutVars>
      </dgm:prSet>
      <dgm:spPr/>
    </dgm:pt>
    <dgm:pt modelId="{C7968E65-CB8F-4B76-8E53-A189A326582F}" type="pres">
      <dgm:prSet presAssocID="{CEB5ED45-61CC-489A-95F0-5C240574EF75}" presName="sibTrans" presStyleCnt="0"/>
      <dgm:spPr/>
    </dgm:pt>
    <dgm:pt modelId="{930820EE-3067-4B6B-8484-85D8C656E959}" type="pres">
      <dgm:prSet presAssocID="{C5F8420C-3389-44C7-B9B7-C4EF71B56725}" presName="compNode" presStyleCnt="0"/>
      <dgm:spPr/>
    </dgm:pt>
    <dgm:pt modelId="{5B47D279-FAC3-4399-9CFA-6AF8B8D009D4}" type="pres">
      <dgm:prSet presAssocID="{C5F8420C-3389-44C7-B9B7-C4EF71B56725}" presName="iconRect" presStyleLbl="node1" presStyleIdx="1" presStyleCnt="2" custScaleX="70344" custScaleY="51351"/>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siness Growth"/>
        </a:ext>
      </dgm:extLst>
    </dgm:pt>
    <dgm:pt modelId="{C38C8F22-1202-4020-AF1A-98965E1460DC}" type="pres">
      <dgm:prSet presAssocID="{C5F8420C-3389-44C7-B9B7-C4EF71B56725}" presName="spaceRect" presStyleCnt="0"/>
      <dgm:spPr/>
    </dgm:pt>
    <dgm:pt modelId="{E7DA8F3A-D8FC-4F5A-BBD6-7A0F74149EB2}" type="pres">
      <dgm:prSet presAssocID="{C5F8420C-3389-44C7-B9B7-C4EF71B56725}" presName="textRect" presStyleLbl="revTx" presStyleIdx="1" presStyleCnt="2" custAng="0" custScaleY="211831" custLinFactNeighborX="588" custLinFactNeighborY="16463">
        <dgm:presLayoutVars>
          <dgm:chMax val="1"/>
          <dgm:chPref val="1"/>
        </dgm:presLayoutVars>
      </dgm:prSet>
      <dgm:spPr/>
    </dgm:pt>
  </dgm:ptLst>
  <dgm:cxnLst>
    <dgm:cxn modelId="{4FDF231F-7EB0-4EDF-B1F7-609EB8F2F789}" srcId="{49C2C8D4-0BE5-42EC-8DE6-69856957E741}" destId="{A2865873-6095-417F-9F64-208A8328A378}" srcOrd="0" destOrd="0" parTransId="{9D01DEFF-2693-4888-9002-76B7D311E8CC}" sibTransId="{CEB5ED45-61CC-489A-95F0-5C240574EF75}"/>
    <dgm:cxn modelId="{7F14AC36-8FF7-4866-95C8-C92C5C325509}" srcId="{49C2C8D4-0BE5-42EC-8DE6-69856957E741}" destId="{C5F8420C-3389-44C7-B9B7-C4EF71B56725}" srcOrd="1" destOrd="0" parTransId="{401FE146-15CF-4C7F-98AB-59A26FEFC422}" sibTransId="{B84776E8-3232-4B93-966D-5E7C93D1BA60}"/>
    <dgm:cxn modelId="{7C152F64-4DB9-466B-AC14-DD1BC12AEEFC}" type="presOf" srcId="{49C2C8D4-0BE5-42EC-8DE6-69856957E741}" destId="{933E99B6-8388-4F5B-A814-A6A0D3707DC4}" srcOrd="0" destOrd="0" presId="urn:microsoft.com/office/officeart/2018/2/layout/IconLabelList"/>
    <dgm:cxn modelId="{A2DF399E-E525-418A-8D53-6796D13EC717}" type="presOf" srcId="{A2865873-6095-417F-9F64-208A8328A378}" destId="{D1819EA6-FE4C-4672-812A-0FC1F06B0259}" srcOrd="0" destOrd="0" presId="urn:microsoft.com/office/officeart/2018/2/layout/IconLabelList"/>
    <dgm:cxn modelId="{CEB1ACDA-3643-457C-9CCB-2082E5402488}" type="presOf" srcId="{C5F8420C-3389-44C7-B9B7-C4EF71B56725}" destId="{E7DA8F3A-D8FC-4F5A-BBD6-7A0F74149EB2}" srcOrd="0" destOrd="0" presId="urn:microsoft.com/office/officeart/2018/2/layout/IconLabelList"/>
    <dgm:cxn modelId="{B8A7C404-EB91-49C0-B0C7-E7645C25D6DC}" type="presParOf" srcId="{933E99B6-8388-4F5B-A814-A6A0D3707DC4}" destId="{8156B973-A3C2-4E05-896F-01C070591A2B}" srcOrd="0" destOrd="0" presId="urn:microsoft.com/office/officeart/2018/2/layout/IconLabelList"/>
    <dgm:cxn modelId="{8F1FF368-2DBD-4945-9C4B-81B58B024698}" type="presParOf" srcId="{8156B973-A3C2-4E05-896F-01C070591A2B}" destId="{61FE441B-BB1C-49FC-AC1D-F67610F2099F}" srcOrd="0" destOrd="0" presId="urn:microsoft.com/office/officeart/2018/2/layout/IconLabelList"/>
    <dgm:cxn modelId="{5A5C0E9E-E2D8-45C0-8439-3DD15286DD12}" type="presParOf" srcId="{8156B973-A3C2-4E05-896F-01C070591A2B}" destId="{025F0734-61D3-4559-BA59-F242FBCCA6CB}" srcOrd="1" destOrd="0" presId="urn:microsoft.com/office/officeart/2018/2/layout/IconLabelList"/>
    <dgm:cxn modelId="{29C6A450-BFB5-4B65-A097-22421214E6E2}" type="presParOf" srcId="{8156B973-A3C2-4E05-896F-01C070591A2B}" destId="{D1819EA6-FE4C-4672-812A-0FC1F06B0259}" srcOrd="2" destOrd="0" presId="urn:microsoft.com/office/officeart/2018/2/layout/IconLabelList"/>
    <dgm:cxn modelId="{D0E24CD3-2301-4C81-961B-09AE08C594C0}" type="presParOf" srcId="{933E99B6-8388-4F5B-A814-A6A0D3707DC4}" destId="{C7968E65-CB8F-4B76-8E53-A189A326582F}" srcOrd="1" destOrd="0" presId="urn:microsoft.com/office/officeart/2018/2/layout/IconLabelList"/>
    <dgm:cxn modelId="{AEB1E284-4977-4F88-B6F3-D189A54A362F}" type="presParOf" srcId="{933E99B6-8388-4F5B-A814-A6A0D3707DC4}" destId="{930820EE-3067-4B6B-8484-85D8C656E959}" srcOrd="2" destOrd="0" presId="urn:microsoft.com/office/officeart/2018/2/layout/IconLabelList"/>
    <dgm:cxn modelId="{8417A237-FEB3-4A7C-934C-1C032AB8883C}" type="presParOf" srcId="{930820EE-3067-4B6B-8484-85D8C656E959}" destId="{5B47D279-FAC3-4399-9CFA-6AF8B8D009D4}" srcOrd="0" destOrd="0" presId="urn:microsoft.com/office/officeart/2018/2/layout/IconLabelList"/>
    <dgm:cxn modelId="{8B362233-55AE-423D-8E24-7B100CC549A7}" type="presParOf" srcId="{930820EE-3067-4B6B-8484-85D8C656E959}" destId="{C38C8F22-1202-4020-AF1A-98965E1460DC}" srcOrd="1" destOrd="0" presId="urn:microsoft.com/office/officeart/2018/2/layout/IconLabelList"/>
    <dgm:cxn modelId="{E41FFE87-1372-40C9-AE83-A94C956B5597}" type="presParOf" srcId="{930820EE-3067-4B6B-8484-85D8C656E959}" destId="{E7DA8F3A-D8FC-4F5A-BBD6-7A0F74149EB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DDAC000-9F00-4BFD-AFE6-2E26F96E78B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710A6E5-6FE9-4DDE-8B35-222E20F38F01}">
      <dgm:prSet phldrT="[Text]"/>
      <dgm:spPr>
        <a:solidFill>
          <a:schemeClr val="accent2">
            <a:lumMod val="60000"/>
            <a:lumOff val="40000"/>
          </a:schemeClr>
        </a:solidFill>
      </dgm:spPr>
      <dgm:t>
        <a:bodyPr/>
        <a:lstStyle/>
        <a:p>
          <a:r>
            <a:rPr lang="en-ZA" dirty="0">
              <a:solidFill>
                <a:schemeClr val="tx1"/>
              </a:solidFill>
            </a:rPr>
            <a:t>What is the current state and structure of the informal economy in South Africa?</a:t>
          </a:r>
          <a:endParaRPr lang="en-US" dirty="0">
            <a:solidFill>
              <a:schemeClr val="tx1"/>
            </a:solidFill>
          </a:endParaRPr>
        </a:p>
      </dgm:t>
    </dgm:pt>
    <dgm:pt modelId="{59C9A7CB-D18D-45B5-B626-D4581798B287}" type="parTrans" cxnId="{7C1CB6A8-4A4D-40EA-B444-5B3ABE3DDA03}">
      <dgm:prSet/>
      <dgm:spPr/>
      <dgm:t>
        <a:bodyPr/>
        <a:lstStyle/>
        <a:p>
          <a:endParaRPr lang="en-US"/>
        </a:p>
      </dgm:t>
    </dgm:pt>
    <dgm:pt modelId="{33790114-C367-4700-B0DD-413C65F1F70C}" type="sibTrans" cxnId="{7C1CB6A8-4A4D-40EA-B444-5B3ABE3DDA03}">
      <dgm:prSet/>
      <dgm:spPr/>
      <dgm:t>
        <a:bodyPr/>
        <a:lstStyle/>
        <a:p>
          <a:endParaRPr lang="en-US"/>
        </a:p>
      </dgm:t>
    </dgm:pt>
    <dgm:pt modelId="{8D2896AB-34CF-4EC0-8789-CE56C9F60359}">
      <dgm:prSet phldrT="[Text]"/>
      <dgm:spPr>
        <a:solidFill>
          <a:schemeClr val="accent2">
            <a:lumMod val="60000"/>
            <a:lumOff val="40000"/>
          </a:schemeClr>
        </a:solidFill>
      </dgm:spPr>
      <dgm:t>
        <a:bodyPr/>
        <a:lstStyle/>
        <a:p>
          <a:r>
            <a:rPr lang="en-US" dirty="0">
              <a:solidFill>
                <a:schemeClr val="tx1"/>
              </a:solidFill>
            </a:rPr>
            <a:t>Which sectors of the informal economy contribute most to economic growth?</a:t>
          </a:r>
        </a:p>
      </dgm:t>
    </dgm:pt>
    <dgm:pt modelId="{3994BE57-24F3-4D0D-B9CE-977E2F7E6169}" type="parTrans" cxnId="{A99BB6BE-BC72-4230-850E-BA92930B6B5B}">
      <dgm:prSet/>
      <dgm:spPr/>
      <dgm:t>
        <a:bodyPr/>
        <a:lstStyle/>
        <a:p>
          <a:endParaRPr lang="en-US"/>
        </a:p>
      </dgm:t>
    </dgm:pt>
    <dgm:pt modelId="{F46131F2-7A33-4D4F-B783-B51520251DDB}" type="sibTrans" cxnId="{A99BB6BE-BC72-4230-850E-BA92930B6B5B}">
      <dgm:prSet/>
      <dgm:spPr/>
      <dgm:t>
        <a:bodyPr/>
        <a:lstStyle/>
        <a:p>
          <a:endParaRPr lang="en-US"/>
        </a:p>
      </dgm:t>
    </dgm:pt>
    <dgm:pt modelId="{B79E2663-20BE-4F55-A890-8A4826EAAD9E}">
      <dgm:prSet phldrT="[Text]"/>
      <dgm:spPr>
        <a:solidFill>
          <a:schemeClr val="accent2">
            <a:lumMod val="60000"/>
            <a:lumOff val="40000"/>
          </a:schemeClr>
        </a:solidFill>
      </dgm:spPr>
      <dgm:t>
        <a:bodyPr/>
        <a:lstStyle/>
        <a:p>
          <a:r>
            <a:rPr lang="en-US" dirty="0">
              <a:solidFill>
                <a:schemeClr val="tx1"/>
              </a:solidFill>
            </a:rPr>
            <a:t>What is the role of government policy in regulating or supporting the informal </a:t>
          </a:r>
        </a:p>
      </dgm:t>
    </dgm:pt>
    <dgm:pt modelId="{19FA0D48-430A-4E3C-B146-94A414A9E38D}" type="parTrans" cxnId="{D9B5C7E5-EABE-4558-BB25-A15E4DA3B68C}">
      <dgm:prSet/>
      <dgm:spPr/>
      <dgm:t>
        <a:bodyPr/>
        <a:lstStyle/>
        <a:p>
          <a:endParaRPr lang="en-US"/>
        </a:p>
      </dgm:t>
    </dgm:pt>
    <dgm:pt modelId="{3D66CC73-874D-4046-919D-576C95831BA8}" type="sibTrans" cxnId="{D9B5C7E5-EABE-4558-BB25-A15E4DA3B68C}">
      <dgm:prSet/>
      <dgm:spPr/>
      <dgm:t>
        <a:bodyPr/>
        <a:lstStyle/>
        <a:p>
          <a:endParaRPr lang="en-US"/>
        </a:p>
      </dgm:t>
    </dgm:pt>
    <dgm:pt modelId="{8561B583-5D42-4087-84B8-EB8793A8B862}">
      <dgm:prSet/>
      <dgm:spPr>
        <a:solidFill>
          <a:schemeClr val="accent2">
            <a:lumMod val="60000"/>
            <a:lumOff val="40000"/>
          </a:schemeClr>
        </a:solidFill>
      </dgm:spPr>
      <dgm:t>
        <a:bodyPr/>
        <a:lstStyle/>
        <a:p>
          <a:r>
            <a:rPr lang="en-US" dirty="0">
              <a:solidFill>
                <a:schemeClr val="tx1"/>
              </a:solidFill>
            </a:rPr>
            <a:t>What demographic factors, most associated with labors in the informal economy?</a:t>
          </a:r>
        </a:p>
      </dgm:t>
    </dgm:pt>
    <dgm:pt modelId="{1B04A62F-D263-44F7-98B7-D260336378A6}" type="parTrans" cxnId="{1981EF83-B1A6-40A0-926A-D288CDFE25C0}">
      <dgm:prSet/>
      <dgm:spPr/>
      <dgm:t>
        <a:bodyPr/>
        <a:lstStyle/>
        <a:p>
          <a:endParaRPr lang="en-US"/>
        </a:p>
      </dgm:t>
    </dgm:pt>
    <dgm:pt modelId="{CACFC499-137E-4CDB-9F72-AAA1E0AA1FFD}" type="sibTrans" cxnId="{1981EF83-B1A6-40A0-926A-D288CDFE25C0}">
      <dgm:prSet/>
      <dgm:spPr/>
      <dgm:t>
        <a:bodyPr/>
        <a:lstStyle/>
        <a:p>
          <a:endParaRPr lang="en-US"/>
        </a:p>
      </dgm:t>
    </dgm:pt>
    <dgm:pt modelId="{0D027002-28B3-481A-B756-1CD8FC0604A4}" type="pres">
      <dgm:prSet presAssocID="{8DDAC000-9F00-4BFD-AFE6-2E26F96E78B2}" presName="linear" presStyleCnt="0">
        <dgm:presLayoutVars>
          <dgm:dir/>
          <dgm:animLvl val="lvl"/>
          <dgm:resizeHandles val="exact"/>
        </dgm:presLayoutVars>
      </dgm:prSet>
      <dgm:spPr/>
    </dgm:pt>
    <dgm:pt modelId="{F2799CF6-3038-4DB3-BF85-43F92DAB76EE}" type="pres">
      <dgm:prSet presAssocID="{7710A6E5-6FE9-4DDE-8B35-222E20F38F01}" presName="parentLin" presStyleCnt="0"/>
      <dgm:spPr/>
    </dgm:pt>
    <dgm:pt modelId="{BB4C6C85-8362-419E-BE99-66B46B0B5084}" type="pres">
      <dgm:prSet presAssocID="{7710A6E5-6FE9-4DDE-8B35-222E20F38F01}" presName="parentLeftMargin" presStyleLbl="node1" presStyleIdx="0" presStyleCnt="4"/>
      <dgm:spPr/>
    </dgm:pt>
    <dgm:pt modelId="{498A1CDC-3DBC-40C4-A4E5-7FBDB01ABE8A}" type="pres">
      <dgm:prSet presAssocID="{7710A6E5-6FE9-4DDE-8B35-222E20F38F01}" presName="parentText" presStyleLbl="node1" presStyleIdx="0" presStyleCnt="4" custScaleX="107188">
        <dgm:presLayoutVars>
          <dgm:chMax val="0"/>
          <dgm:bulletEnabled val="1"/>
        </dgm:presLayoutVars>
      </dgm:prSet>
      <dgm:spPr/>
    </dgm:pt>
    <dgm:pt modelId="{21DEEE87-2B5B-4E73-947F-632FFC157DCF}" type="pres">
      <dgm:prSet presAssocID="{7710A6E5-6FE9-4DDE-8B35-222E20F38F01}" presName="negativeSpace" presStyleCnt="0"/>
      <dgm:spPr/>
    </dgm:pt>
    <dgm:pt modelId="{BA4A11F4-62BB-481C-8236-0921DFB1C018}" type="pres">
      <dgm:prSet presAssocID="{7710A6E5-6FE9-4DDE-8B35-222E20F38F01}" presName="childText" presStyleLbl="conFgAcc1" presStyleIdx="0" presStyleCnt="4">
        <dgm:presLayoutVars>
          <dgm:bulletEnabled val="1"/>
        </dgm:presLayoutVars>
      </dgm:prSet>
      <dgm:spPr>
        <a:solidFill>
          <a:schemeClr val="bg1">
            <a:lumMod val="75000"/>
            <a:alpha val="90000"/>
          </a:schemeClr>
        </a:solidFill>
      </dgm:spPr>
    </dgm:pt>
    <dgm:pt modelId="{86F7E5B2-E569-4CD1-B6ED-EE5AF954A8E0}" type="pres">
      <dgm:prSet presAssocID="{33790114-C367-4700-B0DD-413C65F1F70C}" presName="spaceBetweenRectangles" presStyleCnt="0"/>
      <dgm:spPr/>
    </dgm:pt>
    <dgm:pt modelId="{74F090D8-C50E-4A87-8744-381FB130C6B2}" type="pres">
      <dgm:prSet presAssocID="{8561B583-5D42-4087-84B8-EB8793A8B862}" presName="parentLin" presStyleCnt="0"/>
      <dgm:spPr/>
    </dgm:pt>
    <dgm:pt modelId="{2062CAC0-5F52-436B-ADC2-0CFE6AA54601}" type="pres">
      <dgm:prSet presAssocID="{8561B583-5D42-4087-84B8-EB8793A8B862}" presName="parentLeftMargin" presStyleLbl="node1" presStyleIdx="0" presStyleCnt="4"/>
      <dgm:spPr/>
    </dgm:pt>
    <dgm:pt modelId="{D896CA0A-45C5-4222-9957-F492469F0687}" type="pres">
      <dgm:prSet presAssocID="{8561B583-5D42-4087-84B8-EB8793A8B862}" presName="parentText" presStyleLbl="node1" presStyleIdx="1" presStyleCnt="4" custScaleX="108847">
        <dgm:presLayoutVars>
          <dgm:chMax val="0"/>
          <dgm:bulletEnabled val="1"/>
        </dgm:presLayoutVars>
      </dgm:prSet>
      <dgm:spPr/>
    </dgm:pt>
    <dgm:pt modelId="{4A5B862E-6815-4669-96E2-1C715B901CF2}" type="pres">
      <dgm:prSet presAssocID="{8561B583-5D42-4087-84B8-EB8793A8B862}" presName="negativeSpace" presStyleCnt="0"/>
      <dgm:spPr/>
    </dgm:pt>
    <dgm:pt modelId="{91783923-5616-4B12-9A77-DAC22751619B}" type="pres">
      <dgm:prSet presAssocID="{8561B583-5D42-4087-84B8-EB8793A8B862}" presName="childText" presStyleLbl="conFgAcc1" presStyleIdx="1" presStyleCnt="4">
        <dgm:presLayoutVars>
          <dgm:bulletEnabled val="1"/>
        </dgm:presLayoutVars>
      </dgm:prSet>
      <dgm:spPr>
        <a:solidFill>
          <a:schemeClr val="bg1">
            <a:lumMod val="75000"/>
            <a:alpha val="90000"/>
          </a:schemeClr>
        </a:solidFill>
      </dgm:spPr>
    </dgm:pt>
    <dgm:pt modelId="{A412C793-8DF5-4D0D-97F8-FDC43CCC891D}" type="pres">
      <dgm:prSet presAssocID="{CACFC499-137E-4CDB-9F72-AAA1E0AA1FFD}" presName="spaceBetweenRectangles" presStyleCnt="0"/>
      <dgm:spPr/>
    </dgm:pt>
    <dgm:pt modelId="{083313E1-D8CF-4764-989D-C2B6918930EE}" type="pres">
      <dgm:prSet presAssocID="{8D2896AB-34CF-4EC0-8789-CE56C9F60359}" presName="parentLin" presStyleCnt="0"/>
      <dgm:spPr/>
    </dgm:pt>
    <dgm:pt modelId="{80EF5AE3-C80A-48C8-A597-8EB172E2180F}" type="pres">
      <dgm:prSet presAssocID="{8D2896AB-34CF-4EC0-8789-CE56C9F60359}" presName="parentLeftMargin" presStyleLbl="node1" presStyleIdx="1" presStyleCnt="4"/>
      <dgm:spPr/>
    </dgm:pt>
    <dgm:pt modelId="{8908E18E-AB28-446E-BBB1-9039635D544F}" type="pres">
      <dgm:prSet presAssocID="{8D2896AB-34CF-4EC0-8789-CE56C9F60359}" presName="parentText" presStyleLbl="node1" presStyleIdx="2" presStyleCnt="4" custScaleX="108399">
        <dgm:presLayoutVars>
          <dgm:chMax val="0"/>
          <dgm:bulletEnabled val="1"/>
        </dgm:presLayoutVars>
      </dgm:prSet>
      <dgm:spPr/>
    </dgm:pt>
    <dgm:pt modelId="{5B959DB6-324C-4AC4-984E-0B10E99B1FAB}" type="pres">
      <dgm:prSet presAssocID="{8D2896AB-34CF-4EC0-8789-CE56C9F60359}" presName="negativeSpace" presStyleCnt="0"/>
      <dgm:spPr/>
    </dgm:pt>
    <dgm:pt modelId="{CFEFBB13-F478-4100-A8EE-F60531878F9A}" type="pres">
      <dgm:prSet presAssocID="{8D2896AB-34CF-4EC0-8789-CE56C9F60359}" presName="childText" presStyleLbl="conFgAcc1" presStyleIdx="2" presStyleCnt="4">
        <dgm:presLayoutVars>
          <dgm:bulletEnabled val="1"/>
        </dgm:presLayoutVars>
      </dgm:prSet>
      <dgm:spPr>
        <a:solidFill>
          <a:schemeClr val="bg1">
            <a:lumMod val="75000"/>
            <a:alpha val="90000"/>
          </a:schemeClr>
        </a:solidFill>
      </dgm:spPr>
    </dgm:pt>
    <dgm:pt modelId="{5BAB6605-4594-4BE4-AFB4-F37BFAB98B27}" type="pres">
      <dgm:prSet presAssocID="{F46131F2-7A33-4D4F-B783-B51520251DDB}" presName="spaceBetweenRectangles" presStyleCnt="0"/>
      <dgm:spPr/>
    </dgm:pt>
    <dgm:pt modelId="{2DA48101-59C5-4ECC-9A8E-B2978235B6EE}" type="pres">
      <dgm:prSet presAssocID="{B79E2663-20BE-4F55-A890-8A4826EAAD9E}" presName="parentLin" presStyleCnt="0"/>
      <dgm:spPr/>
    </dgm:pt>
    <dgm:pt modelId="{645B830F-1F06-420B-AB48-93EF5EC014BE}" type="pres">
      <dgm:prSet presAssocID="{B79E2663-20BE-4F55-A890-8A4826EAAD9E}" presName="parentLeftMargin" presStyleLbl="node1" presStyleIdx="2" presStyleCnt="4"/>
      <dgm:spPr/>
    </dgm:pt>
    <dgm:pt modelId="{080CFFA0-4986-4403-B37C-F74E69567DFD}" type="pres">
      <dgm:prSet presAssocID="{B79E2663-20BE-4F55-A890-8A4826EAAD9E}" presName="parentText" presStyleLbl="node1" presStyleIdx="3" presStyleCnt="4" custScaleX="108846">
        <dgm:presLayoutVars>
          <dgm:chMax val="0"/>
          <dgm:bulletEnabled val="1"/>
        </dgm:presLayoutVars>
      </dgm:prSet>
      <dgm:spPr/>
    </dgm:pt>
    <dgm:pt modelId="{49363264-99A7-46FA-9B75-287E0CC79CEB}" type="pres">
      <dgm:prSet presAssocID="{B79E2663-20BE-4F55-A890-8A4826EAAD9E}" presName="negativeSpace" presStyleCnt="0"/>
      <dgm:spPr/>
    </dgm:pt>
    <dgm:pt modelId="{D86D5114-AA2B-47EA-8087-74BC58B2C6CD}" type="pres">
      <dgm:prSet presAssocID="{B79E2663-20BE-4F55-A890-8A4826EAAD9E}" presName="childText" presStyleLbl="conFgAcc1" presStyleIdx="3" presStyleCnt="4">
        <dgm:presLayoutVars>
          <dgm:bulletEnabled val="1"/>
        </dgm:presLayoutVars>
      </dgm:prSet>
      <dgm:spPr>
        <a:solidFill>
          <a:schemeClr val="bg1">
            <a:lumMod val="75000"/>
            <a:alpha val="90000"/>
          </a:schemeClr>
        </a:solidFill>
      </dgm:spPr>
    </dgm:pt>
  </dgm:ptLst>
  <dgm:cxnLst>
    <dgm:cxn modelId="{E47CD009-6D48-4D02-9228-22E39F44E588}" type="presOf" srcId="{8561B583-5D42-4087-84B8-EB8793A8B862}" destId="{2062CAC0-5F52-436B-ADC2-0CFE6AA54601}" srcOrd="0" destOrd="0" presId="urn:microsoft.com/office/officeart/2005/8/layout/list1"/>
    <dgm:cxn modelId="{4163AB21-6A65-4D2B-811B-F8E261950ECB}" type="presOf" srcId="{8D2896AB-34CF-4EC0-8789-CE56C9F60359}" destId="{80EF5AE3-C80A-48C8-A597-8EB172E2180F}" srcOrd="0" destOrd="0" presId="urn:microsoft.com/office/officeart/2005/8/layout/list1"/>
    <dgm:cxn modelId="{AF8B253E-975E-4951-9410-05AD845BBE7B}" type="presOf" srcId="{8561B583-5D42-4087-84B8-EB8793A8B862}" destId="{D896CA0A-45C5-4222-9957-F492469F0687}" srcOrd="1" destOrd="0" presId="urn:microsoft.com/office/officeart/2005/8/layout/list1"/>
    <dgm:cxn modelId="{5DA7F668-33A6-4700-893D-B4FE094E2271}" type="presOf" srcId="{B79E2663-20BE-4F55-A890-8A4826EAAD9E}" destId="{080CFFA0-4986-4403-B37C-F74E69567DFD}" srcOrd="1" destOrd="0" presId="urn:microsoft.com/office/officeart/2005/8/layout/list1"/>
    <dgm:cxn modelId="{1981EF83-B1A6-40A0-926A-D288CDFE25C0}" srcId="{8DDAC000-9F00-4BFD-AFE6-2E26F96E78B2}" destId="{8561B583-5D42-4087-84B8-EB8793A8B862}" srcOrd="1" destOrd="0" parTransId="{1B04A62F-D263-44F7-98B7-D260336378A6}" sibTransId="{CACFC499-137E-4CDB-9F72-AAA1E0AA1FFD}"/>
    <dgm:cxn modelId="{0F9A4C87-3978-4FE7-851D-9B43A2CB7D9B}" type="presOf" srcId="{8DDAC000-9F00-4BFD-AFE6-2E26F96E78B2}" destId="{0D027002-28B3-481A-B756-1CD8FC0604A4}" srcOrd="0" destOrd="0" presId="urn:microsoft.com/office/officeart/2005/8/layout/list1"/>
    <dgm:cxn modelId="{7C1CB6A8-4A4D-40EA-B444-5B3ABE3DDA03}" srcId="{8DDAC000-9F00-4BFD-AFE6-2E26F96E78B2}" destId="{7710A6E5-6FE9-4DDE-8B35-222E20F38F01}" srcOrd="0" destOrd="0" parTransId="{59C9A7CB-D18D-45B5-B626-D4581798B287}" sibTransId="{33790114-C367-4700-B0DD-413C65F1F70C}"/>
    <dgm:cxn modelId="{A99BB6BE-BC72-4230-850E-BA92930B6B5B}" srcId="{8DDAC000-9F00-4BFD-AFE6-2E26F96E78B2}" destId="{8D2896AB-34CF-4EC0-8789-CE56C9F60359}" srcOrd="2" destOrd="0" parTransId="{3994BE57-24F3-4D0D-B9CE-977E2F7E6169}" sibTransId="{F46131F2-7A33-4D4F-B783-B51520251DDB}"/>
    <dgm:cxn modelId="{8D2F7FC8-4BD9-40BD-95D4-D3D5821A203B}" type="presOf" srcId="{8D2896AB-34CF-4EC0-8789-CE56C9F60359}" destId="{8908E18E-AB28-446E-BBB1-9039635D544F}" srcOrd="1" destOrd="0" presId="urn:microsoft.com/office/officeart/2005/8/layout/list1"/>
    <dgm:cxn modelId="{240BC6CF-5C19-4E03-9F95-9023671E5248}" type="presOf" srcId="{B79E2663-20BE-4F55-A890-8A4826EAAD9E}" destId="{645B830F-1F06-420B-AB48-93EF5EC014BE}" srcOrd="0" destOrd="0" presId="urn:microsoft.com/office/officeart/2005/8/layout/list1"/>
    <dgm:cxn modelId="{5F5495D0-FF75-4ADE-B35E-ED40AD19FBC0}" type="presOf" srcId="{7710A6E5-6FE9-4DDE-8B35-222E20F38F01}" destId="{498A1CDC-3DBC-40C4-A4E5-7FBDB01ABE8A}" srcOrd="1" destOrd="0" presId="urn:microsoft.com/office/officeart/2005/8/layout/list1"/>
    <dgm:cxn modelId="{D9B5C7E5-EABE-4558-BB25-A15E4DA3B68C}" srcId="{8DDAC000-9F00-4BFD-AFE6-2E26F96E78B2}" destId="{B79E2663-20BE-4F55-A890-8A4826EAAD9E}" srcOrd="3" destOrd="0" parTransId="{19FA0D48-430A-4E3C-B146-94A414A9E38D}" sibTransId="{3D66CC73-874D-4046-919D-576C95831BA8}"/>
    <dgm:cxn modelId="{CDD579E8-E637-42BF-97C7-6A673AB652F9}" type="presOf" srcId="{7710A6E5-6FE9-4DDE-8B35-222E20F38F01}" destId="{BB4C6C85-8362-419E-BE99-66B46B0B5084}" srcOrd="0" destOrd="0" presId="urn:microsoft.com/office/officeart/2005/8/layout/list1"/>
    <dgm:cxn modelId="{3C3E920C-D4A0-4AA6-B7DC-583389CE377F}" type="presParOf" srcId="{0D027002-28B3-481A-B756-1CD8FC0604A4}" destId="{F2799CF6-3038-4DB3-BF85-43F92DAB76EE}" srcOrd="0" destOrd="0" presId="urn:microsoft.com/office/officeart/2005/8/layout/list1"/>
    <dgm:cxn modelId="{2049C4BE-EA35-45CD-B610-FF8532C6DBFC}" type="presParOf" srcId="{F2799CF6-3038-4DB3-BF85-43F92DAB76EE}" destId="{BB4C6C85-8362-419E-BE99-66B46B0B5084}" srcOrd="0" destOrd="0" presId="urn:microsoft.com/office/officeart/2005/8/layout/list1"/>
    <dgm:cxn modelId="{2FFC0930-BEA6-4922-8A80-A93D49ACE49B}" type="presParOf" srcId="{F2799CF6-3038-4DB3-BF85-43F92DAB76EE}" destId="{498A1CDC-3DBC-40C4-A4E5-7FBDB01ABE8A}" srcOrd="1" destOrd="0" presId="urn:microsoft.com/office/officeart/2005/8/layout/list1"/>
    <dgm:cxn modelId="{64A42013-A150-458F-9E96-5DBC275EB44A}" type="presParOf" srcId="{0D027002-28B3-481A-B756-1CD8FC0604A4}" destId="{21DEEE87-2B5B-4E73-947F-632FFC157DCF}" srcOrd="1" destOrd="0" presId="urn:microsoft.com/office/officeart/2005/8/layout/list1"/>
    <dgm:cxn modelId="{0BDF4851-18D7-4213-AFAA-E8F04B11596B}" type="presParOf" srcId="{0D027002-28B3-481A-B756-1CD8FC0604A4}" destId="{BA4A11F4-62BB-481C-8236-0921DFB1C018}" srcOrd="2" destOrd="0" presId="urn:microsoft.com/office/officeart/2005/8/layout/list1"/>
    <dgm:cxn modelId="{0FC8D88F-981A-4549-B9B3-A77E4374C2E1}" type="presParOf" srcId="{0D027002-28B3-481A-B756-1CD8FC0604A4}" destId="{86F7E5B2-E569-4CD1-B6ED-EE5AF954A8E0}" srcOrd="3" destOrd="0" presId="urn:microsoft.com/office/officeart/2005/8/layout/list1"/>
    <dgm:cxn modelId="{42CAFC91-01F9-412A-80E0-EDCAD5E4B981}" type="presParOf" srcId="{0D027002-28B3-481A-B756-1CD8FC0604A4}" destId="{74F090D8-C50E-4A87-8744-381FB130C6B2}" srcOrd="4" destOrd="0" presId="urn:microsoft.com/office/officeart/2005/8/layout/list1"/>
    <dgm:cxn modelId="{D7A06589-289B-41E1-B67D-B07230AF2080}" type="presParOf" srcId="{74F090D8-C50E-4A87-8744-381FB130C6B2}" destId="{2062CAC0-5F52-436B-ADC2-0CFE6AA54601}" srcOrd="0" destOrd="0" presId="urn:microsoft.com/office/officeart/2005/8/layout/list1"/>
    <dgm:cxn modelId="{61E5ED73-1F2D-44E1-8D0D-84BE568460CE}" type="presParOf" srcId="{74F090D8-C50E-4A87-8744-381FB130C6B2}" destId="{D896CA0A-45C5-4222-9957-F492469F0687}" srcOrd="1" destOrd="0" presId="urn:microsoft.com/office/officeart/2005/8/layout/list1"/>
    <dgm:cxn modelId="{D52C4938-5BEE-4CA2-B8A1-10F7A08B55DF}" type="presParOf" srcId="{0D027002-28B3-481A-B756-1CD8FC0604A4}" destId="{4A5B862E-6815-4669-96E2-1C715B901CF2}" srcOrd="5" destOrd="0" presId="urn:microsoft.com/office/officeart/2005/8/layout/list1"/>
    <dgm:cxn modelId="{26BDA7DE-5625-4486-BDF5-749E107986D0}" type="presParOf" srcId="{0D027002-28B3-481A-B756-1CD8FC0604A4}" destId="{91783923-5616-4B12-9A77-DAC22751619B}" srcOrd="6" destOrd="0" presId="urn:microsoft.com/office/officeart/2005/8/layout/list1"/>
    <dgm:cxn modelId="{D12CE70A-0DBD-4290-A8C4-C22248433D80}" type="presParOf" srcId="{0D027002-28B3-481A-B756-1CD8FC0604A4}" destId="{A412C793-8DF5-4D0D-97F8-FDC43CCC891D}" srcOrd="7" destOrd="0" presId="urn:microsoft.com/office/officeart/2005/8/layout/list1"/>
    <dgm:cxn modelId="{46811CCE-C71C-4E6D-92C3-D144518C074D}" type="presParOf" srcId="{0D027002-28B3-481A-B756-1CD8FC0604A4}" destId="{083313E1-D8CF-4764-989D-C2B6918930EE}" srcOrd="8" destOrd="0" presId="urn:microsoft.com/office/officeart/2005/8/layout/list1"/>
    <dgm:cxn modelId="{CB879052-3EF6-4C5A-A314-9FA9CD33F926}" type="presParOf" srcId="{083313E1-D8CF-4764-989D-C2B6918930EE}" destId="{80EF5AE3-C80A-48C8-A597-8EB172E2180F}" srcOrd="0" destOrd="0" presId="urn:microsoft.com/office/officeart/2005/8/layout/list1"/>
    <dgm:cxn modelId="{32B45F09-7050-4BE0-8F56-8087B1077E99}" type="presParOf" srcId="{083313E1-D8CF-4764-989D-C2B6918930EE}" destId="{8908E18E-AB28-446E-BBB1-9039635D544F}" srcOrd="1" destOrd="0" presId="urn:microsoft.com/office/officeart/2005/8/layout/list1"/>
    <dgm:cxn modelId="{2B9597EB-854B-4849-A4BE-F61F949B4A40}" type="presParOf" srcId="{0D027002-28B3-481A-B756-1CD8FC0604A4}" destId="{5B959DB6-324C-4AC4-984E-0B10E99B1FAB}" srcOrd="9" destOrd="0" presId="urn:microsoft.com/office/officeart/2005/8/layout/list1"/>
    <dgm:cxn modelId="{8CD88411-8829-405C-A6D1-CD1DD4910F2D}" type="presParOf" srcId="{0D027002-28B3-481A-B756-1CD8FC0604A4}" destId="{CFEFBB13-F478-4100-A8EE-F60531878F9A}" srcOrd="10" destOrd="0" presId="urn:microsoft.com/office/officeart/2005/8/layout/list1"/>
    <dgm:cxn modelId="{96A2E20E-31ED-4087-968A-2D46B975CA0A}" type="presParOf" srcId="{0D027002-28B3-481A-B756-1CD8FC0604A4}" destId="{5BAB6605-4594-4BE4-AFB4-F37BFAB98B27}" srcOrd="11" destOrd="0" presId="urn:microsoft.com/office/officeart/2005/8/layout/list1"/>
    <dgm:cxn modelId="{4246052D-2AFA-4846-87B2-A7E2FE3D5A4D}" type="presParOf" srcId="{0D027002-28B3-481A-B756-1CD8FC0604A4}" destId="{2DA48101-59C5-4ECC-9A8E-B2978235B6EE}" srcOrd="12" destOrd="0" presId="urn:microsoft.com/office/officeart/2005/8/layout/list1"/>
    <dgm:cxn modelId="{BA889903-7487-496E-B702-C987C44865A7}" type="presParOf" srcId="{2DA48101-59C5-4ECC-9A8E-B2978235B6EE}" destId="{645B830F-1F06-420B-AB48-93EF5EC014BE}" srcOrd="0" destOrd="0" presId="urn:microsoft.com/office/officeart/2005/8/layout/list1"/>
    <dgm:cxn modelId="{6AE3DB27-ECE1-4ADA-B47F-7E0186EF2DC1}" type="presParOf" srcId="{2DA48101-59C5-4ECC-9A8E-B2978235B6EE}" destId="{080CFFA0-4986-4403-B37C-F74E69567DFD}" srcOrd="1" destOrd="0" presId="urn:microsoft.com/office/officeart/2005/8/layout/list1"/>
    <dgm:cxn modelId="{2ADFF12C-5494-4231-8769-E08F1F633B9F}" type="presParOf" srcId="{0D027002-28B3-481A-B756-1CD8FC0604A4}" destId="{49363264-99A7-46FA-9B75-287E0CC79CEB}" srcOrd="13" destOrd="0" presId="urn:microsoft.com/office/officeart/2005/8/layout/list1"/>
    <dgm:cxn modelId="{0931DA8C-3AE7-42AD-8355-36A33B966658}" type="presParOf" srcId="{0D027002-28B3-481A-B756-1CD8FC0604A4}" destId="{D86D5114-AA2B-47EA-8087-74BC58B2C6CD}"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CE1EB72-9911-48EE-8510-8E4B09AFD166}" type="doc">
      <dgm:prSet loTypeId="urn:microsoft.com/office/officeart/2018/2/layout/IconVerticalSolidList" loCatId="icon" qsTypeId="urn:microsoft.com/office/officeart/2005/8/quickstyle/simple1" qsCatId="simple" csTypeId="urn:microsoft.com/office/officeart/2005/8/colors/colorful2" csCatId="colorful" phldr="1"/>
      <dgm:spPr/>
      <dgm:t>
        <a:bodyPr/>
        <a:lstStyle/>
        <a:p>
          <a:endParaRPr lang="en-US"/>
        </a:p>
      </dgm:t>
    </dgm:pt>
    <dgm:pt modelId="{95911464-E9B9-4CB4-86E6-9C030FE4915C}">
      <dgm:prSet/>
      <dgm:spPr/>
      <dgm:t>
        <a:bodyPr/>
        <a:lstStyle/>
        <a:p>
          <a:pPr>
            <a:lnSpc>
              <a:spcPct val="100000"/>
            </a:lnSpc>
          </a:pPr>
          <a:r>
            <a:rPr lang="en-US" dirty="0">
              <a:latin typeface="Arial" panose="020B0604020202020204" pitchFamily="34" charset="0"/>
              <a:cs typeface="Arial" panose="020B0604020202020204" pitchFamily="34" charset="0"/>
            </a:rPr>
            <a:t>Primary objective of this study is to assess the impact and contribution of the informal economy on economic growth within South Africa's labor market</a:t>
          </a:r>
        </a:p>
      </dgm:t>
    </dgm:pt>
    <dgm:pt modelId="{CCADEC84-FCC8-4895-ABBE-CEB8BD33B93D}" type="parTrans" cxnId="{3EBF3A14-E5E3-4429-8E99-4882FB65E766}">
      <dgm:prSet/>
      <dgm:spPr/>
      <dgm:t>
        <a:bodyPr/>
        <a:lstStyle/>
        <a:p>
          <a:endParaRPr lang="en-US"/>
        </a:p>
      </dgm:t>
    </dgm:pt>
    <dgm:pt modelId="{A97D35FF-7E0C-4CD4-AB49-28E840C43F47}" type="sibTrans" cxnId="{3EBF3A14-E5E3-4429-8E99-4882FB65E766}">
      <dgm:prSet/>
      <dgm:spPr/>
      <dgm:t>
        <a:bodyPr/>
        <a:lstStyle/>
        <a:p>
          <a:endParaRPr lang="en-US"/>
        </a:p>
      </dgm:t>
    </dgm:pt>
    <dgm:pt modelId="{63174AFF-9BD8-4DF4-8B89-88663EEBF95F}">
      <dgm:prSet/>
      <dgm:spPr/>
      <dgm:t>
        <a:bodyPr/>
        <a:lstStyle/>
        <a:p>
          <a:pPr rtl="0">
            <a:lnSpc>
              <a:spcPct val="100000"/>
            </a:lnSpc>
          </a:pPr>
          <a:r>
            <a:rPr lang="en-US" dirty="0">
              <a:solidFill>
                <a:srgbClr val="000000"/>
              </a:solidFill>
              <a:latin typeface="Arial"/>
              <a:cs typeface="Arial"/>
            </a:rPr>
            <a:t>To analyze demographic and geographic factors affecting informal sector participation and
to identify the role of the informal economy in job creation for labours and poverty reduction</a:t>
          </a:r>
          <a:endParaRPr lang="en-US" dirty="0"/>
        </a:p>
      </dgm:t>
    </dgm:pt>
    <dgm:pt modelId="{ED2A727C-7718-4481-889B-069EC3A9C5E8}" type="sibTrans" cxnId="{9B754A65-F8BF-45BD-B17B-C0DF6B4001DE}">
      <dgm:prSet/>
      <dgm:spPr/>
      <dgm:t>
        <a:bodyPr/>
        <a:lstStyle/>
        <a:p>
          <a:endParaRPr lang="en-US"/>
        </a:p>
      </dgm:t>
    </dgm:pt>
    <dgm:pt modelId="{E8656F5D-FA65-4A78-9B2E-C324F1B9F17A}" type="parTrans" cxnId="{9B754A65-F8BF-45BD-B17B-C0DF6B4001DE}">
      <dgm:prSet/>
      <dgm:spPr/>
      <dgm:t>
        <a:bodyPr/>
        <a:lstStyle/>
        <a:p>
          <a:endParaRPr lang="en-US"/>
        </a:p>
      </dgm:t>
    </dgm:pt>
    <dgm:pt modelId="{B49061D5-2852-47A1-89FD-19B703ADD1F5}" type="pres">
      <dgm:prSet presAssocID="{7CE1EB72-9911-48EE-8510-8E4B09AFD166}" presName="root" presStyleCnt="0">
        <dgm:presLayoutVars>
          <dgm:dir/>
          <dgm:resizeHandles val="exact"/>
        </dgm:presLayoutVars>
      </dgm:prSet>
      <dgm:spPr/>
    </dgm:pt>
    <dgm:pt modelId="{92884687-FD29-46D9-B5BB-2FF375E1F7B3}" type="pres">
      <dgm:prSet presAssocID="{95911464-E9B9-4CB4-86E6-9C030FE4915C}" presName="compNode" presStyleCnt="0"/>
      <dgm:spPr/>
    </dgm:pt>
    <dgm:pt modelId="{CC3C9D68-8DB7-47DF-992F-52F70C525BFC}" type="pres">
      <dgm:prSet presAssocID="{95911464-E9B9-4CB4-86E6-9C030FE4915C}" presName="bgRect" presStyleLbl="bgShp" presStyleIdx="0" presStyleCnt="2" custScaleY="82793" custLinFactNeighborY="-20852"/>
      <dgm:spPr/>
    </dgm:pt>
    <dgm:pt modelId="{952ABDF0-5AB0-48A4-B5B1-B0509516249D}" type="pres">
      <dgm:prSet presAssocID="{95911464-E9B9-4CB4-86E6-9C030FE4915C}" presName="iconRect" presStyleLbl="node1" presStyleIdx="0" presStyleCnt="2" custLinFactNeighborX="-22182" custLinFactNeighborY="-34122"/>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icroscope"/>
        </a:ext>
      </dgm:extLst>
    </dgm:pt>
    <dgm:pt modelId="{9D49DDD4-788C-4C2F-8230-96EDE165EFEA}" type="pres">
      <dgm:prSet presAssocID="{95911464-E9B9-4CB4-86E6-9C030FE4915C}" presName="spaceRect" presStyleCnt="0"/>
      <dgm:spPr/>
    </dgm:pt>
    <dgm:pt modelId="{048268E3-2643-4945-A9EB-2611C263CEB7}" type="pres">
      <dgm:prSet presAssocID="{95911464-E9B9-4CB4-86E6-9C030FE4915C}" presName="parTx" presStyleLbl="revTx" presStyleIdx="0" presStyleCnt="2" custLinFactNeighborX="-3409" custLinFactNeighborY="-25937">
        <dgm:presLayoutVars>
          <dgm:chMax val="0"/>
          <dgm:chPref val="0"/>
        </dgm:presLayoutVars>
      </dgm:prSet>
      <dgm:spPr/>
    </dgm:pt>
    <dgm:pt modelId="{1F519017-6094-4025-ADCE-900500CE35EC}" type="pres">
      <dgm:prSet presAssocID="{A97D35FF-7E0C-4CD4-AB49-28E840C43F47}" presName="sibTrans" presStyleCnt="0"/>
      <dgm:spPr/>
    </dgm:pt>
    <dgm:pt modelId="{9110C41D-53E7-415C-B076-6B4B32BCF8EA}" type="pres">
      <dgm:prSet presAssocID="{63174AFF-9BD8-4DF4-8B89-88663EEBF95F}" presName="compNode" presStyleCnt="0"/>
      <dgm:spPr/>
    </dgm:pt>
    <dgm:pt modelId="{BE9A2C64-7D92-4339-A990-78C4D4D728BF}" type="pres">
      <dgm:prSet presAssocID="{63174AFF-9BD8-4DF4-8B89-88663EEBF95F}" presName="bgRect" presStyleLbl="bgShp" presStyleIdx="1" presStyleCnt="2" custScaleY="89542" custLinFactNeighborY="-6502"/>
      <dgm:spPr/>
    </dgm:pt>
    <dgm:pt modelId="{4EAF663E-18DA-49B1-9BA1-C7F8E30B3C1A}" type="pres">
      <dgm:prSet presAssocID="{63174AFF-9BD8-4DF4-8B89-88663EEBF95F}" presName="iconRect" presStyleLbl="node1" presStyleIdx="1" presStyleCnt="2" custLinFactNeighborX="-22182" custLinFactNeighborY="-18175"/>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eb Design"/>
        </a:ext>
      </dgm:extLst>
    </dgm:pt>
    <dgm:pt modelId="{2F953A0B-BC42-43BC-A812-896F5F2AD912}" type="pres">
      <dgm:prSet presAssocID="{63174AFF-9BD8-4DF4-8B89-88663EEBF95F}" presName="spaceRect" presStyleCnt="0"/>
      <dgm:spPr/>
    </dgm:pt>
    <dgm:pt modelId="{ECD10B77-6C58-46F0-A54E-4D343DA2AEBE}" type="pres">
      <dgm:prSet presAssocID="{63174AFF-9BD8-4DF4-8B89-88663EEBF95F}" presName="parTx" presStyleLbl="revTx" presStyleIdx="1" presStyleCnt="2" custScaleX="104391" custLinFactNeighborX="-2386" custLinFactNeighborY="-11268">
        <dgm:presLayoutVars>
          <dgm:chMax val="0"/>
          <dgm:chPref val="0"/>
        </dgm:presLayoutVars>
      </dgm:prSet>
      <dgm:spPr/>
    </dgm:pt>
  </dgm:ptLst>
  <dgm:cxnLst>
    <dgm:cxn modelId="{3EBF3A14-E5E3-4429-8E99-4882FB65E766}" srcId="{7CE1EB72-9911-48EE-8510-8E4B09AFD166}" destId="{95911464-E9B9-4CB4-86E6-9C030FE4915C}" srcOrd="0" destOrd="0" parTransId="{CCADEC84-FCC8-4895-ABBE-CEB8BD33B93D}" sibTransId="{A97D35FF-7E0C-4CD4-AB49-28E840C43F47}"/>
    <dgm:cxn modelId="{88B6A914-495B-4D17-A9E1-2E7CEFD73880}" type="presOf" srcId="{63174AFF-9BD8-4DF4-8B89-88663EEBF95F}" destId="{ECD10B77-6C58-46F0-A54E-4D343DA2AEBE}" srcOrd="0" destOrd="0" presId="urn:microsoft.com/office/officeart/2018/2/layout/IconVerticalSolidList"/>
    <dgm:cxn modelId="{08E38F1C-926A-484F-B237-A97938888181}" type="presOf" srcId="{95911464-E9B9-4CB4-86E6-9C030FE4915C}" destId="{048268E3-2643-4945-A9EB-2611C263CEB7}" srcOrd="0" destOrd="0" presId="urn:microsoft.com/office/officeart/2018/2/layout/IconVerticalSolidList"/>
    <dgm:cxn modelId="{9B754A65-F8BF-45BD-B17B-C0DF6B4001DE}" srcId="{7CE1EB72-9911-48EE-8510-8E4B09AFD166}" destId="{63174AFF-9BD8-4DF4-8B89-88663EEBF95F}" srcOrd="1" destOrd="0" parTransId="{E8656F5D-FA65-4A78-9B2E-C324F1B9F17A}" sibTransId="{ED2A727C-7718-4481-889B-069EC3A9C5E8}"/>
    <dgm:cxn modelId="{A4334C67-C569-443F-90A5-06C0C23C71A1}" type="presOf" srcId="{7CE1EB72-9911-48EE-8510-8E4B09AFD166}" destId="{B49061D5-2852-47A1-89FD-19B703ADD1F5}" srcOrd="0" destOrd="0" presId="urn:microsoft.com/office/officeart/2018/2/layout/IconVerticalSolidList"/>
    <dgm:cxn modelId="{2A32C81E-33F1-46D8-AC25-425507C51B2F}" type="presParOf" srcId="{B49061D5-2852-47A1-89FD-19B703ADD1F5}" destId="{92884687-FD29-46D9-B5BB-2FF375E1F7B3}" srcOrd="0" destOrd="0" presId="urn:microsoft.com/office/officeart/2018/2/layout/IconVerticalSolidList"/>
    <dgm:cxn modelId="{9B5EAB81-19BB-4C0E-B69A-F868D3CC6A87}" type="presParOf" srcId="{92884687-FD29-46D9-B5BB-2FF375E1F7B3}" destId="{CC3C9D68-8DB7-47DF-992F-52F70C525BFC}" srcOrd="0" destOrd="0" presId="urn:microsoft.com/office/officeart/2018/2/layout/IconVerticalSolidList"/>
    <dgm:cxn modelId="{9BBE6E3D-00F6-435A-AE99-10CDB1112CD7}" type="presParOf" srcId="{92884687-FD29-46D9-B5BB-2FF375E1F7B3}" destId="{952ABDF0-5AB0-48A4-B5B1-B0509516249D}" srcOrd="1" destOrd="0" presId="urn:microsoft.com/office/officeart/2018/2/layout/IconVerticalSolidList"/>
    <dgm:cxn modelId="{E6783BAE-EE00-4F5D-BBC9-BBD8BAA4529F}" type="presParOf" srcId="{92884687-FD29-46D9-B5BB-2FF375E1F7B3}" destId="{9D49DDD4-788C-4C2F-8230-96EDE165EFEA}" srcOrd="2" destOrd="0" presId="urn:microsoft.com/office/officeart/2018/2/layout/IconVerticalSolidList"/>
    <dgm:cxn modelId="{A450D911-72DB-47FC-8497-0A084FEDFE2B}" type="presParOf" srcId="{92884687-FD29-46D9-B5BB-2FF375E1F7B3}" destId="{048268E3-2643-4945-A9EB-2611C263CEB7}" srcOrd="3" destOrd="0" presId="urn:microsoft.com/office/officeart/2018/2/layout/IconVerticalSolidList"/>
    <dgm:cxn modelId="{D9FAB6A3-07D4-4A3A-BFF1-3F1747F36EBF}" type="presParOf" srcId="{B49061D5-2852-47A1-89FD-19B703ADD1F5}" destId="{1F519017-6094-4025-ADCE-900500CE35EC}" srcOrd="1" destOrd="0" presId="urn:microsoft.com/office/officeart/2018/2/layout/IconVerticalSolidList"/>
    <dgm:cxn modelId="{60B31EC9-D558-4891-B172-34213C840122}" type="presParOf" srcId="{B49061D5-2852-47A1-89FD-19B703ADD1F5}" destId="{9110C41D-53E7-415C-B076-6B4B32BCF8EA}" srcOrd="2" destOrd="0" presId="urn:microsoft.com/office/officeart/2018/2/layout/IconVerticalSolidList"/>
    <dgm:cxn modelId="{54C158DB-CD5A-4025-ABD4-C97779585022}" type="presParOf" srcId="{9110C41D-53E7-415C-B076-6B4B32BCF8EA}" destId="{BE9A2C64-7D92-4339-A990-78C4D4D728BF}" srcOrd="0" destOrd="0" presId="urn:microsoft.com/office/officeart/2018/2/layout/IconVerticalSolidList"/>
    <dgm:cxn modelId="{FFE5C498-5CF8-467E-9B47-F42C3BEC3B55}" type="presParOf" srcId="{9110C41D-53E7-415C-B076-6B4B32BCF8EA}" destId="{4EAF663E-18DA-49B1-9BA1-C7F8E30B3C1A}" srcOrd="1" destOrd="0" presId="urn:microsoft.com/office/officeart/2018/2/layout/IconVerticalSolidList"/>
    <dgm:cxn modelId="{B0A2050F-0360-4611-BD8E-2BB109861198}" type="presParOf" srcId="{9110C41D-53E7-415C-B076-6B4B32BCF8EA}" destId="{2F953A0B-BC42-43BC-A812-896F5F2AD912}" srcOrd="2" destOrd="0" presId="urn:microsoft.com/office/officeart/2018/2/layout/IconVerticalSolidList"/>
    <dgm:cxn modelId="{40CBA8E9-1E21-4E6C-892D-2F6C55A12F3D}" type="presParOf" srcId="{9110C41D-53E7-415C-B076-6B4B32BCF8EA}" destId="{ECD10B77-6C58-46F0-A54E-4D343DA2AEB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470E1FB-B757-4EC5-8209-F49EEA28AB10}"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447477F9-D221-4204-82E6-EC472D605AFE}">
      <dgm:prSet/>
      <dgm:spPr/>
      <dgm:t>
        <a:bodyPr/>
        <a:lstStyle/>
        <a:p>
          <a:r>
            <a:rPr lang="en-US" b="1" dirty="0"/>
            <a:t>Data source</a:t>
          </a:r>
          <a:endParaRPr lang="en-US" dirty="0"/>
        </a:p>
      </dgm:t>
    </dgm:pt>
    <dgm:pt modelId="{7F9D80F6-4A32-4C7C-AE6E-11B80605A6A7}" type="parTrans" cxnId="{5FC3D33F-09A5-4F73-9D8C-9A5105296221}">
      <dgm:prSet/>
      <dgm:spPr/>
      <dgm:t>
        <a:bodyPr/>
        <a:lstStyle/>
        <a:p>
          <a:endParaRPr lang="en-US"/>
        </a:p>
      </dgm:t>
    </dgm:pt>
    <dgm:pt modelId="{595CEC49-6E8C-40ED-95A6-6C9EF1DBB96D}" type="sibTrans" cxnId="{5FC3D33F-09A5-4F73-9D8C-9A5105296221}">
      <dgm:prSet/>
      <dgm:spPr/>
      <dgm:t>
        <a:bodyPr/>
        <a:lstStyle/>
        <a:p>
          <a:endParaRPr lang="en-US"/>
        </a:p>
      </dgm:t>
    </dgm:pt>
    <dgm:pt modelId="{9A188994-E9DB-4ED5-AFE6-2946E4E59D3C}">
      <dgm:prSet custT="1"/>
      <dgm:spPr/>
      <dgm:t>
        <a:bodyPr/>
        <a:lstStyle/>
        <a:p>
          <a:r>
            <a:rPr lang="en-US" sz="1600" dirty="0"/>
            <a:t>This research will look at secondary real-world dataset of QLFS, dataset was found from StatsSA (Quarterly Labor Force Survey) of Q4:2023. This survey present sample size of approximately 30,000 households.</a:t>
          </a:r>
        </a:p>
      </dgm:t>
    </dgm:pt>
    <dgm:pt modelId="{0A8A28DF-219F-403C-84E3-A06BAFBD1901}" type="parTrans" cxnId="{1600DB1A-DEE1-40BE-AADB-425759581CCF}">
      <dgm:prSet/>
      <dgm:spPr/>
      <dgm:t>
        <a:bodyPr/>
        <a:lstStyle/>
        <a:p>
          <a:endParaRPr lang="en-US"/>
        </a:p>
      </dgm:t>
    </dgm:pt>
    <dgm:pt modelId="{9348D121-C0C6-4F00-A5AD-6760D26E1BA1}" type="sibTrans" cxnId="{1600DB1A-DEE1-40BE-AADB-425759581CCF}">
      <dgm:prSet/>
      <dgm:spPr/>
      <dgm:t>
        <a:bodyPr/>
        <a:lstStyle/>
        <a:p>
          <a:endParaRPr lang="en-US"/>
        </a:p>
      </dgm:t>
    </dgm:pt>
    <dgm:pt modelId="{C6CFB486-B8A4-457B-B19D-9C7857ADA04B}">
      <dgm:prSet/>
      <dgm:spPr/>
      <dgm:t>
        <a:bodyPr/>
        <a:lstStyle/>
        <a:p>
          <a:r>
            <a:rPr lang="en-GB" b="1" dirty="0"/>
            <a:t>Research Design:</a:t>
          </a:r>
          <a:endParaRPr lang="en-US" dirty="0"/>
        </a:p>
      </dgm:t>
    </dgm:pt>
    <dgm:pt modelId="{9FFFE358-2350-4659-9C2B-C9F6E829E15D}" type="parTrans" cxnId="{B100A686-82EE-4115-9CA4-1B4EB8399641}">
      <dgm:prSet/>
      <dgm:spPr/>
      <dgm:t>
        <a:bodyPr/>
        <a:lstStyle/>
        <a:p>
          <a:endParaRPr lang="en-US"/>
        </a:p>
      </dgm:t>
    </dgm:pt>
    <dgm:pt modelId="{2365892C-5200-47CC-B893-F21C12091D76}" type="sibTrans" cxnId="{B100A686-82EE-4115-9CA4-1B4EB8399641}">
      <dgm:prSet/>
      <dgm:spPr/>
      <dgm:t>
        <a:bodyPr/>
        <a:lstStyle/>
        <a:p>
          <a:endParaRPr lang="en-US"/>
        </a:p>
      </dgm:t>
    </dgm:pt>
    <dgm:pt modelId="{089E9595-FBE3-4C43-9733-E1A66CA43714}">
      <dgm:prSet custT="1"/>
      <dgm:spPr/>
      <dgm:t>
        <a:bodyPr/>
        <a:lstStyle/>
        <a:p>
          <a:r>
            <a:rPr lang="en-GB" sz="1700" dirty="0"/>
            <a:t>This study propose to use a quantitative method for statistical analysis. The target population of this research is Western Cape, Gauteng, KwaZulu Natal province of informal businesses.</a:t>
          </a:r>
          <a:endParaRPr lang="en-US" sz="1700" dirty="0"/>
        </a:p>
      </dgm:t>
    </dgm:pt>
    <dgm:pt modelId="{AA69A4EB-02B5-42FF-88C3-B3D7EFD2FEAF}" type="parTrans" cxnId="{35316AB9-E2D9-4238-9E58-F9308B944695}">
      <dgm:prSet/>
      <dgm:spPr/>
      <dgm:t>
        <a:bodyPr/>
        <a:lstStyle/>
        <a:p>
          <a:endParaRPr lang="en-US"/>
        </a:p>
      </dgm:t>
    </dgm:pt>
    <dgm:pt modelId="{3DAD57E8-099B-4582-B66A-C5F01411DD56}" type="sibTrans" cxnId="{35316AB9-E2D9-4238-9E58-F9308B944695}">
      <dgm:prSet/>
      <dgm:spPr/>
      <dgm:t>
        <a:bodyPr/>
        <a:lstStyle/>
        <a:p>
          <a:endParaRPr lang="en-US"/>
        </a:p>
      </dgm:t>
    </dgm:pt>
    <dgm:pt modelId="{832BA9C0-A966-48CC-8F03-562B3EF60EAE}" type="pres">
      <dgm:prSet presAssocID="{1470E1FB-B757-4EC5-8209-F49EEA28AB10}" presName="root" presStyleCnt="0">
        <dgm:presLayoutVars>
          <dgm:dir/>
          <dgm:resizeHandles val="exact"/>
        </dgm:presLayoutVars>
      </dgm:prSet>
      <dgm:spPr/>
    </dgm:pt>
    <dgm:pt modelId="{6F0F7BDE-0E74-453C-94D6-0074A8B65923}" type="pres">
      <dgm:prSet presAssocID="{447477F9-D221-4204-82E6-EC472D605AFE}" presName="compNode" presStyleCnt="0"/>
      <dgm:spPr/>
    </dgm:pt>
    <dgm:pt modelId="{B36AE5AB-0C98-4EA6-920F-FC455E4AFA0E}" type="pres">
      <dgm:prSet presAssocID="{447477F9-D221-4204-82E6-EC472D605AFE}" presName="bgRect" presStyleLbl="bgShp" presStyleIdx="0" presStyleCnt="4" custScaleY="45399"/>
      <dgm:spPr/>
    </dgm:pt>
    <dgm:pt modelId="{494FF6D9-36A2-457D-9E5E-8A9A102AEE34}" type="pres">
      <dgm:prSet presAssocID="{447477F9-D221-4204-82E6-EC472D605AF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9E398D59-F942-412E-91BE-D0856D804D37}" type="pres">
      <dgm:prSet presAssocID="{447477F9-D221-4204-82E6-EC472D605AFE}" presName="spaceRect" presStyleCnt="0"/>
      <dgm:spPr/>
    </dgm:pt>
    <dgm:pt modelId="{A54F5783-C392-4AFD-856E-E6AF906BFFC8}" type="pres">
      <dgm:prSet presAssocID="{447477F9-D221-4204-82E6-EC472D605AFE}" presName="parTx" presStyleLbl="revTx" presStyleIdx="0" presStyleCnt="4">
        <dgm:presLayoutVars>
          <dgm:chMax val="0"/>
          <dgm:chPref val="0"/>
        </dgm:presLayoutVars>
      </dgm:prSet>
      <dgm:spPr/>
    </dgm:pt>
    <dgm:pt modelId="{13C49CD4-C4BF-42BA-B19B-6960172FA72D}" type="pres">
      <dgm:prSet presAssocID="{595CEC49-6E8C-40ED-95A6-6C9EF1DBB96D}" presName="sibTrans" presStyleCnt="0"/>
      <dgm:spPr/>
    </dgm:pt>
    <dgm:pt modelId="{B999A0CE-2721-48D0-BA8A-999BEA22EA48}" type="pres">
      <dgm:prSet presAssocID="{9A188994-E9DB-4ED5-AFE6-2946E4E59D3C}" presName="compNode" presStyleCnt="0"/>
      <dgm:spPr/>
    </dgm:pt>
    <dgm:pt modelId="{779F5025-0127-45B0-BB3E-40F47BA231C5}" type="pres">
      <dgm:prSet presAssocID="{9A188994-E9DB-4ED5-AFE6-2946E4E59D3C}" presName="bgRect" presStyleLbl="bgShp" presStyleIdx="1" presStyleCnt="4" custScaleY="181141"/>
      <dgm:spPr/>
    </dgm:pt>
    <dgm:pt modelId="{10603C03-B927-4DF0-9720-AE57F593E915}" type="pres">
      <dgm:prSet presAssocID="{9A188994-E9DB-4ED5-AFE6-2946E4E59D3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B270B788-0AA9-4655-9DAA-E91650B2D9B6}" type="pres">
      <dgm:prSet presAssocID="{9A188994-E9DB-4ED5-AFE6-2946E4E59D3C}" presName="spaceRect" presStyleCnt="0"/>
      <dgm:spPr/>
    </dgm:pt>
    <dgm:pt modelId="{E8B502FF-BA00-4321-8444-1EA43D6FED13}" type="pres">
      <dgm:prSet presAssocID="{9A188994-E9DB-4ED5-AFE6-2946E4E59D3C}" presName="parTx" presStyleLbl="revTx" presStyleIdx="1" presStyleCnt="4" custScaleY="141714">
        <dgm:presLayoutVars>
          <dgm:chMax val="0"/>
          <dgm:chPref val="0"/>
        </dgm:presLayoutVars>
      </dgm:prSet>
      <dgm:spPr/>
    </dgm:pt>
    <dgm:pt modelId="{ED8B65C0-55C1-46B4-8049-39724C67E246}" type="pres">
      <dgm:prSet presAssocID="{9348D121-C0C6-4F00-A5AD-6760D26E1BA1}" presName="sibTrans" presStyleCnt="0"/>
      <dgm:spPr/>
    </dgm:pt>
    <dgm:pt modelId="{3E01B995-F18E-4E99-B04D-633374A2F2CB}" type="pres">
      <dgm:prSet presAssocID="{C6CFB486-B8A4-457B-B19D-9C7857ADA04B}" presName="compNode" presStyleCnt="0"/>
      <dgm:spPr/>
    </dgm:pt>
    <dgm:pt modelId="{40CDAC5D-2F4E-44EB-BD7C-CE2672709A54}" type="pres">
      <dgm:prSet presAssocID="{C6CFB486-B8A4-457B-B19D-9C7857ADA04B}" presName="bgRect" presStyleLbl="bgShp" presStyleIdx="2" presStyleCnt="4" custScaleY="54455"/>
      <dgm:spPr/>
    </dgm:pt>
    <dgm:pt modelId="{04790BCC-487D-44B7-988A-69706A4DEFEA}" type="pres">
      <dgm:prSet presAssocID="{C6CFB486-B8A4-457B-B19D-9C7857ADA04B}" presName="iconRect" presStyleLbl="node1" presStyleIdx="2" presStyleCnt="4" custLinFactNeighborX="-78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icroscope"/>
        </a:ext>
      </dgm:extLst>
    </dgm:pt>
    <dgm:pt modelId="{68FD52A6-FFF9-4D5D-A0EE-335FDFEDCBD0}" type="pres">
      <dgm:prSet presAssocID="{C6CFB486-B8A4-457B-B19D-9C7857ADA04B}" presName="spaceRect" presStyleCnt="0"/>
      <dgm:spPr/>
    </dgm:pt>
    <dgm:pt modelId="{400856E5-EC2D-49A7-A192-F7425026DAE6}" type="pres">
      <dgm:prSet presAssocID="{C6CFB486-B8A4-457B-B19D-9C7857ADA04B}" presName="parTx" presStyleLbl="revTx" presStyleIdx="2" presStyleCnt="4" custScaleY="64599">
        <dgm:presLayoutVars>
          <dgm:chMax val="0"/>
          <dgm:chPref val="0"/>
        </dgm:presLayoutVars>
      </dgm:prSet>
      <dgm:spPr/>
    </dgm:pt>
    <dgm:pt modelId="{2F9AA05E-37B1-4DEC-852B-B4528E03E154}" type="pres">
      <dgm:prSet presAssocID="{2365892C-5200-47CC-B893-F21C12091D76}" presName="sibTrans" presStyleCnt="0"/>
      <dgm:spPr/>
    </dgm:pt>
    <dgm:pt modelId="{EE2BB7CD-6C29-4BA0-87AE-B7098A53183C}" type="pres">
      <dgm:prSet presAssocID="{089E9595-FBE3-4C43-9733-E1A66CA43714}" presName="compNode" presStyleCnt="0"/>
      <dgm:spPr/>
    </dgm:pt>
    <dgm:pt modelId="{77340F40-9D68-4D1F-B608-68D74F70207E}" type="pres">
      <dgm:prSet presAssocID="{089E9595-FBE3-4C43-9733-E1A66CA43714}" presName="bgRect" presStyleLbl="bgShp" presStyleIdx="3" presStyleCnt="4" custScaleY="168499"/>
      <dgm:spPr/>
    </dgm:pt>
    <dgm:pt modelId="{B17DD8BA-B3DE-4A51-ABD0-3BFA770442B4}" type="pres">
      <dgm:prSet presAssocID="{089E9595-FBE3-4C43-9733-E1A66CA4371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AF5A33DC-C132-4199-A354-4C5CA65B22FD}" type="pres">
      <dgm:prSet presAssocID="{089E9595-FBE3-4C43-9733-E1A66CA43714}" presName="spaceRect" presStyleCnt="0"/>
      <dgm:spPr/>
    </dgm:pt>
    <dgm:pt modelId="{00C54214-CACB-4752-97CF-571C90322BD5}" type="pres">
      <dgm:prSet presAssocID="{089E9595-FBE3-4C43-9733-E1A66CA43714}" presName="parTx" presStyleLbl="revTx" presStyleIdx="3" presStyleCnt="4" custScaleY="153013">
        <dgm:presLayoutVars>
          <dgm:chMax val="0"/>
          <dgm:chPref val="0"/>
        </dgm:presLayoutVars>
      </dgm:prSet>
      <dgm:spPr/>
    </dgm:pt>
  </dgm:ptLst>
  <dgm:cxnLst>
    <dgm:cxn modelId="{1600DB1A-DEE1-40BE-AADB-425759581CCF}" srcId="{1470E1FB-B757-4EC5-8209-F49EEA28AB10}" destId="{9A188994-E9DB-4ED5-AFE6-2946E4E59D3C}" srcOrd="1" destOrd="0" parTransId="{0A8A28DF-219F-403C-84E3-A06BAFBD1901}" sibTransId="{9348D121-C0C6-4F00-A5AD-6760D26E1BA1}"/>
    <dgm:cxn modelId="{5FC3D33F-09A5-4F73-9D8C-9A5105296221}" srcId="{1470E1FB-B757-4EC5-8209-F49EEA28AB10}" destId="{447477F9-D221-4204-82E6-EC472D605AFE}" srcOrd="0" destOrd="0" parTransId="{7F9D80F6-4A32-4C7C-AE6E-11B80605A6A7}" sibTransId="{595CEC49-6E8C-40ED-95A6-6C9EF1DBB96D}"/>
    <dgm:cxn modelId="{82CA0455-35E1-4D58-B36D-79F7C795F11E}" type="presOf" srcId="{089E9595-FBE3-4C43-9733-E1A66CA43714}" destId="{00C54214-CACB-4752-97CF-571C90322BD5}" srcOrd="0" destOrd="0" presId="urn:microsoft.com/office/officeart/2018/2/layout/IconVerticalSolidList"/>
    <dgm:cxn modelId="{3499E375-CE96-4989-8291-8CEC5EEF42DB}" type="presOf" srcId="{9A188994-E9DB-4ED5-AFE6-2946E4E59D3C}" destId="{E8B502FF-BA00-4321-8444-1EA43D6FED13}" srcOrd="0" destOrd="0" presId="urn:microsoft.com/office/officeart/2018/2/layout/IconVerticalSolidList"/>
    <dgm:cxn modelId="{B100A686-82EE-4115-9CA4-1B4EB8399641}" srcId="{1470E1FB-B757-4EC5-8209-F49EEA28AB10}" destId="{C6CFB486-B8A4-457B-B19D-9C7857ADA04B}" srcOrd="2" destOrd="0" parTransId="{9FFFE358-2350-4659-9C2B-C9F6E829E15D}" sibTransId="{2365892C-5200-47CC-B893-F21C12091D76}"/>
    <dgm:cxn modelId="{C3ACAE8E-FFE3-44BC-B6AA-3A6854F7D374}" type="presOf" srcId="{1470E1FB-B757-4EC5-8209-F49EEA28AB10}" destId="{832BA9C0-A966-48CC-8F03-562B3EF60EAE}" srcOrd="0" destOrd="0" presId="urn:microsoft.com/office/officeart/2018/2/layout/IconVerticalSolidList"/>
    <dgm:cxn modelId="{D82E478F-D623-4FF2-9DC7-A17DE830BA16}" type="presOf" srcId="{C6CFB486-B8A4-457B-B19D-9C7857ADA04B}" destId="{400856E5-EC2D-49A7-A192-F7425026DAE6}" srcOrd="0" destOrd="0" presId="urn:microsoft.com/office/officeart/2018/2/layout/IconVerticalSolidList"/>
    <dgm:cxn modelId="{35316AB9-E2D9-4238-9E58-F9308B944695}" srcId="{1470E1FB-B757-4EC5-8209-F49EEA28AB10}" destId="{089E9595-FBE3-4C43-9733-E1A66CA43714}" srcOrd="3" destOrd="0" parTransId="{AA69A4EB-02B5-42FF-88C3-B3D7EFD2FEAF}" sibTransId="{3DAD57E8-099B-4582-B66A-C5F01411DD56}"/>
    <dgm:cxn modelId="{9C0734ED-85A2-4AEB-B85C-D7CE14ADCA2D}" type="presOf" srcId="{447477F9-D221-4204-82E6-EC472D605AFE}" destId="{A54F5783-C392-4AFD-856E-E6AF906BFFC8}" srcOrd="0" destOrd="0" presId="urn:microsoft.com/office/officeart/2018/2/layout/IconVerticalSolidList"/>
    <dgm:cxn modelId="{0B6A6CA8-9F0F-4CE4-932E-E1E32BEBF1A7}" type="presParOf" srcId="{832BA9C0-A966-48CC-8F03-562B3EF60EAE}" destId="{6F0F7BDE-0E74-453C-94D6-0074A8B65923}" srcOrd="0" destOrd="0" presId="urn:microsoft.com/office/officeart/2018/2/layout/IconVerticalSolidList"/>
    <dgm:cxn modelId="{C3FB8974-6AC3-4951-A3A3-5F399AE5F597}" type="presParOf" srcId="{6F0F7BDE-0E74-453C-94D6-0074A8B65923}" destId="{B36AE5AB-0C98-4EA6-920F-FC455E4AFA0E}" srcOrd="0" destOrd="0" presId="urn:microsoft.com/office/officeart/2018/2/layout/IconVerticalSolidList"/>
    <dgm:cxn modelId="{C2558028-66C8-4C96-86CD-851FA98519E7}" type="presParOf" srcId="{6F0F7BDE-0E74-453C-94D6-0074A8B65923}" destId="{494FF6D9-36A2-457D-9E5E-8A9A102AEE34}" srcOrd="1" destOrd="0" presId="urn:microsoft.com/office/officeart/2018/2/layout/IconVerticalSolidList"/>
    <dgm:cxn modelId="{E439F671-DE41-4D7B-B408-25F38275F717}" type="presParOf" srcId="{6F0F7BDE-0E74-453C-94D6-0074A8B65923}" destId="{9E398D59-F942-412E-91BE-D0856D804D37}" srcOrd="2" destOrd="0" presId="urn:microsoft.com/office/officeart/2018/2/layout/IconVerticalSolidList"/>
    <dgm:cxn modelId="{2A422B6C-F43B-47A2-A84E-63142AA39A88}" type="presParOf" srcId="{6F0F7BDE-0E74-453C-94D6-0074A8B65923}" destId="{A54F5783-C392-4AFD-856E-E6AF906BFFC8}" srcOrd="3" destOrd="0" presId="urn:microsoft.com/office/officeart/2018/2/layout/IconVerticalSolidList"/>
    <dgm:cxn modelId="{D6172177-8EAB-4E6E-84EA-FF7EF18F9566}" type="presParOf" srcId="{832BA9C0-A966-48CC-8F03-562B3EF60EAE}" destId="{13C49CD4-C4BF-42BA-B19B-6960172FA72D}" srcOrd="1" destOrd="0" presId="urn:microsoft.com/office/officeart/2018/2/layout/IconVerticalSolidList"/>
    <dgm:cxn modelId="{C8736452-17C0-45B5-9AF0-7F0353E5CAE6}" type="presParOf" srcId="{832BA9C0-A966-48CC-8F03-562B3EF60EAE}" destId="{B999A0CE-2721-48D0-BA8A-999BEA22EA48}" srcOrd="2" destOrd="0" presId="urn:microsoft.com/office/officeart/2018/2/layout/IconVerticalSolidList"/>
    <dgm:cxn modelId="{D841B571-EE99-49C7-8869-C0ADB85BAFC5}" type="presParOf" srcId="{B999A0CE-2721-48D0-BA8A-999BEA22EA48}" destId="{779F5025-0127-45B0-BB3E-40F47BA231C5}" srcOrd="0" destOrd="0" presId="urn:microsoft.com/office/officeart/2018/2/layout/IconVerticalSolidList"/>
    <dgm:cxn modelId="{BDD7C0C8-8052-4B18-84E8-1E22A17CEDA7}" type="presParOf" srcId="{B999A0CE-2721-48D0-BA8A-999BEA22EA48}" destId="{10603C03-B927-4DF0-9720-AE57F593E915}" srcOrd="1" destOrd="0" presId="urn:microsoft.com/office/officeart/2018/2/layout/IconVerticalSolidList"/>
    <dgm:cxn modelId="{4D1B3E19-6979-4137-BC63-B10CAE132146}" type="presParOf" srcId="{B999A0CE-2721-48D0-BA8A-999BEA22EA48}" destId="{B270B788-0AA9-4655-9DAA-E91650B2D9B6}" srcOrd="2" destOrd="0" presId="urn:microsoft.com/office/officeart/2018/2/layout/IconVerticalSolidList"/>
    <dgm:cxn modelId="{F7D705DD-E5A4-471C-885F-84B0FD71432F}" type="presParOf" srcId="{B999A0CE-2721-48D0-BA8A-999BEA22EA48}" destId="{E8B502FF-BA00-4321-8444-1EA43D6FED13}" srcOrd="3" destOrd="0" presId="urn:microsoft.com/office/officeart/2018/2/layout/IconVerticalSolidList"/>
    <dgm:cxn modelId="{3EAA428A-D778-4A54-A770-CAF888DF5FB4}" type="presParOf" srcId="{832BA9C0-A966-48CC-8F03-562B3EF60EAE}" destId="{ED8B65C0-55C1-46B4-8049-39724C67E246}" srcOrd="3" destOrd="0" presId="urn:microsoft.com/office/officeart/2018/2/layout/IconVerticalSolidList"/>
    <dgm:cxn modelId="{02F60B9B-76F8-471E-94C1-9DA0196DADFF}" type="presParOf" srcId="{832BA9C0-A966-48CC-8F03-562B3EF60EAE}" destId="{3E01B995-F18E-4E99-B04D-633374A2F2CB}" srcOrd="4" destOrd="0" presId="urn:microsoft.com/office/officeart/2018/2/layout/IconVerticalSolidList"/>
    <dgm:cxn modelId="{6EC56559-2195-4688-B6E3-FD7CCCFCC060}" type="presParOf" srcId="{3E01B995-F18E-4E99-B04D-633374A2F2CB}" destId="{40CDAC5D-2F4E-44EB-BD7C-CE2672709A54}" srcOrd="0" destOrd="0" presId="urn:microsoft.com/office/officeart/2018/2/layout/IconVerticalSolidList"/>
    <dgm:cxn modelId="{EF7CB402-8C81-4E75-BEFD-6F29F59DAB86}" type="presParOf" srcId="{3E01B995-F18E-4E99-B04D-633374A2F2CB}" destId="{04790BCC-487D-44B7-988A-69706A4DEFEA}" srcOrd="1" destOrd="0" presId="urn:microsoft.com/office/officeart/2018/2/layout/IconVerticalSolidList"/>
    <dgm:cxn modelId="{C50209D7-8868-48C7-BC38-14E2CDAF0549}" type="presParOf" srcId="{3E01B995-F18E-4E99-B04D-633374A2F2CB}" destId="{68FD52A6-FFF9-4D5D-A0EE-335FDFEDCBD0}" srcOrd="2" destOrd="0" presId="urn:microsoft.com/office/officeart/2018/2/layout/IconVerticalSolidList"/>
    <dgm:cxn modelId="{E0FD8384-4B2D-4247-94F0-6210D446A2D0}" type="presParOf" srcId="{3E01B995-F18E-4E99-B04D-633374A2F2CB}" destId="{400856E5-EC2D-49A7-A192-F7425026DAE6}" srcOrd="3" destOrd="0" presId="urn:microsoft.com/office/officeart/2018/2/layout/IconVerticalSolidList"/>
    <dgm:cxn modelId="{738C651C-9210-4A1B-84A6-EBACB40AB9C7}" type="presParOf" srcId="{832BA9C0-A966-48CC-8F03-562B3EF60EAE}" destId="{2F9AA05E-37B1-4DEC-852B-B4528E03E154}" srcOrd="5" destOrd="0" presId="urn:microsoft.com/office/officeart/2018/2/layout/IconVerticalSolidList"/>
    <dgm:cxn modelId="{D2AF6FDF-B9B0-4484-9509-CAB36D3F67A5}" type="presParOf" srcId="{832BA9C0-A966-48CC-8F03-562B3EF60EAE}" destId="{EE2BB7CD-6C29-4BA0-87AE-B7098A53183C}" srcOrd="6" destOrd="0" presId="urn:microsoft.com/office/officeart/2018/2/layout/IconVerticalSolidList"/>
    <dgm:cxn modelId="{9AB54810-CD38-4DA0-BD48-FDE5C97224DF}" type="presParOf" srcId="{EE2BB7CD-6C29-4BA0-87AE-B7098A53183C}" destId="{77340F40-9D68-4D1F-B608-68D74F70207E}" srcOrd="0" destOrd="0" presId="urn:microsoft.com/office/officeart/2018/2/layout/IconVerticalSolidList"/>
    <dgm:cxn modelId="{6F3A0234-83FC-4B37-A66C-E98ABB6634EF}" type="presParOf" srcId="{EE2BB7CD-6C29-4BA0-87AE-B7098A53183C}" destId="{B17DD8BA-B3DE-4A51-ABD0-3BFA770442B4}" srcOrd="1" destOrd="0" presId="urn:microsoft.com/office/officeart/2018/2/layout/IconVerticalSolidList"/>
    <dgm:cxn modelId="{3BA4D22C-00C4-4048-904A-65EB91B4DD2F}" type="presParOf" srcId="{EE2BB7CD-6C29-4BA0-87AE-B7098A53183C}" destId="{AF5A33DC-C132-4199-A354-4C5CA65B22FD}" srcOrd="2" destOrd="0" presId="urn:microsoft.com/office/officeart/2018/2/layout/IconVerticalSolidList"/>
    <dgm:cxn modelId="{41179330-4C58-4C7D-920B-1688743F3B2F}" type="presParOf" srcId="{EE2BB7CD-6C29-4BA0-87AE-B7098A53183C}" destId="{00C54214-CACB-4752-97CF-571C90322BD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B8EB223-EDBA-4551-AB2C-D89A3421161C}"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FFCBE125-9920-4425-A3C6-4730838A9B1C}">
      <dgm:prSet custT="1"/>
      <dgm:spPr/>
      <dgm:t>
        <a:bodyPr/>
        <a:lstStyle/>
        <a:p>
          <a:pPr>
            <a:lnSpc>
              <a:spcPct val="100000"/>
            </a:lnSpc>
          </a:pPr>
          <a:r>
            <a:rPr lang="en-US" sz="1500" dirty="0">
              <a:solidFill>
                <a:schemeClr val="tx1"/>
              </a:solidFill>
              <a:latin typeface="Arial" panose="020B0604020202020204" pitchFamily="34" charset="0"/>
              <a:cs typeface="Arial" panose="020B0604020202020204" pitchFamily="34" charset="0"/>
            </a:rPr>
            <a:t>This research will use Statistical Software R for regression analysis</a:t>
          </a:r>
          <a:endParaRPr lang="en-US" sz="1500" dirty="0">
            <a:solidFill>
              <a:schemeClr val="tx1"/>
            </a:solidFill>
            <a:latin typeface="Neue Haas Grotesk Text Pro"/>
          </a:endParaRPr>
        </a:p>
      </dgm:t>
    </dgm:pt>
    <dgm:pt modelId="{0A4419BA-BF87-4522-B603-4690EED97870}" type="parTrans" cxnId="{9446C02B-5101-41BA-88B1-A7898D8AF658}">
      <dgm:prSet/>
      <dgm:spPr/>
      <dgm:t>
        <a:bodyPr/>
        <a:lstStyle/>
        <a:p>
          <a:endParaRPr lang="en-US"/>
        </a:p>
      </dgm:t>
    </dgm:pt>
    <dgm:pt modelId="{1A71AE57-4863-46E7-8D37-565DC01E723D}" type="sibTrans" cxnId="{9446C02B-5101-41BA-88B1-A7898D8AF658}">
      <dgm:prSet/>
      <dgm:spPr/>
      <dgm:t>
        <a:bodyPr/>
        <a:lstStyle/>
        <a:p>
          <a:endParaRPr lang="en-US"/>
        </a:p>
      </dgm:t>
    </dgm:pt>
    <dgm:pt modelId="{B2D51C18-7504-48B2-B277-5A9BF074F185}">
      <dgm:prSet custT="1"/>
      <dgm:spPr/>
      <dgm:t>
        <a:bodyPr/>
        <a:lstStyle/>
        <a:p>
          <a:pPr>
            <a:lnSpc>
              <a:spcPct val="100000"/>
            </a:lnSpc>
          </a:pPr>
          <a:r>
            <a:rPr lang="en-US" sz="1500" dirty="0">
              <a:latin typeface="Neue Haas Grotesk Text Pro"/>
            </a:rPr>
            <a:t>We used duplicated() function remove duplicates, ggplot to plot the graphs, is.na(), na.omit() to handle missing values</a:t>
          </a:r>
        </a:p>
      </dgm:t>
    </dgm:pt>
    <dgm:pt modelId="{4ABD1C7B-C5B7-4523-90B0-4A9FC0A7488B}" type="parTrans" cxnId="{A2E63395-CF47-4AB4-AD20-F456DDC70B01}">
      <dgm:prSet/>
      <dgm:spPr/>
      <dgm:t>
        <a:bodyPr/>
        <a:lstStyle/>
        <a:p>
          <a:endParaRPr lang="en-US"/>
        </a:p>
      </dgm:t>
    </dgm:pt>
    <dgm:pt modelId="{94C41704-1C75-4D20-ABCC-7F5C67962619}" type="sibTrans" cxnId="{A2E63395-CF47-4AB4-AD20-F456DDC70B01}">
      <dgm:prSet/>
      <dgm:spPr/>
      <dgm:t>
        <a:bodyPr/>
        <a:lstStyle/>
        <a:p>
          <a:endParaRPr lang="en-US"/>
        </a:p>
      </dgm:t>
    </dgm:pt>
    <dgm:pt modelId="{8581E50D-679A-4B24-B0CE-599CECBEF8F5}">
      <dgm:prSet custT="1"/>
      <dgm:spPr/>
      <dgm:t>
        <a:bodyPr/>
        <a:lstStyle/>
        <a:p>
          <a:pPr>
            <a:lnSpc>
              <a:spcPct val="100000"/>
            </a:lnSpc>
          </a:pPr>
          <a:r>
            <a:rPr lang="en-US" sz="1400" dirty="0">
              <a:latin typeface="Arial" panose="020B0604020202020204" pitchFamily="34" charset="0"/>
              <a:cs typeface="Arial" panose="020B0604020202020204" pitchFamily="34" charset="0"/>
            </a:rPr>
            <a:t>Data Limitations: Although the QLFS provides an entire dataset, it might not fully capture every detail of the informal economic activities in rural areas or countryside areas.</a:t>
          </a:r>
        </a:p>
      </dgm:t>
    </dgm:pt>
    <dgm:pt modelId="{9C4501A0-EC87-4E73-B911-9FD1A0BBF006}" type="parTrans" cxnId="{2E68E089-3D3A-4EF7-A36A-D512B62A5E60}">
      <dgm:prSet/>
      <dgm:spPr/>
      <dgm:t>
        <a:bodyPr/>
        <a:lstStyle/>
        <a:p>
          <a:endParaRPr lang="en-US"/>
        </a:p>
      </dgm:t>
    </dgm:pt>
    <dgm:pt modelId="{AA390A51-19D7-4AF9-80A4-C350575A413F}" type="sibTrans" cxnId="{2E68E089-3D3A-4EF7-A36A-D512B62A5E60}">
      <dgm:prSet/>
      <dgm:spPr/>
      <dgm:t>
        <a:bodyPr/>
        <a:lstStyle/>
        <a:p>
          <a:endParaRPr lang="en-US"/>
        </a:p>
      </dgm:t>
    </dgm:pt>
    <dgm:pt modelId="{A27F51B5-B657-4B3A-AE1F-F10E2B175003}">
      <dgm:prSet custT="1"/>
      <dgm:spPr/>
      <dgm:t>
        <a:bodyPr/>
        <a:lstStyle/>
        <a:p>
          <a:pPr>
            <a:lnSpc>
              <a:spcPct val="100000"/>
            </a:lnSpc>
          </a:pPr>
          <a:r>
            <a:rPr lang="en-US" sz="1400" dirty="0">
              <a:effectLst/>
              <a:latin typeface="Arial" panose="020B0604020202020204" pitchFamily="34" charset="0"/>
              <a:ea typeface="Calibri" panose="020F0502020204030204" pitchFamily="34" charset="0"/>
              <a:cs typeface="Arial" panose="020B0604020202020204" pitchFamily="34" charset="0"/>
            </a:rPr>
            <a:t>Descriptive statistics will be used to summarize the key findings and use the Confidence Interval </a:t>
          </a:r>
          <a:r>
            <a:rPr lang="en-US" sz="1400" dirty="0">
              <a:latin typeface="Arial" panose="020B0604020202020204" pitchFamily="34" charset="0"/>
              <a:ea typeface="Calibri" panose="020F0502020204030204" pitchFamily="34" charset="0"/>
              <a:cs typeface="Arial" panose="020B0604020202020204" pitchFamily="34" charset="0"/>
            </a:rPr>
            <a:t>for </a:t>
          </a:r>
          <a:r>
            <a:rPr lang="en-US" sz="1400" dirty="0">
              <a:effectLst/>
              <a:latin typeface="Arial" panose="020B0604020202020204" pitchFamily="34" charset="0"/>
              <a:ea typeface="Calibri" panose="020F0502020204030204" pitchFamily="34" charset="0"/>
              <a:cs typeface="Arial" panose="020B0604020202020204" pitchFamily="34" charset="0"/>
            </a:rPr>
            <a:t>intern reliability of the data</a:t>
          </a:r>
          <a:endParaRPr lang="en-ZA" sz="1400" dirty="0"/>
        </a:p>
      </dgm:t>
    </dgm:pt>
    <dgm:pt modelId="{FBAA9A6C-3114-4215-9C00-735D32494A91}" type="parTrans" cxnId="{B0229186-9FBF-4252-A0B5-B6005A5484F2}">
      <dgm:prSet/>
      <dgm:spPr/>
      <dgm:t>
        <a:bodyPr/>
        <a:lstStyle/>
        <a:p>
          <a:endParaRPr lang="en-ZA"/>
        </a:p>
      </dgm:t>
    </dgm:pt>
    <dgm:pt modelId="{2351462B-FE97-4ECF-8251-C1B5D65AFCE9}" type="sibTrans" cxnId="{B0229186-9FBF-4252-A0B5-B6005A5484F2}">
      <dgm:prSet/>
      <dgm:spPr/>
      <dgm:t>
        <a:bodyPr/>
        <a:lstStyle/>
        <a:p>
          <a:endParaRPr lang="en-ZA"/>
        </a:p>
      </dgm:t>
    </dgm:pt>
    <dgm:pt modelId="{39906417-D537-46C2-B4F0-68E99786043A}">
      <dgm:prSet custT="1"/>
      <dgm:spPr/>
      <dgm:t>
        <a:bodyPr/>
        <a:lstStyle/>
        <a:p>
          <a:pPr>
            <a:lnSpc>
              <a:spcPct val="100000"/>
            </a:lnSpc>
          </a:pPr>
          <a:r>
            <a:rPr lang="en-US" sz="1500" dirty="0">
              <a:solidFill>
                <a:schemeClr val="tx1"/>
              </a:solidFill>
              <a:latin typeface="Arial" panose="020B0604020202020204" pitchFamily="34" charset="0"/>
              <a:cs typeface="Arial" panose="020B0604020202020204" pitchFamily="34" charset="0"/>
            </a:rPr>
            <a:t>The P-value at 5% significant level, odds ratio of values to determine the significant of the informal sector</a:t>
          </a:r>
          <a:endParaRPr lang="en-US" sz="1500" dirty="0">
            <a:solidFill>
              <a:schemeClr val="tx1"/>
            </a:solidFill>
            <a:effectLst/>
            <a:latin typeface="Arial" panose="020B0604020202020204" pitchFamily="34" charset="0"/>
            <a:ea typeface="Calibri" panose="020F0502020204030204" pitchFamily="34" charset="0"/>
          </a:endParaRPr>
        </a:p>
      </dgm:t>
    </dgm:pt>
    <dgm:pt modelId="{0B3B94C7-8265-4BD0-8204-3AAF1B959E91}" type="parTrans" cxnId="{9A98E5E1-1EA1-425D-A1DB-542F133793E2}">
      <dgm:prSet/>
      <dgm:spPr/>
      <dgm:t>
        <a:bodyPr/>
        <a:lstStyle/>
        <a:p>
          <a:endParaRPr lang="en-ZA"/>
        </a:p>
      </dgm:t>
    </dgm:pt>
    <dgm:pt modelId="{59C88F1A-3C14-4273-8EB4-E655527DEEA3}" type="sibTrans" cxnId="{9A98E5E1-1EA1-425D-A1DB-542F133793E2}">
      <dgm:prSet/>
      <dgm:spPr/>
      <dgm:t>
        <a:bodyPr/>
        <a:lstStyle/>
        <a:p>
          <a:endParaRPr lang="en-ZA"/>
        </a:p>
      </dgm:t>
    </dgm:pt>
    <dgm:pt modelId="{8F42CCAF-CEF1-4ADD-B278-12D859A1EA72}">
      <dgm:prSet custT="1"/>
      <dgm:spPr/>
      <dgm:t>
        <a:bodyPr/>
        <a:lstStyle/>
        <a:p>
          <a:pPr>
            <a:lnSpc>
              <a:spcPct val="100000"/>
            </a:lnSpc>
          </a:pPr>
          <a:r>
            <a:rPr lang="en-US" sz="1500" dirty="0">
              <a:effectLst/>
              <a:latin typeface="Arial" panose="020B0604020202020204" pitchFamily="34" charset="0"/>
              <a:ea typeface="Calibri" panose="020F0502020204030204" pitchFamily="34" charset="0"/>
            </a:rPr>
            <a:t>Regression analysis will evaluate the relationship between formal regulation and economic outcomes in the informal economy.</a:t>
          </a:r>
          <a:endParaRPr lang="en-ZA" sz="1500" dirty="0">
            <a:latin typeface="Arial" panose="020B0604020202020204" pitchFamily="34" charset="0"/>
            <a:ea typeface="Calibri" panose="020F0502020204030204" pitchFamily="34" charset="0"/>
            <a:cs typeface="Arial" panose="020B0604020202020204" pitchFamily="34" charset="0"/>
          </a:endParaRPr>
        </a:p>
      </dgm:t>
    </dgm:pt>
    <dgm:pt modelId="{484932A3-FB5C-4D5D-9E21-7DD38ACA4EE8}" type="parTrans" cxnId="{78EA6CEF-95FC-4CF8-AB1A-6BD6DFB81B88}">
      <dgm:prSet/>
      <dgm:spPr/>
      <dgm:t>
        <a:bodyPr/>
        <a:lstStyle/>
        <a:p>
          <a:endParaRPr lang="en-ZA"/>
        </a:p>
      </dgm:t>
    </dgm:pt>
    <dgm:pt modelId="{6DD763B6-68BB-414C-8138-B1F258E65091}" type="sibTrans" cxnId="{78EA6CEF-95FC-4CF8-AB1A-6BD6DFB81B88}">
      <dgm:prSet/>
      <dgm:spPr/>
      <dgm:t>
        <a:bodyPr/>
        <a:lstStyle/>
        <a:p>
          <a:endParaRPr lang="en-ZA"/>
        </a:p>
      </dgm:t>
    </dgm:pt>
    <dgm:pt modelId="{689ADF77-9917-4A7A-89A3-48F4A4D3A17D}" type="pres">
      <dgm:prSet presAssocID="{1B8EB223-EDBA-4551-AB2C-D89A3421161C}" presName="vert0" presStyleCnt="0">
        <dgm:presLayoutVars>
          <dgm:dir/>
          <dgm:animOne val="branch"/>
          <dgm:animLvl val="lvl"/>
        </dgm:presLayoutVars>
      </dgm:prSet>
      <dgm:spPr/>
    </dgm:pt>
    <dgm:pt modelId="{8033AAEF-2FB5-4A6B-9ADB-82EDD3837DCF}" type="pres">
      <dgm:prSet presAssocID="{FFCBE125-9920-4425-A3C6-4730838A9B1C}" presName="thickLine" presStyleLbl="alignNode1" presStyleIdx="0" presStyleCnt="6"/>
      <dgm:spPr/>
    </dgm:pt>
    <dgm:pt modelId="{E3E92039-129B-4910-9B04-E320B44F0215}" type="pres">
      <dgm:prSet presAssocID="{FFCBE125-9920-4425-A3C6-4730838A9B1C}" presName="horz1" presStyleCnt="0"/>
      <dgm:spPr/>
    </dgm:pt>
    <dgm:pt modelId="{16B4C871-F7D7-4653-BB5A-5635006A9705}" type="pres">
      <dgm:prSet presAssocID="{FFCBE125-9920-4425-A3C6-4730838A9B1C}" presName="tx1" presStyleLbl="revTx" presStyleIdx="0" presStyleCnt="6"/>
      <dgm:spPr/>
    </dgm:pt>
    <dgm:pt modelId="{D20138E2-D62E-4F4C-9EA2-AABE6DC10C47}" type="pres">
      <dgm:prSet presAssocID="{FFCBE125-9920-4425-A3C6-4730838A9B1C}" presName="vert1" presStyleCnt="0"/>
      <dgm:spPr/>
    </dgm:pt>
    <dgm:pt modelId="{131F0033-1B90-45F9-B687-BE5AB71A9582}" type="pres">
      <dgm:prSet presAssocID="{39906417-D537-46C2-B4F0-68E99786043A}" presName="thickLine" presStyleLbl="alignNode1" presStyleIdx="1" presStyleCnt="6"/>
      <dgm:spPr/>
    </dgm:pt>
    <dgm:pt modelId="{63D094CB-46AA-4B8A-8F04-E216CFFEB633}" type="pres">
      <dgm:prSet presAssocID="{39906417-D537-46C2-B4F0-68E99786043A}" presName="horz1" presStyleCnt="0"/>
      <dgm:spPr/>
    </dgm:pt>
    <dgm:pt modelId="{35FFBA2D-799A-4F4C-8DFD-0472B66C1181}" type="pres">
      <dgm:prSet presAssocID="{39906417-D537-46C2-B4F0-68E99786043A}" presName="tx1" presStyleLbl="revTx" presStyleIdx="1" presStyleCnt="6"/>
      <dgm:spPr/>
    </dgm:pt>
    <dgm:pt modelId="{ECA32CCE-7868-40B1-B3AD-AD816719F3CD}" type="pres">
      <dgm:prSet presAssocID="{39906417-D537-46C2-B4F0-68E99786043A}" presName="vert1" presStyleCnt="0"/>
      <dgm:spPr/>
    </dgm:pt>
    <dgm:pt modelId="{20B30E79-A3E4-4983-B93E-FE6F4A6673DD}" type="pres">
      <dgm:prSet presAssocID="{8F42CCAF-CEF1-4ADD-B278-12D859A1EA72}" presName="thickLine" presStyleLbl="alignNode1" presStyleIdx="2" presStyleCnt="6"/>
      <dgm:spPr/>
    </dgm:pt>
    <dgm:pt modelId="{C1D34DAE-3803-4620-A38C-370C07444838}" type="pres">
      <dgm:prSet presAssocID="{8F42CCAF-CEF1-4ADD-B278-12D859A1EA72}" presName="horz1" presStyleCnt="0"/>
      <dgm:spPr/>
    </dgm:pt>
    <dgm:pt modelId="{BA5F69E2-9CFB-49AE-8609-216F2C195E5C}" type="pres">
      <dgm:prSet presAssocID="{8F42CCAF-CEF1-4ADD-B278-12D859A1EA72}" presName="tx1" presStyleLbl="revTx" presStyleIdx="2" presStyleCnt="6"/>
      <dgm:spPr/>
    </dgm:pt>
    <dgm:pt modelId="{1B29AD0B-C27E-4A96-BAEF-F03231A9B09D}" type="pres">
      <dgm:prSet presAssocID="{8F42CCAF-CEF1-4ADD-B278-12D859A1EA72}" presName="vert1" presStyleCnt="0"/>
      <dgm:spPr/>
    </dgm:pt>
    <dgm:pt modelId="{6E631BA3-7948-4FA7-9C0B-9758C2CCFEF7}" type="pres">
      <dgm:prSet presAssocID="{B2D51C18-7504-48B2-B277-5A9BF074F185}" presName="thickLine" presStyleLbl="alignNode1" presStyleIdx="3" presStyleCnt="6"/>
      <dgm:spPr/>
    </dgm:pt>
    <dgm:pt modelId="{840FD332-9D86-43EA-B919-DCFC25FE038E}" type="pres">
      <dgm:prSet presAssocID="{B2D51C18-7504-48B2-B277-5A9BF074F185}" presName="horz1" presStyleCnt="0"/>
      <dgm:spPr/>
    </dgm:pt>
    <dgm:pt modelId="{115811C0-35E0-4FDF-AB4A-D246D4DBA779}" type="pres">
      <dgm:prSet presAssocID="{B2D51C18-7504-48B2-B277-5A9BF074F185}" presName="tx1" presStyleLbl="revTx" presStyleIdx="3" presStyleCnt="6"/>
      <dgm:spPr/>
    </dgm:pt>
    <dgm:pt modelId="{11B569CA-E68A-4F57-973A-A6FF73A61540}" type="pres">
      <dgm:prSet presAssocID="{B2D51C18-7504-48B2-B277-5A9BF074F185}" presName="vert1" presStyleCnt="0"/>
      <dgm:spPr/>
    </dgm:pt>
    <dgm:pt modelId="{E18F311B-A94A-4074-B74D-085FB27CF9B7}" type="pres">
      <dgm:prSet presAssocID="{A27F51B5-B657-4B3A-AE1F-F10E2B175003}" presName="thickLine" presStyleLbl="alignNode1" presStyleIdx="4" presStyleCnt="6"/>
      <dgm:spPr/>
    </dgm:pt>
    <dgm:pt modelId="{4E28571E-BCB1-4BC6-8E1D-F349D3D400AF}" type="pres">
      <dgm:prSet presAssocID="{A27F51B5-B657-4B3A-AE1F-F10E2B175003}" presName="horz1" presStyleCnt="0"/>
      <dgm:spPr/>
    </dgm:pt>
    <dgm:pt modelId="{4638AD29-7CB9-4C42-967E-6CB63BF18BCD}" type="pres">
      <dgm:prSet presAssocID="{A27F51B5-B657-4B3A-AE1F-F10E2B175003}" presName="tx1" presStyleLbl="revTx" presStyleIdx="4" presStyleCnt="6"/>
      <dgm:spPr/>
    </dgm:pt>
    <dgm:pt modelId="{438C6ADB-E09B-462E-ADD5-1EA9F6A9AD4D}" type="pres">
      <dgm:prSet presAssocID="{A27F51B5-B657-4B3A-AE1F-F10E2B175003}" presName="vert1" presStyleCnt="0"/>
      <dgm:spPr/>
    </dgm:pt>
    <dgm:pt modelId="{21DA3B1F-AB32-4C15-8123-B0FCD566D320}" type="pres">
      <dgm:prSet presAssocID="{8581E50D-679A-4B24-B0CE-599CECBEF8F5}" presName="thickLine" presStyleLbl="alignNode1" presStyleIdx="5" presStyleCnt="6"/>
      <dgm:spPr/>
    </dgm:pt>
    <dgm:pt modelId="{F03B4CD7-3389-49D4-A016-0C23C6E41F7A}" type="pres">
      <dgm:prSet presAssocID="{8581E50D-679A-4B24-B0CE-599CECBEF8F5}" presName="horz1" presStyleCnt="0"/>
      <dgm:spPr/>
    </dgm:pt>
    <dgm:pt modelId="{87A159A9-5BB6-406C-BA0C-79EE438B050E}" type="pres">
      <dgm:prSet presAssocID="{8581E50D-679A-4B24-B0CE-599CECBEF8F5}" presName="tx1" presStyleLbl="revTx" presStyleIdx="5" presStyleCnt="6"/>
      <dgm:spPr/>
    </dgm:pt>
    <dgm:pt modelId="{D68B6AC5-D9F4-40D7-92B0-21EA766B10E9}" type="pres">
      <dgm:prSet presAssocID="{8581E50D-679A-4B24-B0CE-599CECBEF8F5}" presName="vert1" presStyleCnt="0"/>
      <dgm:spPr/>
    </dgm:pt>
  </dgm:ptLst>
  <dgm:cxnLst>
    <dgm:cxn modelId="{34150E1C-E3E4-41A9-AC53-AE7BDABD62F2}" type="presOf" srcId="{A27F51B5-B657-4B3A-AE1F-F10E2B175003}" destId="{4638AD29-7CB9-4C42-967E-6CB63BF18BCD}" srcOrd="0" destOrd="0" presId="urn:microsoft.com/office/officeart/2008/layout/LinedList"/>
    <dgm:cxn modelId="{6C822028-A7FA-491D-9860-BDEA180A319E}" type="presOf" srcId="{8581E50D-679A-4B24-B0CE-599CECBEF8F5}" destId="{87A159A9-5BB6-406C-BA0C-79EE438B050E}" srcOrd="0" destOrd="0" presId="urn:microsoft.com/office/officeart/2008/layout/LinedList"/>
    <dgm:cxn modelId="{9446C02B-5101-41BA-88B1-A7898D8AF658}" srcId="{1B8EB223-EDBA-4551-AB2C-D89A3421161C}" destId="{FFCBE125-9920-4425-A3C6-4730838A9B1C}" srcOrd="0" destOrd="0" parTransId="{0A4419BA-BF87-4522-B603-4690EED97870}" sibTransId="{1A71AE57-4863-46E7-8D37-565DC01E723D}"/>
    <dgm:cxn modelId="{F821BC39-3F4B-47B0-B4B8-17AA10E3B06D}" type="presOf" srcId="{FFCBE125-9920-4425-A3C6-4730838A9B1C}" destId="{16B4C871-F7D7-4653-BB5A-5635006A9705}" srcOrd="0" destOrd="0" presId="urn:microsoft.com/office/officeart/2008/layout/LinedList"/>
    <dgm:cxn modelId="{AA252252-163C-4A6D-9AA2-554EA5C0165D}" type="presOf" srcId="{B2D51C18-7504-48B2-B277-5A9BF074F185}" destId="{115811C0-35E0-4FDF-AB4A-D246D4DBA779}" srcOrd="0" destOrd="0" presId="urn:microsoft.com/office/officeart/2008/layout/LinedList"/>
    <dgm:cxn modelId="{58422B7D-AC0F-4286-827F-0CFCCF1E0F9B}" type="presOf" srcId="{39906417-D537-46C2-B4F0-68E99786043A}" destId="{35FFBA2D-799A-4F4C-8DFD-0472B66C1181}" srcOrd="0" destOrd="0" presId="urn:microsoft.com/office/officeart/2008/layout/LinedList"/>
    <dgm:cxn modelId="{B0229186-9FBF-4252-A0B5-B6005A5484F2}" srcId="{1B8EB223-EDBA-4551-AB2C-D89A3421161C}" destId="{A27F51B5-B657-4B3A-AE1F-F10E2B175003}" srcOrd="4" destOrd="0" parTransId="{FBAA9A6C-3114-4215-9C00-735D32494A91}" sibTransId="{2351462B-FE97-4ECF-8251-C1B5D65AFCE9}"/>
    <dgm:cxn modelId="{2E68E089-3D3A-4EF7-A36A-D512B62A5E60}" srcId="{1B8EB223-EDBA-4551-AB2C-D89A3421161C}" destId="{8581E50D-679A-4B24-B0CE-599CECBEF8F5}" srcOrd="5" destOrd="0" parTransId="{9C4501A0-EC87-4E73-B911-9FD1A0BBF006}" sibTransId="{AA390A51-19D7-4AF9-80A4-C350575A413F}"/>
    <dgm:cxn modelId="{A2E63395-CF47-4AB4-AD20-F456DDC70B01}" srcId="{1B8EB223-EDBA-4551-AB2C-D89A3421161C}" destId="{B2D51C18-7504-48B2-B277-5A9BF074F185}" srcOrd="3" destOrd="0" parTransId="{4ABD1C7B-C5B7-4523-90B0-4A9FC0A7488B}" sibTransId="{94C41704-1C75-4D20-ABCC-7F5C67962619}"/>
    <dgm:cxn modelId="{CDA33FC0-D8FC-4BB2-A5E8-67771452A741}" type="presOf" srcId="{8F42CCAF-CEF1-4ADD-B278-12D859A1EA72}" destId="{BA5F69E2-9CFB-49AE-8609-216F2C195E5C}" srcOrd="0" destOrd="0" presId="urn:microsoft.com/office/officeart/2008/layout/LinedList"/>
    <dgm:cxn modelId="{6632CBC9-8178-4471-B25A-6391A04E1FD0}" type="presOf" srcId="{1B8EB223-EDBA-4551-AB2C-D89A3421161C}" destId="{689ADF77-9917-4A7A-89A3-48F4A4D3A17D}" srcOrd="0" destOrd="0" presId="urn:microsoft.com/office/officeart/2008/layout/LinedList"/>
    <dgm:cxn modelId="{9A98E5E1-1EA1-425D-A1DB-542F133793E2}" srcId="{1B8EB223-EDBA-4551-AB2C-D89A3421161C}" destId="{39906417-D537-46C2-B4F0-68E99786043A}" srcOrd="1" destOrd="0" parTransId="{0B3B94C7-8265-4BD0-8204-3AAF1B959E91}" sibTransId="{59C88F1A-3C14-4273-8EB4-E655527DEEA3}"/>
    <dgm:cxn modelId="{78EA6CEF-95FC-4CF8-AB1A-6BD6DFB81B88}" srcId="{1B8EB223-EDBA-4551-AB2C-D89A3421161C}" destId="{8F42CCAF-CEF1-4ADD-B278-12D859A1EA72}" srcOrd="2" destOrd="0" parTransId="{484932A3-FB5C-4D5D-9E21-7DD38ACA4EE8}" sibTransId="{6DD763B6-68BB-414C-8138-B1F258E65091}"/>
    <dgm:cxn modelId="{15F9AB84-324C-4A03-A27F-A9E35C34CCE3}" type="presParOf" srcId="{689ADF77-9917-4A7A-89A3-48F4A4D3A17D}" destId="{8033AAEF-2FB5-4A6B-9ADB-82EDD3837DCF}" srcOrd="0" destOrd="0" presId="urn:microsoft.com/office/officeart/2008/layout/LinedList"/>
    <dgm:cxn modelId="{07F3724A-91C5-4361-A0C0-7C0299C65336}" type="presParOf" srcId="{689ADF77-9917-4A7A-89A3-48F4A4D3A17D}" destId="{E3E92039-129B-4910-9B04-E320B44F0215}" srcOrd="1" destOrd="0" presId="urn:microsoft.com/office/officeart/2008/layout/LinedList"/>
    <dgm:cxn modelId="{AEEAF429-25FA-464F-81A9-F5BB16203D05}" type="presParOf" srcId="{E3E92039-129B-4910-9B04-E320B44F0215}" destId="{16B4C871-F7D7-4653-BB5A-5635006A9705}" srcOrd="0" destOrd="0" presId="urn:microsoft.com/office/officeart/2008/layout/LinedList"/>
    <dgm:cxn modelId="{2CBF538E-AE77-4D33-8658-7561A263320A}" type="presParOf" srcId="{E3E92039-129B-4910-9B04-E320B44F0215}" destId="{D20138E2-D62E-4F4C-9EA2-AABE6DC10C47}" srcOrd="1" destOrd="0" presId="urn:microsoft.com/office/officeart/2008/layout/LinedList"/>
    <dgm:cxn modelId="{8B40D694-9CD7-4D37-B824-CD31252B71E9}" type="presParOf" srcId="{689ADF77-9917-4A7A-89A3-48F4A4D3A17D}" destId="{131F0033-1B90-45F9-B687-BE5AB71A9582}" srcOrd="2" destOrd="0" presId="urn:microsoft.com/office/officeart/2008/layout/LinedList"/>
    <dgm:cxn modelId="{A1968F55-1AAA-4B47-B33B-3BFA65A60F93}" type="presParOf" srcId="{689ADF77-9917-4A7A-89A3-48F4A4D3A17D}" destId="{63D094CB-46AA-4B8A-8F04-E216CFFEB633}" srcOrd="3" destOrd="0" presId="urn:microsoft.com/office/officeart/2008/layout/LinedList"/>
    <dgm:cxn modelId="{EF632360-A5A0-4279-B90D-FD7D0CD08517}" type="presParOf" srcId="{63D094CB-46AA-4B8A-8F04-E216CFFEB633}" destId="{35FFBA2D-799A-4F4C-8DFD-0472B66C1181}" srcOrd="0" destOrd="0" presId="urn:microsoft.com/office/officeart/2008/layout/LinedList"/>
    <dgm:cxn modelId="{3F586151-DE27-422D-A323-DE1867B7F9EA}" type="presParOf" srcId="{63D094CB-46AA-4B8A-8F04-E216CFFEB633}" destId="{ECA32CCE-7868-40B1-B3AD-AD816719F3CD}" srcOrd="1" destOrd="0" presId="urn:microsoft.com/office/officeart/2008/layout/LinedList"/>
    <dgm:cxn modelId="{42A59B93-786F-40D5-B089-AF6A2A0B2662}" type="presParOf" srcId="{689ADF77-9917-4A7A-89A3-48F4A4D3A17D}" destId="{20B30E79-A3E4-4983-B93E-FE6F4A6673DD}" srcOrd="4" destOrd="0" presId="urn:microsoft.com/office/officeart/2008/layout/LinedList"/>
    <dgm:cxn modelId="{75947293-EA70-4724-B72B-1DE6C66C6703}" type="presParOf" srcId="{689ADF77-9917-4A7A-89A3-48F4A4D3A17D}" destId="{C1D34DAE-3803-4620-A38C-370C07444838}" srcOrd="5" destOrd="0" presId="urn:microsoft.com/office/officeart/2008/layout/LinedList"/>
    <dgm:cxn modelId="{63C3DE4F-6F8E-40EA-9D73-6C7696E1B614}" type="presParOf" srcId="{C1D34DAE-3803-4620-A38C-370C07444838}" destId="{BA5F69E2-9CFB-49AE-8609-216F2C195E5C}" srcOrd="0" destOrd="0" presId="urn:microsoft.com/office/officeart/2008/layout/LinedList"/>
    <dgm:cxn modelId="{D99AF408-DEA0-44FD-9FF3-3225A20FD97E}" type="presParOf" srcId="{C1D34DAE-3803-4620-A38C-370C07444838}" destId="{1B29AD0B-C27E-4A96-BAEF-F03231A9B09D}" srcOrd="1" destOrd="0" presId="urn:microsoft.com/office/officeart/2008/layout/LinedList"/>
    <dgm:cxn modelId="{AEDCFDCD-640E-4F30-BA29-31F9473309E2}" type="presParOf" srcId="{689ADF77-9917-4A7A-89A3-48F4A4D3A17D}" destId="{6E631BA3-7948-4FA7-9C0B-9758C2CCFEF7}" srcOrd="6" destOrd="0" presId="urn:microsoft.com/office/officeart/2008/layout/LinedList"/>
    <dgm:cxn modelId="{61530EDF-1F16-4914-B897-857BD5AFDDE4}" type="presParOf" srcId="{689ADF77-9917-4A7A-89A3-48F4A4D3A17D}" destId="{840FD332-9D86-43EA-B919-DCFC25FE038E}" srcOrd="7" destOrd="0" presId="urn:microsoft.com/office/officeart/2008/layout/LinedList"/>
    <dgm:cxn modelId="{2E250693-A6E1-496C-9EC3-5DF057BB4E90}" type="presParOf" srcId="{840FD332-9D86-43EA-B919-DCFC25FE038E}" destId="{115811C0-35E0-4FDF-AB4A-D246D4DBA779}" srcOrd="0" destOrd="0" presId="urn:microsoft.com/office/officeart/2008/layout/LinedList"/>
    <dgm:cxn modelId="{DD60E025-AB1E-4859-84AD-47AA11C5B539}" type="presParOf" srcId="{840FD332-9D86-43EA-B919-DCFC25FE038E}" destId="{11B569CA-E68A-4F57-973A-A6FF73A61540}" srcOrd="1" destOrd="0" presId="urn:microsoft.com/office/officeart/2008/layout/LinedList"/>
    <dgm:cxn modelId="{018EBC12-E371-466E-9378-4D390ED4F677}" type="presParOf" srcId="{689ADF77-9917-4A7A-89A3-48F4A4D3A17D}" destId="{E18F311B-A94A-4074-B74D-085FB27CF9B7}" srcOrd="8" destOrd="0" presId="urn:microsoft.com/office/officeart/2008/layout/LinedList"/>
    <dgm:cxn modelId="{4A5DA048-EF3B-4DAD-8459-1F94A3B09AD0}" type="presParOf" srcId="{689ADF77-9917-4A7A-89A3-48F4A4D3A17D}" destId="{4E28571E-BCB1-4BC6-8E1D-F349D3D400AF}" srcOrd="9" destOrd="0" presId="urn:microsoft.com/office/officeart/2008/layout/LinedList"/>
    <dgm:cxn modelId="{77D3BFB6-24D0-46DA-9EB6-D01A6EB249C6}" type="presParOf" srcId="{4E28571E-BCB1-4BC6-8E1D-F349D3D400AF}" destId="{4638AD29-7CB9-4C42-967E-6CB63BF18BCD}" srcOrd="0" destOrd="0" presId="urn:microsoft.com/office/officeart/2008/layout/LinedList"/>
    <dgm:cxn modelId="{CD9E9541-1D64-49F4-B0C4-161A6A41DB5C}" type="presParOf" srcId="{4E28571E-BCB1-4BC6-8E1D-F349D3D400AF}" destId="{438C6ADB-E09B-462E-ADD5-1EA9F6A9AD4D}" srcOrd="1" destOrd="0" presId="urn:microsoft.com/office/officeart/2008/layout/LinedList"/>
    <dgm:cxn modelId="{F13CFC7C-2B19-4299-8B75-E503DD9B85D5}" type="presParOf" srcId="{689ADF77-9917-4A7A-89A3-48F4A4D3A17D}" destId="{21DA3B1F-AB32-4C15-8123-B0FCD566D320}" srcOrd="10" destOrd="0" presId="urn:microsoft.com/office/officeart/2008/layout/LinedList"/>
    <dgm:cxn modelId="{EAFD3454-10A2-4E69-8D11-AFEF25B5E9EC}" type="presParOf" srcId="{689ADF77-9917-4A7A-89A3-48F4A4D3A17D}" destId="{F03B4CD7-3389-49D4-A016-0C23C6E41F7A}" srcOrd="11" destOrd="0" presId="urn:microsoft.com/office/officeart/2008/layout/LinedList"/>
    <dgm:cxn modelId="{297AF8B9-B0F2-410A-A271-ED4314ECD729}" type="presParOf" srcId="{F03B4CD7-3389-49D4-A016-0C23C6E41F7A}" destId="{87A159A9-5BB6-406C-BA0C-79EE438B050E}" srcOrd="0" destOrd="0" presId="urn:microsoft.com/office/officeart/2008/layout/LinedList"/>
    <dgm:cxn modelId="{81AEE265-14BB-4EBA-A538-ACAE47A55D81}" type="presParOf" srcId="{F03B4CD7-3389-49D4-A016-0C23C6E41F7A}" destId="{D68B6AC5-D9F4-40D7-92B0-21EA766B10E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BCF6BC-8C43-44D9-B338-8D58472EA7F6}">
      <dsp:nvSpPr>
        <dsp:cNvPr id="0" name=""/>
        <dsp:cNvSpPr/>
      </dsp:nvSpPr>
      <dsp:spPr>
        <a:xfrm>
          <a:off x="-19534" y="8437"/>
          <a:ext cx="8410744" cy="62427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83AA66-3FF9-4D79-94BA-4A67C0B20ACF}">
      <dsp:nvSpPr>
        <dsp:cNvPr id="0" name=""/>
        <dsp:cNvSpPr/>
      </dsp:nvSpPr>
      <dsp:spPr>
        <a:xfrm>
          <a:off x="169309" y="148899"/>
          <a:ext cx="343351" cy="343351"/>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3C2FF3-7EB9-476B-9CAD-A7DEC0A7E741}">
      <dsp:nvSpPr>
        <dsp:cNvPr id="0" name=""/>
        <dsp:cNvSpPr/>
      </dsp:nvSpPr>
      <dsp:spPr>
        <a:xfrm>
          <a:off x="701504" y="8437"/>
          <a:ext cx="7688294" cy="62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69" tIns="66069" rIns="66069" bIns="66069" numCol="1" spcCol="1270" anchor="ctr" anchorCtr="0">
          <a:noAutofit/>
        </a:bodyPr>
        <a:lstStyle/>
        <a:p>
          <a:pPr marL="0" lvl="0" indent="0" algn="l" defTabSz="889000">
            <a:lnSpc>
              <a:spcPct val="100000"/>
            </a:lnSpc>
            <a:spcBef>
              <a:spcPct val="0"/>
            </a:spcBef>
            <a:spcAft>
              <a:spcPct val="35000"/>
            </a:spcAft>
            <a:buNone/>
          </a:pPr>
          <a:r>
            <a:rPr lang="en-US" sz="2000" kern="1200" dirty="0"/>
            <a:t>Introduction</a:t>
          </a:r>
        </a:p>
      </dsp:txBody>
      <dsp:txXfrm>
        <a:off x="701504" y="8437"/>
        <a:ext cx="7688294" cy="624276"/>
      </dsp:txXfrm>
    </dsp:sp>
    <dsp:sp modelId="{1DB5B8C6-801C-4014-AEF6-38ADBF4898E6}">
      <dsp:nvSpPr>
        <dsp:cNvPr id="0" name=""/>
        <dsp:cNvSpPr/>
      </dsp:nvSpPr>
      <dsp:spPr>
        <a:xfrm>
          <a:off x="-19534" y="788782"/>
          <a:ext cx="8410744" cy="62427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633DF2-91C2-46DA-9387-0AB92A444EFB}">
      <dsp:nvSpPr>
        <dsp:cNvPr id="0" name=""/>
        <dsp:cNvSpPr/>
      </dsp:nvSpPr>
      <dsp:spPr>
        <a:xfrm>
          <a:off x="169309" y="929244"/>
          <a:ext cx="343351" cy="343351"/>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187747-0878-4A0A-A8DA-665686C1D1B2}">
      <dsp:nvSpPr>
        <dsp:cNvPr id="0" name=""/>
        <dsp:cNvSpPr/>
      </dsp:nvSpPr>
      <dsp:spPr>
        <a:xfrm>
          <a:off x="701504" y="788782"/>
          <a:ext cx="7688294" cy="62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69" tIns="66069" rIns="66069" bIns="66069" numCol="1" spcCol="1270" anchor="ctr" anchorCtr="0">
          <a:noAutofit/>
        </a:bodyPr>
        <a:lstStyle/>
        <a:p>
          <a:pPr marL="0" lvl="0" indent="0" algn="l" defTabSz="889000">
            <a:lnSpc>
              <a:spcPct val="100000"/>
            </a:lnSpc>
            <a:spcBef>
              <a:spcPct val="0"/>
            </a:spcBef>
            <a:spcAft>
              <a:spcPct val="35000"/>
            </a:spcAft>
            <a:buNone/>
          </a:pPr>
          <a:r>
            <a:rPr lang="en-US" sz="2000" kern="1200" dirty="0"/>
            <a:t>Methodology </a:t>
          </a:r>
        </a:p>
      </dsp:txBody>
      <dsp:txXfrm>
        <a:off x="701504" y="788782"/>
        <a:ext cx="7688294" cy="624276"/>
      </dsp:txXfrm>
    </dsp:sp>
    <dsp:sp modelId="{E9772EE2-7FC5-4CBF-8729-31BFD1A861E3}">
      <dsp:nvSpPr>
        <dsp:cNvPr id="0" name=""/>
        <dsp:cNvSpPr/>
      </dsp:nvSpPr>
      <dsp:spPr>
        <a:xfrm>
          <a:off x="-19534" y="1569127"/>
          <a:ext cx="8410744" cy="62427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393E9F-7100-4948-A0A6-DF1D25CF3F52}">
      <dsp:nvSpPr>
        <dsp:cNvPr id="0" name=""/>
        <dsp:cNvSpPr/>
      </dsp:nvSpPr>
      <dsp:spPr>
        <a:xfrm>
          <a:off x="169309" y="1709589"/>
          <a:ext cx="343351" cy="343351"/>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27DDB2-8052-45DE-A237-6E0ED52BFEB9}">
      <dsp:nvSpPr>
        <dsp:cNvPr id="0" name=""/>
        <dsp:cNvSpPr/>
      </dsp:nvSpPr>
      <dsp:spPr>
        <a:xfrm>
          <a:off x="701504" y="1569127"/>
          <a:ext cx="7688294" cy="62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69" tIns="66069" rIns="66069" bIns="66069" numCol="1" spcCol="1270" anchor="ctr" anchorCtr="0">
          <a:noAutofit/>
        </a:bodyPr>
        <a:lstStyle/>
        <a:p>
          <a:pPr marL="0" lvl="0" indent="0" algn="l" defTabSz="889000">
            <a:lnSpc>
              <a:spcPct val="100000"/>
            </a:lnSpc>
            <a:spcBef>
              <a:spcPct val="0"/>
            </a:spcBef>
            <a:spcAft>
              <a:spcPct val="35000"/>
            </a:spcAft>
            <a:buNone/>
          </a:pPr>
          <a:r>
            <a:rPr lang="en-US" sz="2000" kern="1200" dirty="0"/>
            <a:t>Result and Discussion</a:t>
          </a:r>
        </a:p>
      </dsp:txBody>
      <dsp:txXfrm>
        <a:off x="701504" y="1569127"/>
        <a:ext cx="7688294" cy="624276"/>
      </dsp:txXfrm>
    </dsp:sp>
    <dsp:sp modelId="{83A06D65-E54E-4322-AB18-699164D8FE2E}">
      <dsp:nvSpPr>
        <dsp:cNvPr id="0" name=""/>
        <dsp:cNvSpPr/>
      </dsp:nvSpPr>
      <dsp:spPr>
        <a:xfrm>
          <a:off x="-19534" y="2428992"/>
          <a:ext cx="8410744" cy="62427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27AE66-8105-4EDB-AD13-0528B0712AE9}">
      <dsp:nvSpPr>
        <dsp:cNvPr id="0" name=""/>
        <dsp:cNvSpPr/>
      </dsp:nvSpPr>
      <dsp:spPr>
        <a:xfrm>
          <a:off x="169309" y="2489934"/>
          <a:ext cx="343351" cy="343351"/>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ACB851-BCEB-4143-B8D4-3E86830150A9}">
      <dsp:nvSpPr>
        <dsp:cNvPr id="0" name=""/>
        <dsp:cNvSpPr/>
      </dsp:nvSpPr>
      <dsp:spPr>
        <a:xfrm>
          <a:off x="661025" y="2349472"/>
          <a:ext cx="7769252" cy="62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69" tIns="66069" rIns="66069" bIns="66069" numCol="1" spcCol="1270" anchor="ctr" anchorCtr="0">
          <a:noAutofit/>
        </a:bodyPr>
        <a:lstStyle/>
        <a:p>
          <a:pPr marL="0" lvl="0" indent="0" algn="l" defTabSz="889000">
            <a:lnSpc>
              <a:spcPct val="100000"/>
            </a:lnSpc>
            <a:spcBef>
              <a:spcPct val="0"/>
            </a:spcBef>
            <a:spcAft>
              <a:spcPct val="35000"/>
            </a:spcAft>
            <a:buNone/>
          </a:pPr>
          <a:r>
            <a:rPr lang="en-US" sz="2000" kern="1200" dirty="0"/>
            <a:t>Conclusion</a:t>
          </a:r>
        </a:p>
      </dsp:txBody>
      <dsp:txXfrm>
        <a:off x="661025" y="2349472"/>
        <a:ext cx="7769252" cy="624276"/>
      </dsp:txXfrm>
    </dsp:sp>
    <dsp:sp modelId="{14C69781-51A6-4A24-9246-A2485A08A6CC}">
      <dsp:nvSpPr>
        <dsp:cNvPr id="0" name=""/>
        <dsp:cNvSpPr/>
      </dsp:nvSpPr>
      <dsp:spPr>
        <a:xfrm>
          <a:off x="-19534" y="3129817"/>
          <a:ext cx="8410744" cy="62427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94D109-8FCD-498A-84E6-FFE7CDE4F177}">
      <dsp:nvSpPr>
        <dsp:cNvPr id="0" name=""/>
        <dsp:cNvSpPr/>
      </dsp:nvSpPr>
      <dsp:spPr>
        <a:xfrm>
          <a:off x="169309" y="3270279"/>
          <a:ext cx="343351" cy="343351"/>
        </a:xfrm>
        <a:prstGeom prst="rect">
          <a:avLst/>
        </a:prstGeom>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CBEC2E-5B78-42F7-ADFF-5513CCC5CBA2}">
      <dsp:nvSpPr>
        <dsp:cNvPr id="0" name=""/>
        <dsp:cNvSpPr/>
      </dsp:nvSpPr>
      <dsp:spPr>
        <a:xfrm>
          <a:off x="701504" y="3129817"/>
          <a:ext cx="7688294" cy="6242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69" tIns="66069" rIns="66069" bIns="66069" numCol="1" spcCol="1270" anchor="ctr" anchorCtr="0">
          <a:noAutofit/>
        </a:bodyPr>
        <a:lstStyle/>
        <a:p>
          <a:pPr marL="0" lvl="0" indent="0" algn="l" defTabSz="889000">
            <a:lnSpc>
              <a:spcPct val="100000"/>
            </a:lnSpc>
            <a:spcBef>
              <a:spcPct val="0"/>
            </a:spcBef>
            <a:spcAft>
              <a:spcPct val="35000"/>
            </a:spcAft>
            <a:buNone/>
          </a:pPr>
          <a:r>
            <a:rPr lang="en-US" sz="2000" kern="1200" dirty="0"/>
            <a:t>References</a:t>
          </a:r>
        </a:p>
      </dsp:txBody>
      <dsp:txXfrm>
        <a:off x="701504" y="3129817"/>
        <a:ext cx="7688294" cy="6242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44F91A-0073-4D49-83E9-80D21D3F555C}">
      <dsp:nvSpPr>
        <dsp:cNvPr id="0" name=""/>
        <dsp:cNvSpPr/>
      </dsp:nvSpPr>
      <dsp:spPr>
        <a:xfrm>
          <a:off x="0" y="0"/>
          <a:ext cx="102615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45A8BA8A-0F4E-4CDD-8EA2-BB433422CDAD}">
      <dsp:nvSpPr>
        <dsp:cNvPr id="0" name=""/>
        <dsp:cNvSpPr/>
      </dsp:nvSpPr>
      <dsp:spPr>
        <a:xfrm>
          <a:off x="0" y="0"/>
          <a:ext cx="10261599" cy="776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rtl="0">
            <a:lnSpc>
              <a:spcPct val="90000"/>
            </a:lnSpc>
            <a:spcBef>
              <a:spcPct val="0"/>
            </a:spcBef>
            <a:spcAft>
              <a:spcPct val="35000"/>
            </a:spcAft>
            <a:buNone/>
          </a:pPr>
          <a:r>
            <a:rPr lang="en-US" sz="3600" b="0" kern="1200" dirty="0">
              <a:latin typeface="Grandview Display"/>
            </a:rPr>
            <a:t>What is informal economy ?</a:t>
          </a:r>
        </a:p>
      </dsp:txBody>
      <dsp:txXfrm>
        <a:off x="0" y="0"/>
        <a:ext cx="10261599" cy="776936"/>
      </dsp:txXfrm>
    </dsp:sp>
    <dsp:sp modelId="{BABA0650-35CC-49EF-AD28-C85CCD9360F9}">
      <dsp:nvSpPr>
        <dsp:cNvPr id="0" name=""/>
        <dsp:cNvSpPr/>
      </dsp:nvSpPr>
      <dsp:spPr>
        <a:xfrm>
          <a:off x="0" y="776936"/>
          <a:ext cx="102615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81DA8BE5-DD8F-4A37-9429-6E3D951F54E4}">
      <dsp:nvSpPr>
        <dsp:cNvPr id="0" name=""/>
        <dsp:cNvSpPr/>
      </dsp:nvSpPr>
      <dsp:spPr>
        <a:xfrm>
          <a:off x="0" y="776936"/>
          <a:ext cx="10261599" cy="776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rtl="0">
            <a:lnSpc>
              <a:spcPct val="90000"/>
            </a:lnSpc>
            <a:spcBef>
              <a:spcPct val="0"/>
            </a:spcBef>
            <a:spcAft>
              <a:spcPct val="35000"/>
            </a:spcAft>
            <a:buNone/>
          </a:pPr>
          <a:r>
            <a:rPr lang="en-US" sz="3600" kern="1200" dirty="0">
              <a:latin typeface="Grandview Display"/>
            </a:rPr>
            <a:t>What is the importance of informal economy ?</a:t>
          </a:r>
        </a:p>
      </dsp:txBody>
      <dsp:txXfrm>
        <a:off x="0" y="776936"/>
        <a:ext cx="10261599" cy="776936"/>
      </dsp:txXfrm>
    </dsp:sp>
    <dsp:sp modelId="{AC7AAFE8-B1BE-4B0F-9821-DCC1BED5C65C}">
      <dsp:nvSpPr>
        <dsp:cNvPr id="0" name=""/>
        <dsp:cNvSpPr/>
      </dsp:nvSpPr>
      <dsp:spPr>
        <a:xfrm>
          <a:off x="0" y="1553873"/>
          <a:ext cx="102615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F837905B-204E-48AF-80A9-6A49C8636E8B}">
      <dsp:nvSpPr>
        <dsp:cNvPr id="0" name=""/>
        <dsp:cNvSpPr/>
      </dsp:nvSpPr>
      <dsp:spPr>
        <a:xfrm>
          <a:off x="0" y="1553873"/>
          <a:ext cx="10261599" cy="776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rtl="0">
            <a:lnSpc>
              <a:spcPct val="90000"/>
            </a:lnSpc>
            <a:spcBef>
              <a:spcPct val="0"/>
            </a:spcBef>
            <a:spcAft>
              <a:spcPct val="35000"/>
            </a:spcAft>
            <a:buNone/>
          </a:pPr>
          <a:r>
            <a:rPr lang="en-US" sz="3600" kern="1200" dirty="0">
              <a:latin typeface="Grandview Display"/>
            </a:rPr>
            <a:t>What are the Informal economy activities ?</a:t>
          </a:r>
        </a:p>
      </dsp:txBody>
      <dsp:txXfrm>
        <a:off x="0" y="1553873"/>
        <a:ext cx="10261599" cy="776936"/>
      </dsp:txXfrm>
    </dsp:sp>
    <dsp:sp modelId="{2B07DED8-FCA3-4A81-B63C-AF50DC5474C2}">
      <dsp:nvSpPr>
        <dsp:cNvPr id="0" name=""/>
        <dsp:cNvSpPr/>
      </dsp:nvSpPr>
      <dsp:spPr>
        <a:xfrm>
          <a:off x="0" y="2330810"/>
          <a:ext cx="102615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452A7D9C-2DB8-4863-B999-B187E8C5F673}">
      <dsp:nvSpPr>
        <dsp:cNvPr id="0" name=""/>
        <dsp:cNvSpPr/>
      </dsp:nvSpPr>
      <dsp:spPr>
        <a:xfrm>
          <a:off x="0" y="2330810"/>
          <a:ext cx="10261599" cy="776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latin typeface="Grandview Display"/>
            </a:rPr>
            <a:t>Problem statement</a:t>
          </a:r>
        </a:p>
      </dsp:txBody>
      <dsp:txXfrm>
        <a:off x="0" y="2330810"/>
        <a:ext cx="10261599" cy="7769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3C5038-F331-46EB-BE97-23425A4DB979}">
      <dsp:nvSpPr>
        <dsp:cNvPr id="0" name=""/>
        <dsp:cNvSpPr/>
      </dsp:nvSpPr>
      <dsp:spPr>
        <a:xfrm>
          <a:off x="0" y="0"/>
          <a:ext cx="9646726" cy="1103780"/>
        </a:xfrm>
        <a:prstGeom prst="roundRect">
          <a:avLst>
            <a:gd name="adj" fmla="val 10000"/>
          </a:avLst>
        </a:prstGeom>
        <a:solidFill>
          <a:schemeClr val="accent5">
            <a:tint val="5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0A9A0810-0540-420B-ABB6-BAE5100382BF}">
      <dsp:nvSpPr>
        <dsp:cNvPr id="0" name=""/>
        <dsp:cNvSpPr/>
      </dsp:nvSpPr>
      <dsp:spPr>
        <a:xfrm>
          <a:off x="333893" y="248822"/>
          <a:ext cx="607079" cy="607079"/>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dsp:spPr>
      <dsp:style>
        <a:lnRef idx="0">
          <a:scrgbClr r="0" g="0" b="0"/>
        </a:lnRef>
        <a:fillRef idx="3">
          <a:scrgbClr r="0" g="0" b="0"/>
        </a:fillRef>
        <a:effectRef idx="3">
          <a:scrgbClr r="0" g="0" b="0"/>
        </a:effectRef>
        <a:fontRef idx="minor">
          <a:schemeClr val="lt1"/>
        </a:fontRef>
      </dsp:style>
    </dsp:sp>
    <dsp:sp modelId="{033F4D37-50B2-4ECA-AC42-321B1C145AE2}">
      <dsp:nvSpPr>
        <dsp:cNvPr id="0" name=""/>
        <dsp:cNvSpPr/>
      </dsp:nvSpPr>
      <dsp:spPr>
        <a:xfrm>
          <a:off x="1274866" y="471"/>
          <a:ext cx="8371859" cy="1103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17" tIns="116817" rIns="116817" bIns="116817" numCol="1" spcCol="1270" anchor="ctr" anchorCtr="0">
          <a:noAutofit/>
        </a:bodyPr>
        <a:lstStyle/>
        <a:p>
          <a:pPr marL="0" lvl="0" indent="0" algn="l" defTabSz="800100">
            <a:lnSpc>
              <a:spcPct val="100000"/>
            </a:lnSpc>
            <a:spcBef>
              <a:spcPct val="0"/>
            </a:spcBef>
            <a:spcAft>
              <a:spcPct val="35000"/>
            </a:spcAft>
            <a:buNone/>
          </a:pPr>
          <a:r>
            <a:rPr lang="en-US" sz="1800" b="0" kern="1200" dirty="0">
              <a:latin typeface="Arial" panose="020B0604020202020204" pitchFamily="34" charset="0"/>
              <a:cs typeface="Arial" panose="020B0604020202020204" pitchFamily="34" charset="0"/>
            </a:rPr>
            <a:t>“informal sector” Originates from apartheid-era policies by John Keith Hart 1973 while doing his research about Kenya economy.</a:t>
          </a:r>
          <a:endParaRPr lang="en-US" sz="1800" b="0" kern="1200" dirty="0"/>
        </a:p>
      </dsp:txBody>
      <dsp:txXfrm>
        <a:off x="1274866" y="471"/>
        <a:ext cx="8371859" cy="1103780"/>
      </dsp:txXfrm>
    </dsp:sp>
    <dsp:sp modelId="{EBCE6B0D-53A3-4D61-9F7F-F7BB96633A55}">
      <dsp:nvSpPr>
        <dsp:cNvPr id="0" name=""/>
        <dsp:cNvSpPr/>
      </dsp:nvSpPr>
      <dsp:spPr>
        <a:xfrm>
          <a:off x="0" y="1380197"/>
          <a:ext cx="9646726" cy="1103780"/>
        </a:xfrm>
        <a:prstGeom prst="roundRect">
          <a:avLst>
            <a:gd name="adj" fmla="val 10000"/>
          </a:avLst>
        </a:prstGeom>
        <a:solidFill>
          <a:schemeClr val="accent5">
            <a:tint val="5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565F40D3-A6D4-4005-9A18-DE95E2E0704A}">
      <dsp:nvSpPr>
        <dsp:cNvPr id="0" name=""/>
        <dsp:cNvSpPr/>
      </dsp:nvSpPr>
      <dsp:spPr>
        <a:xfrm>
          <a:off x="333893" y="1628547"/>
          <a:ext cx="607079" cy="607079"/>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dsp:spPr>
      <dsp:style>
        <a:lnRef idx="0">
          <a:scrgbClr r="0" g="0" b="0"/>
        </a:lnRef>
        <a:fillRef idx="3">
          <a:scrgbClr r="0" g="0" b="0"/>
        </a:fillRef>
        <a:effectRef idx="3">
          <a:scrgbClr r="0" g="0" b="0"/>
        </a:effectRef>
        <a:fontRef idx="minor">
          <a:schemeClr val="lt1"/>
        </a:fontRef>
      </dsp:style>
    </dsp:sp>
    <dsp:sp modelId="{BE22040D-F3DD-4D55-988A-3E4DAAAD883F}">
      <dsp:nvSpPr>
        <dsp:cNvPr id="0" name=""/>
        <dsp:cNvSpPr/>
      </dsp:nvSpPr>
      <dsp:spPr>
        <a:xfrm>
          <a:off x="1274866" y="1380197"/>
          <a:ext cx="8371859" cy="1103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17" tIns="116817" rIns="116817" bIns="116817" numCol="1" spcCol="1270" anchor="ctr" anchorCtr="0">
          <a:noAutofit/>
        </a:bodyPr>
        <a:lstStyle/>
        <a:p>
          <a:pPr marL="0" lvl="0" indent="0" algn="l" defTabSz="711200">
            <a:lnSpc>
              <a:spcPct val="100000"/>
            </a:lnSpc>
            <a:spcBef>
              <a:spcPct val="0"/>
            </a:spcBef>
            <a:spcAft>
              <a:spcPct val="35000"/>
            </a:spcAft>
            <a:buNone/>
          </a:pPr>
          <a:r>
            <a:rPr lang="en-US" sz="1600" b="0" kern="1200" dirty="0">
              <a:latin typeface="Arial" panose="020B0604020202020204" pitchFamily="34" charset="0"/>
              <a:cs typeface="Arial" panose="020B0604020202020204" pitchFamily="34" charset="0"/>
            </a:rPr>
            <a:t>Current structure, after nearly two decades since the ending of apartheid colonialism, poverty, unemployment, inequality, and environmental degradation remain persistent problems South Africa (Kantor, 1999)</a:t>
          </a:r>
          <a:endParaRPr lang="en-US" sz="1600" b="0" kern="1200" dirty="0"/>
        </a:p>
      </dsp:txBody>
      <dsp:txXfrm>
        <a:off x="1274866" y="1380197"/>
        <a:ext cx="8371859" cy="1103780"/>
      </dsp:txXfrm>
    </dsp:sp>
    <dsp:sp modelId="{3A9484F3-4529-4E4E-98AF-C558AE01CEC9}">
      <dsp:nvSpPr>
        <dsp:cNvPr id="0" name=""/>
        <dsp:cNvSpPr/>
      </dsp:nvSpPr>
      <dsp:spPr>
        <a:xfrm>
          <a:off x="0" y="2759922"/>
          <a:ext cx="9646726" cy="1103780"/>
        </a:xfrm>
        <a:prstGeom prst="roundRect">
          <a:avLst>
            <a:gd name="adj" fmla="val 10000"/>
          </a:avLst>
        </a:prstGeom>
        <a:solidFill>
          <a:schemeClr val="accent5">
            <a:tint val="5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A912AB4-7257-411F-B4E8-81F2804500F3}">
      <dsp:nvSpPr>
        <dsp:cNvPr id="0" name=""/>
        <dsp:cNvSpPr/>
      </dsp:nvSpPr>
      <dsp:spPr>
        <a:xfrm>
          <a:off x="333893" y="3008273"/>
          <a:ext cx="607079" cy="607079"/>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dsp:spPr>
      <dsp:style>
        <a:lnRef idx="0">
          <a:scrgbClr r="0" g="0" b="0"/>
        </a:lnRef>
        <a:fillRef idx="3">
          <a:scrgbClr r="0" g="0" b="0"/>
        </a:fillRef>
        <a:effectRef idx="3">
          <a:scrgbClr r="0" g="0" b="0"/>
        </a:effectRef>
        <a:fontRef idx="minor">
          <a:schemeClr val="lt1"/>
        </a:fontRef>
      </dsp:style>
    </dsp:sp>
    <dsp:sp modelId="{B0D2256E-1341-4A51-9C76-190DFC12003E}">
      <dsp:nvSpPr>
        <dsp:cNvPr id="0" name=""/>
        <dsp:cNvSpPr/>
      </dsp:nvSpPr>
      <dsp:spPr>
        <a:xfrm>
          <a:off x="1274866" y="2759922"/>
          <a:ext cx="8371859" cy="1103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817" tIns="116817" rIns="116817" bIns="116817" numCol="1" spcCol="1270" anchor="ctr" anchorCtr="0">
          <a:noAutofit/>
        </a:bodyPr>
        <a:lstStyle/>
        <a:p>
          <a:pPr marL="0" lvl="0" indent="0" algn="l" defTabSz="711200">
            <a:lnSpc>
              <a:spcPct val="100000"/>
            </a:lnSpc>
            <a:spcBef>
              <a:spcPct val="0"/>
            </a:spcBef>
            <a:spcAft>
              <a:spcPct val="35000"/>
            </a:spcAft>
            <a:buNone/>
          </a:pPr>
          <a:r>
            <a:rPr lang="en-US" sz="1600" b="0" kern="1200" dirty="0">
              <a:solidFill>
                <a:schemeClr val="tx1"/>
              </a:solidFill>
              <a:latin typeface="Arial" panose="020B0604020202020204" pitchFamily="34" charset="0"/>
              <a:cs typeface="Arial" panose="020B0604020202020204" pitchFamily="34" charset="0"/>
            </a:rPr>
            <a:t>Most South African countries gained political independence in the 1950s and 1970s and South Africa became politically independent in 1994(</a:t>
          </a:r>
          <a:r>
            <a:rPr lang="en-ZA" sz="1600" b="0" kern="1200" dirty="0">
              <a:solidFill>
                <a:schemeClr val="tx1"/>
              </a:solidFill>
              <a:latin typeface="Arial" panose="020B0604020202020204" pitchFamily="34" charset="0"/>
              <a:cs typeface="Arial" panose="020B0604020202020204" pitchFamily="34" charset="0"/>
            </a:rPr>
            <a:t>Ntuli, 2020)</a:t>
          </a:r>
        </a:p>
      </dsp:txBody>
      <dsp:txXfrm>
        <a:off x="1274866" y="2759922"/>
        <a:ext cx="8371859" cy="11037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E071F-A62A-4264-9472-F87653A07D27}">
      <dsp:nvSpPr>
        <dsp:cNvPr id="0" name=""/>
        <dsp:cNvSpPr/>
      </dsp:nvSpPr>
      <dsp:spPr>
        <a:xfrm>
          <a:off x="0" y="1603"/>
          <a:ext cx="4828030"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468BACFC-3A1D-485A-8C6A-E5E90CCA3C09}">
      <dsp:nvSpPr>
        <dsp:cNvPr id="0" name=""/>
        <dsp:cNvSpPr/>
      </dsp:nvSpPr>
      <dsp:spPr>
        <a:xfrm>
          <a:off x="0" y="1603"/>
          <a:ext cx="4823315" cy="3285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150000"/>
            </a:lnSpc>
            <a:spcBef>
              <a:spcPct val="0"/>
            </a:spcBef>
            <a:spcAft>
              <a:spcPct val="35000"/>
            </a:spcAft>
            <a:buNone/>
          </a:pPr>
          <a:r>
            <a:rPr lang="en-US" sz="1400" b="0" kern="1200" dirty="0">
              <a:latin typeface="Arial" panose="020B0604020202020204" pitchFamily="34" charset="0"/>
              <a:cs typeface="Arial" panose="020B0604020202020204" pitchFamily="34" charset="0"/>
            </a:rPr>
            <a:t>According to </a:t>
          </a:r>
          <a:r>
            <a:rPr lang="en-ZA" sz="1400" b="0" kern="1200" dirty="0">
              <a:latin typeface="Arial" panose="020B0604020202020204" pitchFamily="34" charset="0"/>
              <a:cs typeface="Arial" panose="020B0604020202020204" pitchFamily="34" charset="0"/>
            </a:rPr>
            <a:t>Tokman state that it's an</a:t>
          </a:r>
          <a:r>
            <a:rPr lang="en-US" sz="1400" b="0" kern="1200" dirty="0">
              <a:latin typeface="Arial" panose="020B0604020202020204" pitchFamily="34" charset="0"/>
              <a:cs typeface="Arial" panose="020B0604020202020204" pitchFamily="34" charset="0"/>
            </a:rPr>
            <a:t> economic activities that have market value and that is neither tax or registered by the government, often operate outside the formal labour market (1980). </a:t>
          </a:r>
        </a:p>
        <a:p>
          <a:pPr marL="0" lvl="0" indent="0" algn="l" defTabSz="622300">
            <a:lnSpc>
              <a:spcPct val="90000"/>
            </a:lnSpc>
            <a:spcBef>
              <a:spcPct val="0"/>
            </a:spcBef>
            <a:spcAft>
              <a:spcPct val="35000"/>
            </a:spcAft>
            <a:buNone/>
          </a:pPr>
          <a:endParaRPr lang="en-US" sz="1400" b="0" kern="1200" dirty="0">
            <a:latin typeface="Arial" panose="020B0604020202020204" pitchFamily="34" charset="0"/>
            <a:cs typeface="Arial" panose="020B0604020202020204" pitchFamily="34" charset="0"/>
          </a:endParaRPr>
        </a:p>
        <a:p>
          <a:pPr marL="0" lvl="0" indent="0" algn="l" defTabSz="622300">
            <a:lnSpc>
              <a:spcPct val="90000"/>
            </a:lnSpc>
            <a:spcBef>
              <a:spcPct val="0"/>
            </a:spcBef>
            <a:spcAft>
              <a:spcPct val="35000"/>
            </a:spcAft>
            <a:buNone/>
          </a:pPr>
          <a:r>
            <a:rPr lang="en-US" sz="1400" b="0" kern="1200" dirty="0">
              <a:latin typeface="Arial" panose="020B0604020202020204" pitchFamily="34" charset="0"/>
              <a:cs typeface="Arial" panose="020B0604020202020204" pitchFamily="34" charset="0"/>
            </a:rPr>
            <a:t>Activities of informal economy:</a:t>
          </a:r>
        </a:p>
        <a:p>
          <a:pPr marL="0" lvl="0" indent="0" algn="l" defTabSz="622300">
            <a:lnSpc>
              <a:spcPct val="90000"/>
            </a:lnSpc>
            <a:spcBef>
              <a:spcPct val="0"/>
            </a:spcBef>
            <a:spcAft>
              <a:spcPct val="35000"/>
            </a:spcAft>
            <a:buNone/>
          </a:pPr>
          <a:r>
            <a:rPr lang="en-ZA" sz="1400" b="0" i="0" kern="1200" dirty="0">
              <a:latin typeface="Arial" panose="020B0604020202020204" pitchFamily="34" charset="0"/>
              <a:cs typeface="Arial" panose="020B0604020202020204" pitchFamily="34" charset="0"/>
            </a:rPr>
            <a:t>.</a:t>
          </a:r>
        </a:p>
        <a:p>
          <a:pPr marL="0" lvl="0" indent="0" algn="l" defTabSz="622300">
            <a:lnSpc>
              <a:spcPct val="90000"/>
            </a:lnSpc>
            <a:spcBef>
              <a:spcPct val="0"/>
            </a:spcBef>
            <a:spcAft>
              <a:spcPct val="35000"/>
            </a:spcAft>
            <a:buFont typeface="Arial" panose="020B0604020202020204" pitchFamily="34" charset="0"/>
            <a:buNone/>
          </a:pPr>
          <a:r>
            <a:rPr lang="en-US" sz="1600" b="0" i="0" kern="1200" dirty="0">
              <a:latin typeface="Arial" panose="020B0604020202020204" pitchFamily="34" charset="0"/>
              <a:cs typeface="Arial" panose="020B0604020202020204" pitchFamily="34" charset="0"/>
            </a:rPr>
            <a:t> Home-Based Workers (Domestic Workers)</a:t>
          </a:r>
        </a:p>
        <a:p>
          <a:pPr marL="0" lvl="0" indent="0" algn="l" defTabSz="622300">
            <a:lnSpc>
              <a:spcPct val="90000"/>
            </a:lnSpc>
            <a:spcBef>
              <a:spcPct val="0"/>
            </a:spcBef>
            <a:spcAft>
              <a:spcPct val="35000"/>
            </a:spcAft>
            <a:buFont typeface="Arial" panose="020B0604020202020204" pitchFamily="34" charset="0"/>
            <a:buNone/>
          </a:pPr>
          <a:r>
            <a:rPr lang="en-ZA" sz="1600" b="0" i="0" kern="1200" dirty="0">
              <a:latin typeface="Arial" panose="020B0604020202020204" pitchFamily="34" charset="0"/>
              <a:cs typeface="Arial" panose="020B0604020202020204" pitchFamily="34" charset="0"/>
            </a:rPr>
            <a:t> Street Vendors.</a:t>
          </a:r>
        </a:p>
        <a:p>
          <a:pPr marL="0" lvl="0" indent="0" algn="l" defTabSz="622300">
            <a:lnSpc>
              <a:spcPct val="90000"/>
            </a:lnSpc>
            <a:spcBef>
              <a:spcPct val="0"/>
            </a:spcBef>
            <a:spcAft>
              <a:spcPct val="35000"/>
            </a:spcAft>
            <a:buFont typeface="Arial" panose="020B0604020202020204" pitchFamily="34" charset="0"/>
            <a:buNone/>
          </a:pPr>
          <a:r>
            <a:rPr lang="en-ZA" sz="1600" b="0" i="0" kern="1200" dirty="0">
              <a:latin typeface="Arial" panose="020B0604020202020204" pitchFamily="34" charset="0"/>
              <a:cs typeface="Arial" panose="020B0604020202020204" pitchFamily="34" charset="0"/>
            </a:rPr>
            <a:t> Waste Pickers.</a:t>
          </a:r>
        </a:p>
        <a:p>
          <a:pPr marL="0" lvl="0" indent="0" algn="l" defTabSz="622300">
            <a:lnSpc>
              <a:spcPct val="90000"/>
            </a:lnSpc>
            <a:spcBef>
              <a:spcPct val="0"/>
            </a:spcBef>
            <a:spcAft>
              <a:spcPct val="35000"/>
            </a:spcAft>
            <a:buFont typeface="Arial" panose="020B0604020202020204" pitchFamily="34" charset="0"/>
            <a:buNone/>
          </a:pPr>
          <a:r>
            <a:rPr lang="en-ZA" sz="1600" b="0" kern="1200" dirty="0">
              <a:latin typeface="Arial" panose="020B0604020202020204" pitchFamily="34" charset="0"/>
              <a:cs typeface="Arial" panose="020B0604020202020204" pitchFamily="34" charset="0"/>
            </a:rPr>
            <a:t> </a:t>
          </a:r>
          <a:r>
            <a:rPr lang="en-US" sz="1600" b="0" kern="1200" dirty="0">
              <a:latin typeface="Arial" panose="020B0604020202020204" pitchFamily="34" charset="0"/>
              <a:cs typeface="Arial" panose="020B0604020202020204" pitchFamily="34" charset="0"/>
            </a:rPr>
            <a:t>Informal transportation (e.g., unregistered taxis)</a:t>
          </a:r>
          <a:endParaRPr lang="en-ZA" sz="1600" b="0" kern="1200" dirty="0">
            <a:latin typeface="Arial" panose="020B0604020202020204" pitchFamily="34" charset="0"/>
            <a:cs typeface="Arial" panose="020B0604020202020204" pitchFamily="34" charset="0"/>
          </a:endParaRPr>
        </a:p>
      </dsp:txBody>
      <dsp:txXfrm>
        <a:off x="0" y="1603"/>
        <a:ext cx="4823315" cy="32857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FE441B-BB1C-49FC-AC1D-F67610F2099F}">
      <dsp:nvSpPr>
        <dsp:cNvPr id="0" name=""/>
        <dsp:cNvSpPr/>
      </dsp:nvSpPr>
      <dsp:spPr>
        <a:xfrm>
          <a:off x="2286266" y="52904"/>
          <a:ext cx="1275836" cy="9830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819EA6-FE4C-4672-812A-0FC1F06B0259}">
      <dsp:nvSpPr>
        <dsp:cNvPr id="0" name=""/>
        <dsp:cNvSpPr/>
      </dsp:nvSpPr>
      <dsp:spPr>
        <a:xfrm>
          <a:off x="810799" y="1312851"/>
          <a:ext cx="4320000" cy="1151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pPr>
          <a:r>
            <a:rPr lang="en-GB" sz="1900" kern="1200" dirty="0"/>
            <a:t>This research aim to develop strategies to formalize the informal economy in South Africa</a:t>
          </a:r>
          <a:endParaRPr lang="en-US" sz="1900" kern="1200" dirty="0"/>
        </a:p>
      </dsp:txBody>
      <dsp:txXfrm>
        <a:off x="810799" y="1312851"/>
        <a:ext cx="4320000" cy="1151611"/>
      </dsp:txXfrm>
    </dsp:sp>
    <dsp:sp modelId="{5B47D279-FAC3-4399-9CFA-6AF8B8D009D4}">
      <dsp:nvSpPr>
        <dsp:cNvPr id="0" name=""/>
        <dsp:cNvSpPr/>
      </dsp:nvSpPr>
      <dsp:spPr>
        <a:xfrm>
          <a:off x="7187827" y="376778"/>
          <a:ext cx="961945" cy="5126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DA8F3A-D8FC-4F5A-BBD6-7A0F74149EB2}">
      <dsp:nvSpPr>
        <dsp:cNvPr id="0" name=""/>
        <dsp:cNvSpPr/>
      </dsp:nvSpPr>
      <dsp:spPr>
        <a:xfrm>
          <a:off x="5534201" y="1318546"/>
          <a:ext cx="4320000" cy="1525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pPr>
          <a:r>
            <a:rPr lang="en-GB" sz="1900" b="1" kern="1200" dirty="0"/>
            <a:t>Goals:</a:t>
          </a:r>
          <a:r>
            <a:rPr lang="en-GB" sz="1900" kern="1200" dirty="0"/>
            <a:t> Enhance economic growth, employment, and tax revenue; ensure social security for informal workers</a:t>
          </a:r>
          <a:endParaRPr lang="en-US" sz="1900" kern="1200" dirty="0"/>
        </a:p>
      </dsp:txBody>
      <dsp:txXfrm>
        <a:off x="5534201" y="1318546"/>
        <a:ext cx="4320000" cy="152518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4A11F4-62BB-481C-8236-0921DFB1C018}">
      <dsp:nvSpPr>
        <dsp:cNvPr id="0" name=""/>
        <dsp:cNvSpPr/>
      </dsp:nvSpPr>
      <dsp:spPr>
        <a:xfrm>
          <a:off x="0" y="348981"/>
          <a:ext cx="8147059" cy="478800"/>
        </a:xfrm>
        <a:prstGeom prst="rect">
          <a:avLst/>
        </a:prstGeom>
        <a:solidFill>
          <a:schemeClr val="bg1">
            <a:lumMod val="75000"/>
            <a:alpha val="9000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98A1CDC-3DBC-40C4-A4E5-7FBDB01ABE8A}">
      <dsp:nvSpPr>
        <dsp:cNvPr id="0" name=""/>
        <dsp:cNvSpPr/>
      </dsp:nvSpPr>
      <dsp:spPr>
        <a:xfrm>
          <a:off x="407352" y="68541"/>
          <a:ext cx="6112868" cy="560880"/>
        </a:xfrm>
        <a:prstGeom prst="roundRect">
          <a:avLst/>
        </a:prstGeom>
        <a:solidFill>
          <a:schemeClr val="accent2">
            <a:lumMod val="60000"/>
            <a:lumOff val="40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558" tIns="0" rIns="215558" bIns="0" numCol="1" spcCol="1270" anchor="ctr" anchorCtr="0">
          <a:noAutofit/>
        </a:bodyPr>
        <a:lstStyle/>
        <a:p>
          <a:pPr marL="0" lvl="0" indent="0" algn="l" defTabSz="844550">
            <a:lnSpc>
              <a:spcPct val="90000"/>
            </a:lnSpc>
            <a:spcBef>
              <a:spcPct val="0"/>
            </a:spcBef>
            <a:spcAft>
              <a:spcPct val="35000"/>
            </a:spcAft>
            <a:buNone/>
          </a:pPr>
          <a:r>
            <a:rPr lang="en-ZA" sz="1900" kern="1200" dirty="0">
              <a:solidFill>
                <a:schemeClr val="tx1"/>
              </a:solidFill>
            </a:rPr>
            <a:t>What is the current state and structure of the informal economy in South Africa?</a:t>
          </a:r>
          <a:endParaRPr lang="en-US" sz="1900" kern="1200" dirty="0">
            <a:solidFill>
              <a:schemeClr val="tx1"/>
            </a:solidFill>
          </a:endParaRPr>
        </a:p>
      </dsp:txBody>
      <dsp:txXfrm>
        <a:off x="434732" y="95921"/>
        <a:ext cx="6058108" cy="506120"/>
      </dsp:txXfrm>
    </dsp:sp>
    <dsp:sp modelId="{91783923-5616-4B12-9A77-DAC22751619B}">
      <dsp:nvSpPr>
        <dsp:cNvPr id="0" name=""/>
        <dsp:cNvSpPr/>
      </dsp:nvSpPr>
      <dsp:spPr>
        <a:xfrm>
          <a:off x="0" y="1210821"/>
          <a:ext cx="8147059" cy="478800"/>
        </a:xfrm>
        <a:prstGeom prst="rect">
          <a:avLst/>
        </a:prstGeom>
        <a:solidFill>
          <a:schemeClr val="bg1">
            <a:lumMod val="75000"/>
            <a:alpha val="9000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896CA0A-45C5-4222-9957-F492469F0687}">
      <dsp:nvSpPr>
        <dsp:cNvPr id="0" name=""/>
        <dsp:cNvSpPr/>
      </dsp:nvSpPr>
      <dsp:spPr>
        <a:xfrm>
          <a:off x="407352" y="930381"/>
          <a:ext cx="6207480" cy="560880"/>
        </a:xfrm>
        <a:prstGeom prst="roundRect">
          <a:avLst/>
        </a:prstGeom>
        <a:solidFill>
          <a:schemeClr val="accent2">
            <a:lumMod val="60000"/>
            <a:lumOff val="40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558" tIns="0" rIns="215558" bIns="0"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1"/>
              </a:solidFill>
            </a:rPr>
            <a:t>What demographic factors, most associated with labors in the informal economy?</a:t>
          </a:r>
        </a:p>
      </dsp:txBody>
      <dsp:txXfrm>
        <a:off x="434732" y="957761"/>
        <a:ext cx="6152720" cy="506120"/>
      </dsp:txXfrm>
    </dsp:sp>
    <dsp:sp modelId="{CFEFBB13-F478-4100-A8EE-F60531878F9A}">
      <dsp:nvSpPr>
        <dsp:cNvPr id="0" name=""/>
        <dsp:cNvSpPr/>
      </dsp:nvSpPr>
      <dsp:spPr>
        <a:xfrm>
          <a:off x="0" y="2072661"/>
          <a:ext cx="8147059" cy="478800"/>
        </a:xfrm>
        <a:prstGeom prst="rect">
          <a:avLst/>
        </a:prstGeom>
        <a:solidFill>
          <a:schemeClr val="bg1">
            <a:lumMod val="75000"/>
            <a:alpha val="9000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908E18E-AB28-446E-BBB1-9039635D544F}">
      <dsp:nvSpPr>
        <dsp:cNvPr id="0" name=""/>
        <dsp:cNvSpPr/>
      </dsp:nvSpPr>
      <dsp:spPr>
        <a:xfrm>
          <a:off x="407352" y="1792221"/>
          <a:ext cx="6181931" cy="560880"/>
        </a:xfrm>
        <a:prstGeom prst="roundRect">
          <a:avLst/>
        </a:prstGeom>
        <a:solidFill>
          <a:schemeClr val="accent2">
            <a:lumMod val="60000"/>
            <a:lumOff val="40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558" tIns="0" rIns="215558" bIns="0"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1"/>
              </a:solidFill>
            </a:rPr>
            <a:t>Which sectors of the informal economy contribute most to economic growth?</a:t>
          </a:r>
        </a:p>
      </dsp:txBody>
      <dsp:txXfrm>
        <a:off x="434732" y="1819601"/>
        <a:ext cx="6127171" cy="506120"/>
      </dsp:txXfrm>
    </dsp:sp>
    <dsp:sp modelId="{D86D5114-AA2B-47EA-8087-74BC58B2C6CD}">
      <dsp:nvSpPr>
        <dsp:cNvPr id="0" name=""/>
        <dsp:cNvSpPr/>
      </dsp:nvSpPr>
      <dsp:spPr>
        <a:xfrm>
          <a:off x="0" y="2934501"/>
          <a:ext cx="8147059" cy="478800"/>
        </a:xfrm>
        <a:prstGeom prst="rect">
          <a:avLst/>
        </a:prstGeom>
        <a:solidFill>
          <a:schemeClr val="bg1">
            <a:lumMod val="75000"/>
            <a:alpha val="9000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80CFFA0-4986-4403-B37C-F74E69567DFD}">
      <dsp:nvSpPr>
        <dsp:cNvPr id="0" name=""/>
        <dsp:cNvSpPr/>
      </dsp:nvSpPr>
      <dsp:spPr>
        <a:xfrm>
          <a:off x="407352" y="2654061"/>
          <a:ext cx="6207423" cy="560880"/>
        </a:xfrm>
        <a:prstGeom prst="roundRect">
          <a:avLst/>
        </a:prstGeom>
        <a:solidFill>
          <a:schemeClr val="accent2">
            <a:lumMod val="60000"/>
            <a:lumOff val="4000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558" tIns="0" rIns="215558" bIns="0"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1"/>
              </a:solidFill>
            </a:rPr>
            <a:t>What is the role of government policy in regulating or supporting the informal </a:t>
          </a:r>
        </a:p>
      </dsp:txBody>
      <dsp:txXfrm>
        <a:off x="434732" y="2681441"/>
        <a:ext cx="6152663" cy="5061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3C9D68-8DB7-47DF-992F-52F70C525BFC}">
      <dsp:nvSpPr>
        <dsp:cNvPr id="0" name=""/>
        <dsp:cNvSpPr/>
      </dsp:nvSpPr>
      <dsp:spPr>
        <a:xfrm>
          <a:off x="-96011" y="537025"/>
          <a:ext cx="10261599" cy="82589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2ABDF0-5AB0-48A4-B5B1-B0509516249D}">
      <dsp:nvSpPr>
        <dsp:cNvPr id="0" name=""/>
        <dsp:cNvSpPr/>
      </dsp:nvSpPr>
      <dsp:spPr>
        <a:xfrm>
          <a:off x="121040" y="601613"/>
          <a:ext cx="661382" cy="661382"/>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8268E3-2643-4945-A9EB-2611C263CEB7}">
      <dsp:nvSpPr>
        <dsp:cNvPr id="0" name=""/>
        <dsp:cNvSpPr/>
      </dsp:nvSpPr>
      <dsp:spPr>
        <a:xfrm>
          <a:off x="990514" y="347313"/>
          <a:ext cx="8869979" cy="12025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66" tIns="127266" rIns="127266" bIns="127266" numCol="1" spcCol="1270" anchor="ctr" anchorCtr="0">
          <a:noAutofit/>
        </a:bodyPr>
        <a:lstStyle/>
        <a:p>
          <a:pPr marL="0" lvl="0" indent="0" algn="l" defTabSz="755650">
            <a:lnSpc>
              <a:spcPct val="100000"/>
            </a:lnSpc>
            <a:spcBef>
              <a:spcPct val="0"/>
            </a:spcBef>
            <a:spcAft>
              <a:spcPct val="35000"/>
            </a:spcAft>
            <a:buNone/>
          </a:pPr>
          <a:r>
            <a:rPr lang="en-US" sz="1700" kern="1200" dirty="0">
              <a:latin typeface="Arial" panose="020B0604020202020204" pitchFamily="34" charset="0"/>
              <a:cs typeface="Arial" panose="020B0604020202020204" pitchFamily="34" charset="0"/>
            </a:rPr>
            <a:t>Primary objective of this study is to assess the impact and contribution of the informal economy on economic growth within South Africa's labor market</a:t>
          </a:r>
        </a:p>
      </dsp:txBody>
      <dsp:txXfrm>
        <a:off x="990514" y="347313"/>
        <a:ext cx="8869979" cy="1202513"/>
      </dsp:txXfrm>
    </dsp:sp>
    <dsp:sp modelId="{BE9A2C64-7D92-4339-A990-78C4D4D728BF}">
      <dsp:nvSpPr>
        <dsp:cNvPr id="0" name=""/>
        <dsp:cNvSpPr/>
      </dsp:nvSpPr>
      <dsp:spPr>
        <a:xfrm>
          <a:off x="-96011" y="2148618"/>
          <a:ext cx="10261599" cy="96603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AF663E-18DA-49B1-9BA1-C7F8E30B3C1A}">
      <dsp:nvSpPr>
        <dsp:cNvPr id="0" name=""/>
        <dsp:cNvSpPr/>
      </dsp:nvSpPr>
      <dsp:spPr>
        <a:xfrm>
          <a:off x="121040" y="2250885"/>
          <a:ext cx="661382" cy="661382"/>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D10B77-6C58-46F0-A54E-4D343DA2AEBE}">
      <dsp:nvSpPr>
        <dsp:cNvPr id="0" name=""/>
        <dsp:cNvSpPr/>
      </dsp:nvSpPr>
      <dsp:spPr>
        <a:xfrm>
          <a:off x="886513" y="2026852"/>
          <a:ext cx="9259460" cy="12025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66" tIns="127266" rIns="127266" bIns="127266" numCol="1" spcCol="1270" anchor="ctr" anchorCtr="0">
          <a:noAutofit/>
        </a:bodyPr>
        <a:lstStyle/>
        <a:p>
          <a:pPr marL="0" lvl="0" indent="0" algn="l" defTabSz="755650" rtl="0">
            <a:lnSpc>
              <a:spcPct val="100000"/>
            </a:lnSpc>
            <a:spcBef>
              <a:spcPct val="0"/>
            </a:spcBef>
            <a:spcAft>
              <a:spcPct val="35000"/>
            </a:spcAft>
            <a:buNone/>
          </a:pPr>
          <a:r>
            <a:rPr lang="en-US" sz="1700" kern="1200" dirty="0">
              <a:solidFill>
                <a:srgbClr val="000000"/>
              </a:solidFill>
              <a:latin typeface="Arial"/>
              <a:cs typeface="Arial"/>
            </a:rPr>
            <a:t>To analyze demographic and geographic factors affecting informal sector participation and
to identify the role of the informal economy in job creation for labours and poverty reduction</a:t>
          </a:r>
          <a:endParaRPr lang="en-US" sz="1700" kern="1200" dirty="0"/>
        </a:p>
      </dsp:txBody>
      <dsp:txXfrm>
        <a:off x="886513" y="2026852"/>
        <a:ext cx="9259460" cy="120251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6AE5AB-0C98-4EA6-920F-FC455E4AFA0E}">
      <dsp:nvSpPr>
        <dsp:cNvPr id="0" name=""/>
        <dsp:cNvSpPr/>
      </dsp:nvSpPr>
      <dsp:spPr>
        <a:xfrm>
          <a:off x="0" y="170245"/>
          <a:ext cx="10057364" cy="28047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4FF6D9-36A2-457D-9E5E-8A9A102AEE34}">
      <dsp:nvSpPr>
        <dsp:cNvPr id="0" name=""/>
        <dsp:cNvSpPr/>
      </dsp:nvSpPr>
      <dsp:spPr>
        <a:xfrm>
          <a:off x="186884" y="140588"/>
          <a:ext cx="339789" cy="3397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54F5783-C392-4AFD-856E-E6AF906BFFC8}">
      <dsp:nvSpPr>
        <dsp:cNvPr id="0" name=""/>
        <dsp:cNvSpPr/>
      </dsp:nvSpPr>
      <dsp:spPr>
        <a:xfrm>
          <a:off x="713558" y="1583"/>
          <a:ext cx="9343805" cy="617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84" tIns="65384" rIns="65384" bIns="65384" numCol="1" spcCol="1270" anchor="ctr" anchorCtr="0">
          <a:noAutofit/>
        </a:bodyPr>
        <a:lstStyle/>
        <a:p>
          <a:pPr marL="0" lvl="0" indent="0" algn="l" defTabSz="889000">
            <a:lnSpc>
              <a:spcPct val="90000"/>
            </a:lnSpc>
            <a:spcBef>
              <a:spcPct val="0"/>
            </a:spcBef>
            <a:spcAft>
              <a:spcPct val="35000"/>
            </a:spcAft>
            <a:buNone/>
          </a:pPr>
          <a:r>
            <a:rPr lang="en-US" sz="2000" b="1" kern="1200" dirty="0"/>
            <a:t>Data source</a:t>
          </a:r>
          <a:endParaRPr lang="en-US" sz="2000" kern="1200" dirty="0"/>
        </a:p>
      </dsp:txBody>
      <dsp:txXfrm>
        <a:off x="713558" y="1583"/>
        <a:ext cx="9343805" cy="617799"/>
      </dsp:txXfrm>
    </dsp:sp>
    <dsp:sp modelId="{779F5025-0127-45B0-BB3E-40F47BA231C5}">
      <dsp:nvSpPr>
        <dsp:cNvPr id="0" name=""/>
        <dsp:cNvSpPr/>
      </dsp:nvSpPr>
      <dsp:spPr>
        <a:xfrm>
          <a:off x="0" y="773832"/>
          <a:ext cx="10057364" cy="111908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603C03-B927-4DF0-9720-AE57F593E915}">
      <dsp:nvSpPr>
        <dsp:cNvPr id="0" name=""/>
        <dsp:cNvSpPr/>
      </dsp:nvSpPr>
      <dsp:spPr>
        <a:xfrm>
          <a:off x="186884" y="1163481"/>
          <a:ext cx="339789" cy="3397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B502FF-BA00-4321-8444-1EA43D6FED13}">
      <dsp:nvSpPr>
        <dsp:cNvPr id="0" name=""/>
        <dsp:cNvSpPr/>
      </dsp:nvSpPr>
      <dsp:spPr>
        <a:xfrm>
          <a:off x="713558" y="895622"/>
          <a:ext cx="9343805" cy="8755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84" tIns="65384" rIns="65384" bIns="65384" numCol="1" spcCol="1270" anchor="ctr" anchorCtr="0">
          <a:noAutofit/>
        </a:bodyPr>
        <a:lstStyle/>
        <a:p>
          <a:pPr marL="0" lvl="0" indent="0" algn="l" defTabSz="711200">
            <a:lnSpc>
              <a:spcPct val="90000"/>
            </a:lnSpc>
            <a:spcBef>
              <a:spcPct val="0"/>
            </a:spcBef>
            <a:spcAft>
              <a:spcPct val="35000"/>
            </a:spcAft>
            <a:buNone/>
          </a:pPr>
          <a:r>
            <a:rPr lang="en-US" sz="1600" kern="1200" dirty="0"/>
            <a:t>This research will look at secondary real-world dataset of QLFS, dataset was found from StatsSA (Quarterly Labor Force Survey) of Q4:2023. This survey present sample size of approximately 30,000 households.</a:t>
          </a:r>
        </a:p>
      </dsp:txBody>
      <dsp:txXfrm>
        <a:off x="713558" y="895622"/>
        <a:ext cx="9343805" cy="875508"/>
      </dsp:txXfrm>
    </dsp:sp>
    <dsp:sp modelId="{40CDAC5D-2F4E-44EB-BD7C-CE2672709A54}">
      <dsp:nvSpPr>
        <dsp:cNvPr id="0" name=""/>
        <dsp:cNvSpPr/>
      </dsp:nvSpPr>
      <dsp:spPr>
        <a:xfrm>
          <a:off x="0" y="2188058"/>
          <a:ext cx="10057364" cy="336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790BCC-487D-44B7-988A-69706A4DEFEA}">
      <dsp:nvSpPr>
        <dsp:cNvPr id="0" name=""/>
        <dsp:cNvSpPr/>
      </dsp:nvSpPr>
      <dsp:spPr>
        <a:xfrm>
          <a:off x="184233" y="2186375"/>
          <a:ext cx="339789" cy="3397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0856E5-EC2D-49A7-A192-F7425026DAE6}">
      <dsp:nvSpPr>
        <dsp:cNvPr id="0" name=""/>
        <dsp:cNvSpPr/>
      </dsp:nvSpPr>
      <dsp:spPr>
        <a:xfrm>
          <a:off x="713558" y="2156724"/>
          <a:ext cx="9343805" cy="399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84" tIns="65384" rIns="65384" bIns="65384" numCol="1" spcCol="1270" anchor="ctr" anchorCtr="0">
          <a:noAutofit/>
        </a:bodyPr>
        <a:lstStyle/>
        <a:p>
          <a:pPr marL="0" lvl="0" indent="0" algn="l" defTabSz="889000">
            <a:lnSpc>
              <a:spcPct val="90000"/>
            </a:lnSpc>
            <a:spcBef>
              <a:spcPct val="0"/>
            </a:spcBef>
            <a:spcAft>
              <a:spcPct val="35000"/>
            </a:spcAft>
            <a:buNone/>
          </a:pPr>
          <a:r>
            <a:rPr lang="en-GB" sz="2000" b="1" kern="1200" dirty="0"/>
            <a:t>Research Design:</a:t>
          </a:r>
          <a:endParaRPr lang="en-US" sz="2000" kern="1200" dirty="0"/>
        </a:p>
      </dsp:txBody>
      <dsp:txXfrm>
        <a:off x="713558" y="2156724"/>
        <a:ext cx="9343805" cy="399092"/>
      </dsp:txXfrm>
    </dsp:sp>
    <dsp:sp modelId="{77340F40-9D68-4D1F-B608-68D74F70207E}">
      <dsp:nvSpPr>
        <dsp:cNvPr id="0" name=""/>
        <dsp:cNvSpPr/>
      </dsp:nvSpPr>
      <dsp:spPr>
        <a:xfrm>
          <a:off x="0" y="2819619"/>
          <a:ext cx="10057364" cy="10409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7DD8BA-B3DE-4A51-ABD0-3BFA770442B4}">
      <dsp:nvSpPr>
        <dsp:cNvPr id="0" name=""/>
        <dsp:cNvSpPr/>
      </dsp:nvSpPr>
      <dsp:spPr>
        <a:xfrm>
          <a:off x="186884" y="3170217"/>
          <a:ext cx="339789" cy="33978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0C54214-CACB-4752-97CF-571C90322BD5}">
      <dsp:nvSpPr>
        <dsp:cNvPr id="0" name=""/>
        <dsp:cNvSpPr/>
      </dsp:nvSpPr>
      <dsp:spPr>
        <a:xfrm>
          <a:off x="713558" y="2867455"/>
          <a:ext cx="9343805" cy="945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384" tIns="65384" rIns="65384" bIns="65384" numCol="1" spcCol="1270" anchor="ctr" anchorCtr="0">
          <a:noAutofit/>
        </a:bodyPr>
        <a:lstStyle/>
        <a:p>
          <a:pPr marL="0" lvl="0" indent="0" algn="l" defTabSz="755650">
            <a:lnSpc>
              <a:spcPct val="90000"/>
            </a:lnSpc>
            <a:spcBef>
              <a:spcPct val="0"/>
            </a:spcBef>
            <a:spcAft>
              <a:spcPct val="35000"/>
            </a:spcAft>
            <a:buNone/>
          </a:pPr>
          <a:r>
            <a:rPr lang="en-GB" sz="1700" kern="1200" dirty="0"/>
            <a:t>This study propose to use a quantitative method for statistical analysis. The target population of this research is Western Cape, Gauteng, KwaZulu Natal province of informal businesses.</a:t>
          </a:r>
          <a:endParaRPr lang="en-US" sz="1700" kern="1200" dirty="0"/>
        </a:p>
      </dsp:txBody>
      <dsp:txXfrm>
        <a:off x="713558" y="2867455"/>
        <a:ext cx="9343805" cy="94531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33AAEF-2FB5-4A6B-9ADB-82EDD3837DCF}">
      <dsp:nvSpPr>
        <dsp:cNvPr id="0" name=""/>
        <dsp:cNvSpPr/>
      </dsp:nvSpPr>
      <dsp:spPr>
        <a:xfrm>
          <a:off x="0" y="2518"/>
          <a:ext cx="6493933" cy="0"/>
        </a:xfrm>
        <a:prstGeom prst="line">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w="6350"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16B4C871-F7D7-4653-BB5A-5635006A9705}">
      <dsp:nvSpPr>
        <dsp:cNvPr id="0" name=""/>
        <dsp:cNvSpPr/>
      </dsp:nvSpPr>
      <dsp:spPr>
        <a:xfrm>
          <a:off x="0" y="2518"/>
          <a:ext cx="6493933" cy="858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100000"/>
            </a:lnSpc>
            <a:spcBef>
              <a:spcPct val="0"/>
            </a:spcBef>
            <a:spcAft>
              <a:spcPct val="35000"/>
            </a:spcAft>
            <a:buNone/>
          </a:pPr>
          <a:r>
            <a:rPr lang="en-US" sz="1500" kern="1200" dirty="0">
              <a:solidFill>
                <a:schemeClr val="tx1"/>
              </a:solidFill>
              <a:latin typeface="Arial" panose="020B0604020202020204" pitchFamily="34" charset="0"/>
              <a:cs typeface="Arial" panose="020B0604020202020204" pitchFamily="34" charset="0"/>
            </a:rPr>
            <a:t>This research will use Statistical Software R for regression analysis</a:t>
          </a:r>
          <a:endParaRPr lang="en-US" sz="1500" kern="1200" dirty="0">
            <a:solidFill>
              <a:schemeClr val="tx1"/>
            </a:solidFill>
            <a:latin typeface="Neue Haas Grotesk Text Pro"/>
          </a:endParaRPr>
        </a:p>
      </dsp:txBody>
      <dsp:txXfrm>
        <a:off x="0" y="2518"/>
        <a:ext cx="6493933" cy="858748"/>
      </dsp:txXfrm>
    </dsp:sp>
    <dsp:sp modelId="{131F0033-1B90-45F9-B687-BE5AB71A9582}">
      <dsp:nvSpPr>
        <dsp:cNvPr id="0" name=""/>
        <dsp:cNvSpPr/>
      </dsp:nvSpPr>
      <dsp:spPr>
        <a:xfrm>
          <a:off x="0" y="861267"/>
          <a:ext cx="6493933" cy="0"/>
        </a:xfrm>
        <a:prstGeom prst="line">
          <a:avLst/>
        </a:prstGeom>
        <a:gradFill rotWithShape="0">
          <a:gsLst>
            <a:gs pos="0">
              <a:schemeClr val="accent2">
                <a:hueOff val="-2070378"/>
                <a:satOff val="9172"/>
                <a:lumOff val="-3373"/>
                <a:alphaOff val="0"/>
                <a:tint val="97000"/>
                <a:satMod val="100000"/>
                <a:lumMod val="102000"/>
              </a:schemeClr>
            </a:gs>
            <a:gs pos="50000">
              <a:schemeClr val="accent2">
                <a:hueOff val="-2070378"/>
                <a:satOff val="9172"/>
                <a:lumOff val="-3373"/>
                <a:alphaOff val="0"/>
                <a:shade val="100000"/>
                <a:satMod val="103000"/>
                <a:lumMod val="100000"/>
              </a:schemeClr>
            </a:gs>
            <a:gs pos="100000">
              <a:schemeClr val="accent2">
                <a:hueOff val="-2070378"/>
                <a:satOff val="9172"/>
                <a:lumOff val="-3373"/>
                <a:alphaOff val="0"/>
                <a:shade val="93000"/>
                <a:satMod val="110000"/>
                <a:lumMod val="99000"/>
              </a:schemeClr>
            </a:gs>
          </a:gsLst>
          <a:lin ang="5400000" scaled="0"/>
        </a:gradFill>
        <a:ln w="6350" cap="flat" cmpd="sng" algn="ctr">
          <a:solidFill>
            <a:schemeClr val="accent2">
              <a:hueOff val="-2070378"/>
              <a:satOff val="9172"/>
              <a:lumOff val="-3373"/>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35FFBA2D-799A-4F4C-8DFD-0472B66C1181}">
      <dsp:nvSpPr>
        <dsp:cNvPr id="0" name=""/>
        <dsp:cNvSpPr/>
      </dsp:nvSpPr>
      <dsp:spPr>
        <a:xfrm>
          <a:off x="0" y="861267"/>
          <a:ext cx="6493933" cy="858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100000"/>
            </a:lnSpc>
            <a:spcBef>
              <a:spcPct val="0"/>
            </a:spcBef>
            <a:spcAft>
              <a:spcPct val="35000"/>
            </a:spcAft>
            <a:buNone/>
          </a:pPr>
          <a:r>
            <a:rPr lang="en-US" sz="1500" kern="1200" dirty="0">
              <a:solidFill>
                <a:schemeClr val="tx1"/>
              </a:solidFill>
              <a:latin typeface="Arial" panose="020B0604020202020204" pitchFamily="34" charset="0"/>
              <a:cs typeface="Arial" panose="020B0604020202020204" pitchFamily="34" charset="0"/>
            </a:rPr>
            <a:t>The P-value at 5% significant level, odds ratio of values to determine the significant of the informal sector</a:t>
          </a:r>
          <a:endParaRPr lang="en-US" sz="1500" kern="1200" dirty="0">
            <a:solidFill>
              <a:schemeClr val="tx1"/>
            </a:solidFill>
            <a:effectLst/>
            <a:latin typeface="Arial" panose="020B0604020202020204" pitchFamily="34" charset="0"/>
            <a:ea typeface="Calibri" panose="020F0502020204030204" pitchFamily="34" charset="0"/>
          </a:endParaRPr>
        </a:p>
      </dsp:txBody>
      <dsp:txXfrm>
        <a:off x="0" y="861267"/>
        <a:ext cx="6493933" cy="858748"/>
      </dsp:txXfrm>
    </dsp:sp>
    <dsp:sp modelId="{20B30E79-A3E4-4983-B93E-FE6F4A6673DD}">
      <dsp:nvSpPr>
        <dsp:cNvPr id="0" name=""/>
        <dsp:cNvSpPr/>
      </dsp:nvSpPr>
      <dsp:spPr>
        <a:xfrm>
          <a:off x="0" y="1720015"/>
          <a:ext cx="6493933" cy="0"/>
        </a:xfrm>
        <a:prstGeom prst="line">
          <a:avLst/>
        </a:prstGeom>
        <a:gradFill rotWithShape="0">
          <a:gsLst>
            <a:gs pos="0">
              <a:schemeClr val="accent2">
                <a:hueOff val="-4140755"/>
                <a:satOff val="18344"/>
                <a:lumOff val="-6746"/>
                <a:alphaOff val="0"/>
                <a:tint val="97000"/>
                <a:satMod val="100000"/>
                <a:lumMod val="102000"/>
              </a:schemeClr>
            </a:gs>
            <a:gs pos="50000">
              <a:schemeClr val="accent2">
                <a:hueOff val="-4140755"/>
                <a:satOff val="18344"/>
                <a:lumOff val="-6746"/>
                <a:alphaOff val="0"/>
                <a:shade val="100000"/>
                <a:satMod val="103000"/>
                <a:lumMod val="100000"/>
              </a:schemeClr>
            </a:gs>
            <a:gs pos="100000">
              <a:schemeClr val="accent2">
                <a:hueOff val="-4140755"/>
                <a:satOff val="18344"/>
                <a:lumOff val="-6746"/>
                <a:alphaOff val="0"/>
                <a:shade val="93000"/>
                <a:satMod val="110000"/>
                <a:lumMod val="99000"/>
              </a:schemeClr>
            </a:gs>
          </a:gsLst>
          <a:lin ang="5400000" scaled="0"/>
        </a:gradFill>
        <a:ln w="6350" cap="flat" cmpd="sng" algn="ctr">
          <a:solidFill>
            <a:schemeClr val="accent2">
              <a:hueOff val="-4140755"/>
              <a:satOff val="18344"/>
              <a:lumOff val="-6746"/>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A5F69E2-9CFB-49AE-8609-216F2C195E5C}">
      <dsp:nvSpPr>
        <dsp:cNvPr id="0" name=""/>
        <dsp:cNvSpPr/>
      </dsp:nvSpPr>
      <dsp:spPr>
        <a:xfrm>
          <a:off x="0" y="1720015"/>
          <a:ext cx="6493933" cy="858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100000"/>
            </a:lnSpc>
            <a:spcBef>
              <a:spcPct val="0"/>
            </a:spcBef>
            <a:spcAft>
              <a:spcPct val="35000"/>
            </a:spcAft>
            <a:buNone/>
          </a:pPr>
          <a:r>
            <a:rPr lang="en-US" sz="1500" kern="1200" dirty="0">
              <a:effectLst/>
              <a:latin typeface="Arial" panose="020B0604020202020204" pitchFamily="34" charset="0"/>
              <a:ea typeface="Calibri" panose="020F0502020204030204" pitchFamily="34" charset="0"/>
            </a:rPr>
            <a:t>Regression analysis will evaluate the relationship between formal regulation and economic outcomes in the informal economy.</a:t>
          </a:r>
          <a:endParaRPr lang="en-ZA" sz="1500" kern="1200" dirty="0">
            <a:latin typeface="Arial" panose="020B0604020202020204" pitchFamily="34" charset="0"/>
            <a:ea typeface="Calibri" panose="020F0502020204030204" pitchFamily="34" charset="0"/>
            <a:cs typeface="Arial" panose="020B0604020202020204" pitchFamily="34" charset="0"/>
          </a:endParaRPr>
        </a:p>
      </dsp:txBody>
      <dsp:txXfrm>
        <a:off x="0" y="1720015"/>
        <a:ext cx="6493933" cy="858748"/>
      </dsp:txXfrm>
    </dsp:sp>
    <dsp:sp modelId="{6E631BA3-7948-4FA7-9C0B-9758C2CCFEF7}">
      <dsp:nvSpPr>
        <dsp:cNvPr id="0" name=""/>
        <dsp:cNvSpPr/>
      </dsp:nvSpPr>
      <dsp:spPr>
        <a:xfrm>
          <a:off x="0" y="2578764"/>
          <a:ext cx="6493933" cy="0"/>
        </a:xfrm>
        <a:prstGeom prst="line">
          <a:avLst/>
        </a:prstGeom>
        <a:gradFill rotWithShape="0">
          <a:gsLst>
            <a:gs pos="0">
              <a:schemeClr val="accent2">
                <a:hueOff val="-6211133"/>
                <a:satOff val="27515"/>
                <a:lumOff val="-10118"/>
                <a:alphaOff val="0"/>
                <a:tint val="97000"/>
                <a:satMod val="100000"/>
                <a:lumMod val="102000"/>
              </a:schemeClr>
            </a:gs>
            <a:gs pos="50000">
              <a:schemeClr val="accent2">
                <a:hueOff val="-6211133"/>
                <a:satOff val="27515"/>
                <a:lumOff val="-10118"/>
                <a:alphaOff val="0"/>
                <a:shade val="100000"/>
                <a:satMod val="103000"/>
                <a:lumMod val="100000"/>
              </a:schemeClr>
            </a:gs>
            <a:gs pos="100000">
              <a:schemeClr val="accent2">
                <a:hueOff val="-6211133"/>
                <a:satOff val="27515"/>
                <a:lumOff val="-10118"/>
                <a:alphaOff val="0"/>
                <a:shade val="93000"/>
                <a:satMod val="110000"/>
                <a:lumMod val="99000"/>
              </a:schemeClr>
            </a:gs>
          </a:gsLst>
          <a:lin ang="5400000" scaled="0"/>
        </a:gradFill>
        <a:ln w="6350" cap="flat" cmpd="sng" algn="ctr">
          <a:solidFill>
            <a:schemeClr val="accent2">
              <a:hueOff val="-6211133"/>
              <a:satOff val="27515"/>
              <a:lumOff val="-10118"/>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115811C0-35E0-4FDF-AB4A-D246D4DBA779}">
      <dsp:nvSpPr>
        <dsp:cNvPr id="0" name=""/>
        <dsp:cNvSpPr/>
      </dsp:nvSpPr>
      <dsp:spPr>
        <a:xfrm>
          <a:off x="0" y="2578764"/>
          <a:ext cx="6493933" cy="858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100000"/>
            </a:lnSpc>
            <a:spcBef>
              <a:spcPct val="0"/>
            </a:spcBef>
            <a:spcAft>
              <a:spcPct val="35000"/>
            </a:spcAft>
            <a:buNone/>
          </a:pPr>
          <a:r>
            <a:rPr lang="en-US" sz="1500" kern="1200" dirty="0">
              <a:latin typeface="Neue Haas Grotesk Text Pro"/>
            </a:rPr>
            <a:t>We used duplicated() function remove duplicates, ggplot to plot the graphs, is.na(), na.omit() to handle missing values</a:t>
          </a:r>
        </a:p>
      </dsp:txBody>
      <dsp:txXfrm>
        <a:off x="0" y="2578764"/>
        <a:ext cx="6493933" cy="858748"/>
      </dsp:txXfrm>
    </dsp:sp>
    <dsp:sp modelId="{E18F311B-A94A-4074-B74D-085FB27CF9B7}">
      <dsp:nvSpPr>
        <dsp:cNvPr id="0" name=""/>
        <dsp:cNvSpPr/>
      </dsp:nvSpPr>
      <dsp:spPr>
        <a:xfrm>
          <a:off x="0" y="3437513"/>
          <a:ext cx="6493933" cy="0"/>
        </a:xfrm>
        <a:prstGeom prst="line">
          <a:avLst/>
        </a:prstGeom>
        <a:gradFill rotWithShape="0">
          <a:gsLst>
            <a:gs pos="0">
              <a:schemeClr val="accent2">
                <a:hueOff val="-8281511"/>
                <a:satOff val="36687"/>
                <a:lumOff val="-13491"/>
                <a:alphaOff val="0"/>
                <a:tint val="97000"/>
                <a:satMod val="100000"/>
                <a:lumMod val="102000"/>
              </a:schemeClr>
            </a:gs>
            <a:gs pos="50000">
              <a:schemeClr val="accent2">
                <a:hueOff val="-8281511"/>
                <a:satOff val="36687"/>
                <a:lumOff val="-13491"/>
                <a:alphaOff val="0"/>
                <a:shade val="100000"/>
                <a:satMod val="103000"/>
                <a:lumMod val="100000"/>
              </a:schemeClr>
            </a:gs>
            <a:gs pos="100000">
              <a:schemeClr val="accent2">
                <a:hueOff val="-8281511"/>
                <a:satOff val="36687"/>
                <a:lumOff val="-13491"/>
                <a:alphaOff val="0"/>
                <a:shade val="93000"/>
                <a:satMod val="110000"/>
                <a:lumMod val="99000"/>
              </a:schemeClr>
            </a:gs>
          </a:gsLst>
          <a:lin ang="5400000" scaled="0"/>
        </a:gradFill>
        <a:ln w="6350" cap="flat" cmpd="sng" algn="ctr">
          <a:solidFill>
            <a:schemeClr val="accent2">
              <a:hueOff val="-8281511"/>
              <a:satOff val="36687"/>
              <a:lumOff val="-13491"/>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4638AD29-7CB9-4C42-967E-6CB63BF18BCD}">
      <dsp:nvSpPr>
        <dsp:cNvPr id="0" name=""/>
        <dsp:cNvSpPr/>
      </dsp:nvSpPr>
      <dsp:spPr>
        <a:xfrm>
          <a:off x="0" y="3437513"/>
          <a:ext cx="6493933" cy="858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100000"/>
            </a:lnSpc>
            <a:spcBef>
              <a:spcPct val="0"/>
            </a:spcBef>
            <a:spcAft>
              <a:spcPct val="35000"/>
            </a:spcAft>
            <a:buNone/>
          </a:pPr>
          <a:r>
            <a:rPr lang="en-US" sz="1400" kern="1200" dirty="0">
              <a:effectLst/>
              <a:latin typeface="Arial" panose="020B0604020202020204" pitchFamily="34" charset="0"/>
              <a:ea typeface="Calibri" panose="020F0502020204030204" pitchFamily="34" charset="0"/>
              <a:cs typeface="Arial" panose="020B0604020202020204" pitchFamily="34" charset="0"/>
            </a:rPr>
            <a:t>Descriptive statistics will be used to summarize the key findings and use the Confidence Interval </a:t>
          </a:r>
          <a:r>
            <a:rPr lang="en-US" sz="1400" kern="1200" dirty="0">
              <a:latin typeface="Arial" panose="020B0604020202020204" pitchFamily="34" charset="0"/>
              <a:ea typeface="Calibri" panose="020F0502020204030204" pitchFamily="34" charset="0"/>
              <a:cs typeface="Arial" panose="020B0604020202020204" pitchFamily="34" charset="0"/>
            </a:rPr>
            <a:t>for </a:t>
          </a:r>
          <a:r>
            <a:rPr lang="en-US" sz="1400" kern="1200" dirty="0">
              <a:effectLst/>
              <a:latin typeface="Arial" panose="020B0604020202020204" pitchFamily="34" charset="0"/>
              <a:ea typeface="Calibri" panose="020F0502020204030204" pitchFamily="34" charset="0"/>
              <a:cs typeface="Arial" panose="020B0604020202020204" pitchFamily="34" charset="0"/>
            </a:rPr>
            <a:t>intern reliability of the data</a:t>
          </a:r>
          <a:endParaRPr lang="en-ZA" sz="1400" kern="1200" dirty="0"/>
        </a:p>
      </dsp:txBody>
      <dsp:txXfrm>
        <a:off x="0" y="3437513"/>
        <a:ext cx="6493933" cy="858748"/>
      </dsp:txXfrm>
    </dsp:sp>
    <dsp:sp modelId="{21DA3B1F-AB32-4C15-8123-B0FCD566D320}">
      <dsp:nvSpPr>
        <dsp:cNvPr id="0" name=""/>
        <dsp:cNvSpPr/>
      </dsp:nvSpPr>
      <dsp:spPr>
        <a:xfrm>
          <a:off x="0" y="4296261"/>
          <a:ext cx="6493933" cy="0"/>
        </a:xfrm>
        <a:prstGeom prst="line">
          <a:avLst/>
        </a:prstGeom>
        <a:gradFill rotWithShape="0">
          <a:gsLst>
            <a:gs pos="0">
              <a:schemeClr val="accent2">
                <a:hueOff val="-10351888"/>
                <a:satOff val="45859"/>
                <a:lumOff val="-16864"/>
                <a:alphaOff val="0"/>
                <a:tint val="97000"/>
                <a:satMod val="100000"/>
                <a:lumMod val="102000"/>
              </a:schemeClr>
            </a:gs>
            <a:gs pos="50000">
              <a:schemeClr val="accent2">
                <a:hueOff val="-10351888"/>
                <a:satOff val="45859"/>
                <a:lumOff val="-16864"/>
                <a:alphaOff val="0"/>
                <a:shade val="100000"/>
                <a:satMod val="103000"/>
                <a:lumMod val="100000"/>
              </a:schemeClr>
            </a:gs>
            <a:gs pos="100000">
              <a:schemeClr val="accent2">
                <a:hueOff val="-10351888"/>
                <a:satOff val="45859"/>
                <a:lumOff val="-16864"/>
                <a:alphaOff val="0"/>
                <a:shade val="93000"/>
                <a:satMod val="110000"/>
                <a:lumMod val="99000"/>
              </a:schemeClr>
            </a:gs>
          </a:gsLst>
          <a:lin ang="5400000" scaled="0"/>
        </a:gradFill>
        <a:ln w="6350" cap="flat" cmpd="sng" algn="ctr">
          <a:solidFill>
            <a:schemeClr val="accent2">
              <a:hueOff val="-10351888"/>
              <a:satOff val="45859"/>
              <a:lumOff val="-16864"/>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87A159A9-5BB6-406C-BA0C-79EE438B050E}">
      <dsp:nvSpPr>
        <dsp:cNvPr id="0" name=""/>
        <dsp:cNvSpPr/>
      </dsp:nvSpPr>
      <dsp:spPr>
        <a:xfrm>
          <a:off x="0" y="4296261"/>
          <a:ext cx="6493933" cy="858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100000"/>
            </a:lnSpc>
            <a:spcBef>
              <a:spcPct val="0"/>
            </a:spcBef>
            <a:spcAft>
              <a:spcPct val="35000"/>
            </a:spcAft>
            <a:buNone/>
          </a:pPr>
          <a:r>
            <a:rPr lang="en-US" sz="1400" kern="1200" dirty="0">
              <a:latin typeface="Arial" panose="020B0604020202020204" pitchFamily="34" charset="0"/>
              <a:cs typeface="Arial" panose="020B0604020202020204" pitchFamily="34" charset="0"/>
            </a:rPr>
            <a:t>Data Limitations: Although the QLFS provides an entire dataset, it might not fully capture every detail of the informal economic activities in rural areas or countryside areas.</a:t>
          </a:r>
        </a:p>
      </dsp:txBody>
      <dsp:txXfrm>
        <a:off x="0" y="4296261"/>
        <a:ext cx="6493933" cy="85874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9T16:16:26.002"/>
    </inkml:context>
    <inkml:brush xml:id="br0">
      <inkml:brushProperty name="width" value="0.35" units="cm"/>
      <inkml:brushProperty name="height" value="0.35" units="cm"/>
      <inkml:brushProperty name="color" value="#FFFFFF"/>
    </inkml:brush>
  </inkml:definitions>
  <inkml:trace contextRef="#ctx0" brushRef="#br0">345 54 24575,'0'576'0,"2"-552"0,1 0 0,1 0 0,2 0 0,2-1 0,1 0 0,18 30 0,-23-53 0,-1-8 0,-1-11 0,-1 0 0,-5-280 0,0 274 0,-2 0 0,-21-45 0,-7-22 0,21 7 0,11 57 0,-2 1 0,-2-1 0,-19-44 0,24 70 0,1 1 0,-1-1 0,0 1 0,1 0 0,-1-1 0,0 1 0,0 0 0,0-1 0,-1 1 0,1 0 0,-1 0 0,1-1 0,-1 1 0,1 0 0,-1 0 0,0 0 0,0 1 0,1-1 0,-1 0 0,0 0 0,0 1 0,-1-1 0,-2 0 0,3 1 0,0 0 0,0 1 0,1-1 0,-1 0 0,0 1 0,1-1 0,-1 1 0,1 0 0,-1-1 0,1 1 0,-1 0 0,1 0 0,0 0 0,0-1 0,0 1 0,0 0 0,-1 0 0,2 0 0,-1 0 0,0 0 0,0 0 0,0 0 0,1 1 0,-1-1 0,1 0 0,0 0 0,-1 0 0,1 0 0,0 0 0,0 3 0,-27 144 0,12-98 0,-3-1 0,-46 81 0,42-94 0,3 1 0,3 0 0,-16 68 0,29-91 0,2 0 0,0 0 0,2 1 0,0-1 0,1 0 0,2 0 0,0 0 0,1 0 0,1-1 0,1 1 0,1-1 0,1 0 0,16 18 0,-15-20 0,0-1 0,1 0 0,1-1 0,0 0 0,1 0 0,1 0 0,0-1 0,1-1 0,22 10 0,-30-14 0,0-1 0,0 0 0,0 0 0,1-1 0,-1 1 0,1-1 0,-1 0 0,1 0 0,0-1 0,0 1 0,0-1 0,-1 0 0,1-1 0,0 1 0,0-1 0,-1 0 0,1 0 0,-1 0 0,1-1 0,-1 0 0,0 0 0,0 0 0,0-1 0,0 1 0,6-4 0,22-13 0,-2 0 0,0-2 0,-3 0 0,48-43 0,-64 51 0,0-1 0,-2 0 0,0 0 0,-2-1 0,13-24 0,26-82 0,-4 8 0,-27 66-273,-3-1 0,-3 0 0,-3-1 0,-1-59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30ABC1-F65B-4A71-929B-348677D720AD}" type="datetimeFigureOut">
              <a:rPr lang="en-ZA" smtClean="0"/>
              <a:t>2026/03/05</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29C2D8-58F0-4010-8FA0-43A24C3C21A8}" type="slidenum">
              <a:rPr lang="en-ZA" smtClean="0"/>
              <a:t>‹#›</a:t>
            </a:fld>
            <a:endParaRPr lang="en-ZA"/>
          </a:p>
        </p:txBody>
      </p:sp>
    </p:spTree>
    <p:extLst>
      <p:ext uri="{BB962C8B-B14F-4D97-AF65-F5344CB8AC3E}">
        <p14:creationId xmlns:p14="http://schemas.microsoft.com/office/powerpoint/2010/main" val="2069898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F729C2D8-58F0-4010-8FA0-43A24C3C21A8}" type="slidenum">
              <a:rPr lang="en-ZA" smtClean="0"/>
              <a:t>1</a:t>
            </a:fld>
            <a:endParaRPr lang="en-ZA"/>
          </a:p>
        </p:txBody>
      </p:sp>
    </p:spTree>
    <p:extLst>
      <p:ext uri="{BB962C8B-B14F-4D97-AF65-F5344CB8AC3E}">
        <p14:creationId xmlns:p14="http://schemas.microsoft.com/office/powerpoint/2010/main" val="1881462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informal</a:t>
            </a:r>
            <a:r>
              <a:rPr lang="en-US" baseline="0" dirty="0"/>
              <a:t> economy play a crucial role in economic landscape</a:t>
            </a:r>
          </a:p>
          <a:p>
            <a:r>
              <a:rPr lang="en-US" baseline="0" dirty="0"/>
              <a:t>This presentation explores the impact on economic growth and </a:t>
            </a:r>
            <a:r>
              <a:rPr lang="en-US" baseline="0" dirty="0" err="1"/>
              <a:t>labour</a:t>
            </a:r>
            <a:r>
              <a:rPr lang="en-US" baseline="0" dirty="0"/>
              <a:t> market and explore its opportunities and challenges</a:t>
            </a:r>
            <a:endParaRPr lang="en-US" dirty="0"/>
          </a:p>
        </p:txBody>
      </p:sp>
      <p:sp>
        <p:nvSpPr>
          <p:cNvPr id="4" name="Slide Number Placeholder 3"/>
          <p:cNvSpPr>
            <a:spLocks noGrp="1"/>
          </p:cNvSpPr>
          <p:nvPr>
            <p:ph type="sldNum" sz="quarter" idx="10"/>
          </p:nvPr>
        </p:nvSpPr>
        <p:spPr/>
        <p:txBody>
          <a:bodyPr/>
          <a:lstStyle/>
          <a:p>
            <a:fld id="{F729C2D8-58F0-4010-8FA0-43A24C3C21A8}" type="slidenum">
              <a:rPr lang="en-ZA" smtClean="0"/>
              <a:t>3</a:t>
            </a:fld>
            <a:endParaRPr lang="en-ZA"/>
          </a:p>
        </p:txBody>
      </p:sp>
    </p:spTree>
    <p:extLst>
      <p:ext uri="{BB962C8B-B14F-4D97-AF65-F5344CB8AC3E}">
        <p14:creationId xmlns:p14="http://schemas.microsoft.com/office/powerpoint/2010/main" val="3968117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Impact of COVID-19: Informal sector faced significant challenges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Contribution may rise to 10-15% post-pandemic(hart,2015).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Formal economic activities are mostly found in the Central Business District in Cape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Town, where there are corridors such as CBD, Bellville and Mowbray which account for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34% proximate population</a:t>
            </a:r>
          </a:p>
          <a:p>
            <a:endParaRPr lang="en-US" b="1" dirty="0"/>
          </a:p>
          <a:p>
            <a:endParaRPr lang="en-ZA" dirty="0"/>
          </a:p>
        </p:txBody>
      </p:sp>
      <p:sp>
        <p:nvSpPr>
          <p:cNvPr id="4" name="Slide Number Placeholder 3"/>
          <p:cNvSpPr>
            <a:spLocks noGrp="1"/>
          </p:cNvSpPr>
          <p:nvPr>
            <p:ph type="sldNum" sz="quarter" idx="5"/>
          </p:nvPr>
        </p:nvSpPr>
        <p:spPr/>
        <p:txBody>
          <a:bodyPr/>
          <a:lstStyle/>
          <a:p>
            <a:fld id="{F729C2D8-58F0-4010-8FA0-43A24C3C21A8}" type="slidenum">
              <a:rPr lang="en-ZA" smtClean="0"/>
              <a:t>6</a:t>
            </a:fld>
            <a:endParaRPr lang="en-ZA"/>
          </a:p>
        </p:txBody>
      </p:sp>
    </p:spTree>
    <p:extLst>
      <p:ext uri="{BB962C8B-B14F-4D97-AF65-F5344CB8AC3E}">
        <p14:creationId xmlns:p14="http://schemas.microsoft.com/office/powerpoint/2010/main" val="4290349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According to Rogerson (2016, pp.172-186) point that the more the province has large number of informal sector has a strong foundation to be able to move from informal to formal sector because as the economy grows also the firms grows and become competitive sector.</a:t>
            </a:r>
          </a:p>
          <a:p>
            <a:endParaRPr lang="en-ZA" dirty="0"/>
          </a:p>
        </p:txBody>
      </p:sp>
      <p:sp>
        <p:nvSpPr>
          <p:cNvPr id="4" name="Slide Number Placeholder 3"/>
          <p:cNvSpPr>
            <a:spLocks noGrp="1"/>
          </p:cNvSpPr>
          <p:nvPr>
            <p:ph type="sldNum" sz="quarter" idx="5"/>
          </p:nvPr>
        </p:nvSpPr>
        <p:spPr/>
        <p:txBody>
          <a:bodyPr/>
          <a:lstStyle/>
          <a:p>
            <a:fld id="{F729C2D8-58F0-4010-8FA0-43A24C3C21A8}" type="slidenum">
              <a:rPr lang="en-ZA" smtClean="0"/>
              <a:t>8</a:t>
            </a:fld>
            <a:endParaRPr lang="en-ZA"/>
          </a:p>
        </p:txBody>
      </p:sp>
    </p:spTree>
    <p:extLst>
      <p:ext uri="{BB962C8B-B14F-4D97-AF65-F5344CB8AC3E}">
        <p14:creationId xmlns:p14="http://schemas.microsoft.com/office/powerpoint/2010/main" val="3752732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a:cs typeface="Arial"/>
              </a:rPr>
              <a:t>secondary objective to evaluates the potential economic, social, and environmental impacts of formalizing the informal economy on economic growth, employment creation, tax revenue generation, labor rights, and working conditions</a:t>
            </a:r>
            <a:endParaRPr lang="en-US" dirty="0"/>
          </a:p>
          <a:p>
            <a:endParaRPr lang="en-US" dirty="0"/>
          </a:p>
        </p:txBody>
      </p:sp>
      <p:sp>
        <p:nvSpPr>
          <p:cNvPr id="4" name="Slide Number Placeholder 3"/>
          <p:cNvSpPr>
            <a:spLocks noGrp="1"/>
          </p:cNvSpPr>
          <p:nvPr>
            <p:ph type="sldNum" sz="quarter" idx="10"/>
          </p:nvPr>
        </p:nvSpPr>
        <p:spPr/>
        <p:txBody>
          <a:bodyPr/>
          <a:lstStyle/>
          <a:p>
            <a:fld id="{F729C2D8-58F0-4010-8FA0-43A24C3C21A8}" type="slidenum">
              <a:rPr lang="en-ZA" smtClean="0"/>
              <a:t>10</a:t>
            </a:fld>
            <a:endParaRPr lang="en-ZA"/>
          </a:p>
        </p:txBody>
      </p:sp>
    </p:spTree>
    <p:extLst>
      <p:ext uri="{BB962C8B-B14F-4D97-AF65-F5344CB8AC3E}">
        <p14:creationId xmlns:p14="http://schemas.microsoft.com/office/powerpoint/2010/main" val="3859544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(QLFS) is a sample survey that is conducted by Statistics South Africa (StatsSA). Its use is to collect data on labour market activities of individuals who are working or not working from the age group of 15 years and above</a:t>
            </a:r>
          </a:p>
        </p:txBody>
      </p:sp>
      <p:sp>
        <p:nvSpPr>
          <p:cNvPr id="4" name="Slide Number Placeholder 3"/>
          <p:cNvSpPr>
            <a:spLocks noGrp="1"/>
          </p:cNvSpPr>
          <p:nvPr>
            <p:ph type="sldNum" sz="quarter" idx="10"/>
          </p:nvPr>
        </p:nvSpPr>
        <p:spPr/>
        <p:txBody>
          <a:bodyPr/>
          <a:lstStyle/>
          <a:p>
            <a:fld id="{F729C2D8-58F0-4010-8FA0-43A24C3C21A8}" type="slidenum">
              <a:rPr lang="en-ZA" smtClean="0"/>
              <a:t>12</a:t>
            </a:fld>
            <a:endParaRPr lang="en-ZA"/>
          </a:p>
        </p:txBody>
      </p:sp>
    </p:spTree>
    <p:extLst>
      <p:ext uri="{BB962C8B-B14F-4D97-AF65-F5344CB8AC3E}">
        <p14:creationId xmlns:p14="http://schemas.microsoft.com/office/powerpoint/2010/main" val="2070472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standard error for each variable measures the level of variability</a:t>
            </a:r>
          </a:p>
          <a:p>
            <a:r>
              <a:rPr lang="en-US" b="0" dirty="0"/>
              <a:t>A larger standard error suggests more uncertainty, while a smaller standard error indicates that the estimate is more precise.</a:t>
            </a:r>
          </a:p>
          <a:p>
            <a:r>
              <a:rPr lang="en-US" b="0" dirty="0"/>
              <a:t>In summary, while the standard errors indicate some uncertainty in the precise impact of each variable, the very low residual deviance suggests that the model does a good job explaining the variation in economic outcomes.</a:t>
            </a:r>
          </a:p>
          <a:p>
            <a:r>
              <a:rPr lang="en-US" b="0" dirty="0"/>
              <a:t>"Informal_employment," the standard error is approximately 6.33. This value indicates a moderate level of uncertainty around the coefficient estimate (-2.781e-07) for informal employment.</a:t>
            </a:r>
          </a:p>
          <a:p>
            <a:r>
              <a:rPr lang="en-US" b="0" dirty="0"/>
              <a:t>"GENDER" with 5.561, "Geography type" with 5.014) suggest that these estimates may vary widely, meaning that their influence on economic growth is less precisely measured.</a:t>
            </a:r>
          </a:p>
          <a:p>
            <a:endParaRPr lang="en-US" dirty="0"/>
          </a:p>
          <a:p>
            <a:endParaRPr lang="en-US" dirty="0"/>
          </a:p>
          <a:p>
            <a:r>
              <a:rPr lang="en-US" b="1" dirty="0"/>
              <a:t>Residual deviance</a:t>
            </a:r>
            <a:r>
              <a:rPr lang="en-US" dirty="0"/>
              <a:t> measures how well the model fits the data</a:t>
            </a:r>
          </a:p>
          <a:p>
            <a:r>
              <a:rPr lang="en-US" dirty="0"/>
              <a:t>The </a:t>
            </a:r>
            <a:r>
              <a:rPr lang="en-US" b="1" dirty="0"/>
              <a:t>residual deviance</a:t>
            </a:r>
            <a:r>
              <a:rPr lang="en-US" dirty="0"/>
              <a:t> of 9.6591e-08 on 16,642 degrees of freedom indicates that, after accounting for the variables included in the model, there is still some variability left unexplained.</a:t>
            </a:r>
          </a:p>
          <a:p>
            <a:r>
              <a:rPr lang="en-US" dirty="0"/>
              <a:t>However the very low residual deviance suggests that the model captures most of the variation in the data</a:t>
            </a:r>
          </a:p>
        </p:txBody>
      </p:sp>
      <p:sp>
        <p:nvSpPr>
          <p:cNvPr id="4" name="Slide Number Placeholder 3"/>
          <p:cNvSpPr>
            <a:spLocks noGrp="1"/>
          </p:cNvSpPr>
          <p:nvPr>
            <p:ph type="sldNum" sz="quarter" idx="10"/>
          </p:nvPr>
        </p:nvSpPr>
        <p:spPr/>
        <p:txBody>
          <a:bodyPr/>
          <a:lstStyle/>
          <a:p>
            <a:fld id="{F729C2D8-58F0-4010-8FA0-43A24C3C21A8}" type="slidenum">
              <a:rPr lang="en-ZA" smtClean="0"/>
              <a:t>16</a:t>
            </a:fld>
            <a:endParaRPr lang="en-ZA"/>
          </a:p>
        </p:txBody>
      </p:sp>
    </p:spTree>
    <p:extLst>
      <p:ext uri="{BB962C8B-B14F-4D97-AF65-F5344CB8AC3E}">
        <p14:creationId xmlns:p14="http://schemas.microsoft.com/office/powerpoint/2010/main" val="855811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buFont typeface="Wingdings" panose="05000000000000000000" pitchFamily="2" charset="2"/>
              <a:buChar char="v"/>
            </a:pPr>
            <a:r>
              <a:rPr lang="en-US" sz="1400" b="1" dirty="0"/>
              <a:t>The odds ratio &gt;1 indicates a positive association between informal employment. The CI is between 0.345-0.61 indicate that even if its contribute to employment suggest statistical significant.</a:t>
            </a:r>
          </a:p>
          <a:p>
            <a:pPr>
              <a:lnSpc>
                <a:spcPct val="150000"/>
              </a:lnSpc>
              <a:buFont typeface="Wingdings" panose="05000000000000000000" pitchFamily="2" charset="2"/>
              <a:buNone/>
            </a:pPr>
            <a:endParaRPr lang="en-US" sz="1400" b="1" dirty="0"/>
          </a:p>
          <a:p>
            <a:pPr>
              <a:lnSpc>
                <a:spcPct val="150000"/>
              </a:lnSpc>
              <a:buFont typeface="Wingdings" panose="05000000000000000000" pitchFamily="2" charset="2"/>
              <a:buChar char="v"/>
            </a:pPr>
            <a:r>
              <a:rPr lang="en-US" sz="1400" b="1" dirty="0"/>
              <a:t>CI have a significant value of more than 1, indicate that the is a slight positive contribution to economic growth</a:t>
            </a:r>
          </a:p>
          <a:p>
            <a:pPr>
              <a:lnSpc>
                <a:spcPct val="150000"/>
              </a:lnSpc>
              <a:buFont typeface="Wingdings" panose="05000000000000000000" pitchFamily="2" charset="2"/>
              <a:buNone/>
            </a:pPr>
            <a:endParaRPr lang="en-US" sz="1400" b="1" dirty="0"/>
          </a:p>
          <a:p>
            <a:pPr>
              <a:lnSpc>
                <a:spcPct val="150000"/>
              </a:lnSpc>
              <a:buFont typeface="Wingdings" panose="05000000000000000000" pitchFamily="2" charset="2"/>
              <a:buChar char="v"/>
            </a:pPr>
            <a:r>
              <a:rPr lang="en-US" sz="1400" b="1" dirty="0"/>
              <a:t>Wide confidence interval (0.62 to 2.60) suggests high variability in how different age groups may influence economic outcomes</a:t>
            </a:r>
          </a:p>
          <a:p>
            <a:pPr>
              <a:lnSpc>
                <a:spcPct val="150000"/>
              </a:lnSpc>
              <a:buFont typeface="Wingdings" panose="05000000000000000000" pitchFamily="2" charset="2"/>
              <a:buNone/>
            </a:pPr>
            <a:endParaRPr lang="en-US" sz="1400" b="1" dirty="0"/>
          </a:p>
          <a:p>
            <a:pPr>
              <a:lnSpc>
                <a:spcPct val="150000"/>
              </a:lnSpc>
              <a:buFont typeface="Wingdings" panose="05000000000000000000" pitchFamily="2" charset="2"/>
              <a:buChar char="v"/>
            </a:pPr>
            <a:r>
              <a:rPr lang="en-US" sz="1400" b="1" dirty="0"/>
              <a:t>Education has a strong positive significant with a CI of 0.32% contribution to economic growth.</a:t>
            </a:r>
          </a:p>
          <a:p>
            <a:pPr>
              <a:lnSpc>
                <a:spcPct val="150000"/>
              </a:lnSpc>
              <a:buFont typeface="Wingdings" panose="05000000000000000000" pitchFamily="2" charset="2"/>
              <a:buNone/>
            </a:pPr>
            <a:endParaRPr lang="en-US" sz="1400" b="1" dirty="0"/>
          </a:p>
          <a:p>
            <a:pPr>
              <a:lnSpc>
                <a:spcPct val="150000"/>
              </a:lnSpc>
              <a:buFont typeface="Wingdings" panose="05000000000000000000" pitchFamily="2" charset="2"/>
              <a:buChar char="v"/>
            </a:pPr>
            <a:r>
              <a:rPr lang="en-US" sz="1400" b="1" dirty="0"/>
              <a:t>The CI increase by 1.26% in geography indicate that urban areas is a place where informal sector are find and its contribution</a:t>
            </a:r>
          </a:p>
          <a:p>
            <a:pPr>
              <a:lnSpc>
                <a:spcPct val="150000"/>
              </a:lnSpc>
              <a:buFont typeface="Wingdings" panose="05000000000000000000" pitchFamily="2" charset="2"/>
              <a:buNone/>
            </a:pPr>
            <a:endParaRPr lang="en-US" sz="1400" b="1" dirty="0"/>
          </a:p>
          <a:p>
            <a:pPr>
              <a:lnSpc>
                <a:spcPct val="150000"/>
              </a:lnSpc>
              <a:buFont typeface="Wingdings" panose="05000000000000000000" pitchFamily="2" charset="2"/>
              <a:buChar char="v"/>
            </a:pPr>
            <a:r>
              <a:rPr lang="en-US" sz="1400" b="1" dirty="0"/>
              <a:t>This suggests that the region where a school or community is located might significantly influence economic growth, potentially reflecting regional disparities.</a:t>
            </a:r>
          </a:p>
          <a:p>
            <a:endParaRPr lang="en-US" dirty="0"/>
          </a:p>
        </p:txBody>
      </p:sp>
      <p:sp>
        <p:nvSpPr>
          <p:cNvPr id="4" name="Slide Number Placeholder 3"/>
          <p:cNvSpPr>
            <a:spLocks noGrp="1"/>
          </p:cNvSpPr>
          <p:nvPr>
            <p:ph type="sldNum" sz="quarter" idx="10"/>
          </p:nvPr>
        </p:nvSpPr>
        <p:spPr/>
        <p:txBody>
          <a:bodyPr/>
          <a:lstStyle/>
          <a:p>
            <a:fld id="{F729C2D8-58F0-4010-8FA0-43A24C3C21A8}" type="slidenum">
              <a:rPr lang="en-ZA" smtClean="0"/>
              <a:t>18</a:t>
            </a:fld>
            <a:endParaRPr lang="en-ZA"/>
          </a:p>
        </p:txBody>
      </p:sp>
    </p:spTree>
    <p:extLst>
      <p:ext uri="{BB962C8B-B14F-4D97-AF65-F5344CB8AC3E}">
        <p14:creationId xmlns:p14="http://schemas.microsoft.com/office/powerpoint/2010/main" val="2157215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lvl="0" indent="-285750" defTabSz="914400">
              <a:lnSpc>
                <a:spcPct val="150000"/>
              </a:lnSpc>
              <a:buFont typeface="Wingdings" panose="05000000000000000000" pitchFamily="2" charset="2"/>
              <a:buChar char="v"/>
              <a:defRPr/>
            </a:pPr>
            <a:r>
              <a:rPr lang="en-US" sz="1200" dirty="0"/>
              <a:t>Gauteng , </a:t>
            </a:r>
            <a:r>
              <a:rPr lang="en-US" sz="1200" dirty="0" err="1"/>
              <a:t>Kwazulu</a:t>
            </a:r>
            <a:r>
              <a:rPr lang="en-US" sz="1200" dirty="0"/>
              <a:t> Natal and Western Cape shows that they have the highest count &gt;2000 to 8000 unemployed</a:t>
            </a:r>
          </a:p>
          <a:p>
            <a:pPr lvl="0" defTabSz="914400">
              <a:lnSpc>
                <a:spcPct val="150000"/>
              </a:lnSpc>
              <a:defRPr/>
            </a:pPr>
            <a:r>
              <a:rPr lang="en-US" sz="1200" dirty="0"/>
              <a:t> </a:t>
            </a:r>
          </a:p>
          <a:p>
            <a:pPr marL="285750" lvl="0" indent="-285750" defTabSz="914400">
              <a:lnSpc>
                <a:spcPct val="150000"/>
              </a:lnSpc>
              <a:buFont typeface="Wingdings" panose="05000000000000000000" pitchFamily="2" charset="2"/>
              <a:buChar char="v"/>
              <a:defRPr/>
            </a:pPr>
            <a:r>
              <a:rPr lang="en-US" sz="1200" dirty="0"/>
              <a:t>Mpumalanga and Limpopo have significant unemployment population because this region are more rural and don’t have much industrial.</a:t>
            </a:r>
          </a:p>
          <a:p>
            <a:pPr lvl="0" defTabSz="914400">
              <a:lnSpc>
                <a:spcPct val="150000"/>
              </a:lnSpc>
              <a:defRPr/>
            </a:pPr>
            <a:endParaRPr lang="en-US" sz="1200" dirty="0"/>
          </a:p>
          <a:p>
            <a:pPr marL="285750" lvl="0" indent="-285750" defTabSz="914400">
              <a:lnSpc>
                <a:spcPct val="150000"/>
              </a:lnSpc>
              <a:buFont typeface="Wingdings" panose="05000000000000000000" pitchFamily="2" charset="2"/>
              <a:buChar char="v"/>
              <a:defRPr/>
            </a:pPr>
            <a:r>
              <a:rPr lang="en-US" sz="1200" dirty="0"/>
              <a:t>Most cities where informal economy strive is Johannesburg and Cape Town such as domestic worker, transport and street vendor</a:t>
            </a:r>
          </a:p>
          <a:p>
            <a:endParaRPr lang="en-US" dirty="0"/>
          </a:p>
        </p:txBody>
      </p:sp>
      <p:sp>
        <p:nvSpPr>
          <p:cNvPr id="4" name="Slide Number Placeholder 3"/>
          <p:cNvSpPr>
            <a:spLocks noGrp="1"/>
          </p:cNvSpPr>
          <p:nvPr>
            <p:ph type="sldNum" sz="quarter" idx="10"/>
          </p:nvPr>
        </p:nvSpPr>
        <p:spPr/>
        <p:txBody>
          <a:bodyPr/>
          <a:lstStyle/>
          <a:p>
            <a:fld id="{F729C2D8-58F0-4010-8FA0-43A24C3C21A8}" type="slidenum">
              <a:rPr lang="en-ZA" smtClean="0"/>
              <a:t>20</a:t>
            </a:fld>
            <a:endParaRPr lang="en-ZA"/>
          </a:p>
        </p:txBody>
      </p:sp>
    </p:spTree>
    <p:extLst>
      <p:ext uri="{BB962C8B-B14F-4D97-AF65-F5344CB8AC3E}">
        <p14:creationId xmlns:p14="http://schemas.microsoft.com/office/powerpoint/2010/main" val="709566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High rate of Unemployment led people starting their own business in order to make a living. </a:t>
            </a:r>
          </a:p>
          <a:p>
            <a:r>
              <a:rPr lang="en-US" sz="1200" kern="1200" dirty="0">
                <a:solidFill>
                  <a:schemeClr val="tx1"/>
                </a:solidFill>
                <a:effectLst/>
                <a:latin typeface="+mn-lt"/>
                <a:ea typeface="+mn-ea"/>
                <a:cs typeface="+mn-cs"/>
              </a:rPr>
              <a:t>White and Indian population indicate that most have better access to formal employment</a:t>
            </a:r>
          </a:p>
          <a:p>
            <a:endParaRPr lang="en-US" sz="1200" kern="1200" dirty="0">
              <a:solidFill>
                <a:schemeClr val="tx1"/>
              </a:solidFill>
              <a:effectLst/>
              <a:latin typeface="+mn-lt"/>
              <a:ea typeface="+mn-ea"/>
              <a:cs typeface="+mn-cs"/>
            </a:endParaRPr>
          </a:p>
          <a:p>
            <a:pPr marL="285750" indent="-285750">
              <a:lnSpc>
                <a:spcPct val="150000"/>
              </a:lnSpc>
              <a:buFont typeface="Wingdings" panose="05000000000000000000" pitchFamily="2" charset="2"/>
              <a:buChar char="v"/>
            </a:pPr>
            <a:r>
              <a:rPr lang="en-US" sz="1200" dirty="0"/>
              <a:t>Figure 1.1. This study has view that in the population group, most African are dominant in the informal employment by 70.7.</a:t>
            </a:r>
          </a:p>
          <a:p>
            <a:pPr>
              <a:lnSpc>
                <a:spcPct val="150000"/>
              </a:lnSpc>
            </a:pPr>
            <a:endParaRPr lang="en-US" sz="1200" dirty="0"/>
          </a:p>
          <a:p>
            <a:pPr marL="285750" indent="-285750">
              <a:lnSpc>
                <a:spcPct val="150000"/>
              </a:lnSpc>
              <a:buFont typeface="Wingdings" panose="05000000000000000000" pitchFamily="2" charset="2"/>
              <a:buChar char="v"/>
            </a:pPr>
            <a:r>
              <a:rPr lang="en-US" sz="1200" dirty="0"/>
              <a:t>This result indicates that most people who will be found in the informal sector are African and colored due to their population size.</a:t>
            </a:r>
          </a:p>
          <a:p>
            <a:pPr marL="285750" indent="-285750">
              <a:lnSpc>
                <a:spcPct val="150000"/>
              </a:lnSpc>
              <a:buFont typeface="Arial" panose="020B0604020202020204" pitchFamily="34" charset="0"/>
              <a:buChar char="•"/>
            </a:pPr>
            <a:endParaRPr lang="en-US" sz="1200" dirty="0"/>
          </a:p>
          <a:p>
            <a:pPr marL="285750" indent="-285750">
              <a:lnSpc>
                <a:spcPct val="150000"/>
              </a:lnSpc>
              <a:buFont typeface="Wingdings" panose="05000000000000000000" pitchFamily="2" charset="2"/>
              <a:buChar char="v"/>
            </a:pPr>
            <a:r>
              <a:rPr lang="en-US" sz="1200" dirty="0"/>
              <a:t>South African informal economy plays a significant role to the economic growth, because it helps to reduce poverty. </a:t>
            </a:r>
          </a:p>
          <a:p>
            <a:pPr>
              <a:lnSpc>
                <a:spcPct val="150000"/>
              </a:lnSpc>
            </a:pPr>
            <a:endParaRPr lang="en-US" sz="1200" dirty="0"/>
          </a:p>
          <a:p>
            <a:pPr marL="285750" indent="-285750">
              <a:lnSpc>
                <a:spcPct val="150000"/>
              </a:lnSpc>
              <a:buFont typeface="Wingdings" panose="05000000000000000000" pitchFamily="2" charset="2"/>
              <a:buChar char="v"/>
            </a:pPr>
            <a:r>
              <a:rPr lang="en-US" sz="1200" dirty="0"/>
              <a:t>This analysis indicates that the government should suggest policy measure in improving the condition of the informal sector but most likely on the African population</a:t>
            </a:r>
            <a:endParaRPr lang="en-ZA" sz="1200" dirty="0"/>
          </a:p>
          <a:p>
            <a:endParaRPr lang="en-US" dirty="0"/>
          </a:p>
        </p:txBody>
      </p:sp>
      <p:sp>
        <p:nvSpPr>
          <p:cNvPr id="4" name="Slide Number Placeholder 3"/>
          <p:cNvSpPr>
            <a:spLocks noGrp="1"/>
          </p:cNvSpPr>
          <p:nvPr>
            <p:ph type="sldNum" sz="quarter" idx="10"/>
          </p:nvPr>
        </p:nvSpPr>
        <p:spPr/>
        <p:txBody>
          <a:bodyPr/>
          <a:lstStyle/>
          <a:p>
            <a:fld id="{F729C2D8-58F0-4010-8FA0-43A24C3C21A8}" type="slidenum">
              <a:rPr lang="en-ZA" smtClean="0"/>
              <a:t>21</a:t>
            </a:fld>
            <a:endParaRPr lang="en-ZA"/>
          </a:p>
        </p:txBody>
      </p:sp>
    </p:spTree>
    <p:extLst>
      <p:ext uri="{BB962C8B-B14F-4D97-AF65-F5344CB8AC3E}">
        <p14:creationId xmlns:p14="http://schemas.microsoft.com/office/powerpoint/2010/main" val="2794090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150000"/>
              </a:lnSpc>
              <a:buFont typeface="Wingdings" panose="05000000000000000000" pitchFamily="2" charset="2"/>
              <a:buChar char="v"/>
            </a:pPr>
            <a:r>
              <a:rPr lang="en-US" sz="1200" dirty="0"/>
              <a:t>The city of Johannesburg and city of Cape town have a significant proportion in the formal sector(non-agricultural) which contribute account of more than 1000.</a:t>
            </a:r>
          </a:p>
          <a:p>
            <a:pPr marL="285750" indent="-285750">
              <a:lnSpc>
                <a:spcPct val="150000"/>
              </a:lnSpc>
              <a:buFont typeface="Wingdings" panose="05000000000000000000" pitchFamily="2" charset="2"/>
              <a:buChar char="v"/>
            </a:pPr>
            <a:endParaRPr lang="en-US" sz="1200" dirty="0"/>
          </a:p>
          <a:p>
            <a:pPr marL="285750" indent="-285750">
              <a:lnSpc>
                <a:spcPct val="150000"/>
              </a:lnSpc>
              <a:buFont typeface="Wingdings" panose="05000000000000000000" pitchFamily="2" charset="2"/>
              <a:buChar char="v"/>
            </a:pPr>
            <a:r>
              <a:rPr lang="en-US" sz="1200" dirty="0"/>
              <a:t>In the informal sector, the agricultural play a significant role to labours in some region, such as non-metro code areas in the province</a:t>
            </a:r>
          </a:p>
          <a:p>
            <a:pPr marL="285750" indent="-285750">
              <a:lnSpc>
                <a:spcPct val="150000"/>
              </a:lnSpc>
              <a:buFont typeface="Wingdings" panose="05000000000000000000" pitchFamily="2" charset="2"/>
              <a:buChar char="v"/>
            </a:pPr>
            <a:endParaRPr lang="en-US" sz="1200" dirty="0"/>
          </a:p>
          <a:p>
            <a:pPr marL="285750" indent="-285750">
              <a:lnSpc>
                <a:spcPct val="150000"/>
              </a:lnSpc>
              <a:buFont typeface="Wingdings" panose="05000000000000000000" pitchFamily="2" charset="2"/>
              <a:buChar char="v"/>
            </a:pPr>
            <a:r>
              <a:rPr lang="en-US" sz="1200" dirty="0"/>
              <a:t>The private household conclude that the is less labour who are doing domestic workers, the informal sector provides job opportunities in region where the is high unemployment rate</a:t>
            </a:r>
            <a:endParaRPr lang="en-ZA" sz="1200" dirty="0"/>
          </a:p>
          <a:p>
            <a:endParaRPr lang="en-US" dirty="0"/>
          </a:p>
        </p:txBody>
      </p:sp>
      <p:sp>
        <p:nvSpPr>
          <p:cNvPr id="4" name="Slide Number Placeholder 3"/>
          <p:cNvSpPr>
            <a:spLocks noGrp="1"/>
          </p:cNvSpPr>
          <p:nvPr>
            <p:ph type="sldNum" sz="quarter" idx="10"/>
          </p:nvPr>
        </p:nvSpPr>
        <p:spPr/>
        <p:txBody>
          <a:bodyPr/>
          <a:lstStyle/>
          <a:p>
            <a:fld id="{F729C2D8-58F0-4010-8FA0-43A24C3C21A8}" type="slidenum">
              <a:rPr lang="en-ZA" smtClean="0"/>
              <a:t>22</a:t>
            </a:fld>
            <a:endParaRPr lang="en-ZA"/>
          </a:p>
        </p:txBody>
      </p:sp>
    </p:spTree>
    <p:extLst>
      <p:ext uri="{BB962C8B-B14F-4D97-AF65-F5344CB8AC3E}">
        <p14:creationId xmlns:p14="http://schemas.microsoft.com/office/powerpoint/2010/main" val="1470847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150000"/>
              </a:lnSpc>
              <a:buFont typeface="Wingdings" panose="05000000000000000000" pitchFamily="2" charset="2"/>
              <a:buChar char="v"/>
            </a:pPr>
            <a:r>
              <a:rPr lang="en-US" sz="1200" dirty="0"/>
              <a:t>This graph supports our objective because it indicates that most people are employed in the CBD (Central Business District) in the urban area</a:t>
            </a:r>
          </a:p>
          <a:p>
            <a:pPr marL="285750" indent="-285750">
              <a:lnSpc>
                <a:spcPct val="150000"/>
              </a:lnSpc>
              <a:buFont typeface="Wingdings" panose="05000000000000000000" pitchFamily="2" charset="2"/>
              <a:buChar char="v"/>
            </a:pPr>
            <a:endParaRPr kumimoji="0" lang="en-US" sz="1200" b="1" i="0" u="none" strike="noStrike" kern="1200" cap="none" spc="0" normalizeH="0" baseline="0" noProof="0" dirty="0">
              <a:ln>
                <a:noFill/>
              </a:ln>
              <a:solidFill>
                <a:srgbClr val="000000"/>
              </a:solidFill>
              <a:effectLst/>
              <a:uLnTx/>
              <a:uFillTx/>
              <a:latin typeface="Arial"/>
              <a:cs typeface="Arial"/>
            </a:endParaRPr>
          </a:p>
          <a:p>
            <a:pPr marL="285750" indent="-285750">
              <a:lnSpc>
                <a:spcPct val="150000"/>
              </a:lnSpc>
              <a:buFont typeface="Wingdings" panose="05000000000000000000" pitchFamily="2" charset="2"/>
              <a:buChar char="v"/>
            </a:pPr>
            <a:r>
              <a:rPr lang="en-US" sz="1200" dirty="0">
                <a:solidFill>
                  <a:srgbClr val="000000"/>
                </a:solidFill>
                <a:cs typeface="Arial"/>
              </a:rPr>
              <a:t>From age group of 15 to 35, this graph indicates that most people start working and this state that the more the age group grow people move in the urban area to seek for employment</a:t>
            </a:r>
          </a:p>
          <a:p>
            <a:pPr marL="285750" indent="-285750">
              <a:lnSpc>
                <a:spcPct val="150000"/>
              </a:lnSpc>
              <a:buFont typeface="Wingdings" panose="05000000000000000000" pitchFamily="2" charset="2"/>
              <a:buChar char="v"/>
            </a:pPr>
            <a:endParaRPr kumimoji="0" lang="en-US" sz="1200" i="0" u="none" strike="noStrike" kern="1200" cap="none" spc="0" normalizeH="0" baseline="0" noProof="0" dirty="0">
              <a:ln>
                <a:noFill/>
              </a:ln>
              <a:solidFill>
                <a:srgbClr val="000000"/>
              </a:solidFill>
              <a:effectLst/>
              <a:uLnTx/>
              <a:uFillTx/>
              <a:cs typeface="Arial"/>
            </a:endParaRPr>
          </a:p>
          <a:p>
            <a:pPr marL="285750" indent="-285750">
              <a:lnSpc>
                <a:spcPct val="150000"/>
              </a:lnSpc>
              <a:buFont typeface="Wingdings" panose="05000000000000000000" pitchFamily="2" charset="2"/>
              <a:buChar char="v"/>
            </a:pPr>
            <a:r>
              <a:rPr lang="en-US" sz="1200" dirty="0"/>
              <a:t>The dominance of the urban sector indicates that the area is contributing to economic growth, for example city of </a:t>
            </a:r>
            <a:r>
              <a:rPr lang="en-US" sz="1200" b="0" dirty="0"/>
              <a:t>Cape Town </a:t>
            </a:r>
            <a:endParaRPr kumimoji="0" lang="en-ZA" sz="1200" b="0" i="0" u="none" strike="noStrike" kern="1200" cap="none" spc="0" normalizeH="0" baseline="0" noProof="0" dirty="0">
              <a:ln>
                <a:noFill/>
              </a:ln>
              <a:solidFill>
                <a:srgbClr val="000000"/>
              </a:solidFill>
              <a:effectLst/>
              <a:uLnTx/>
              <a:uFillTx/>
              <a:cs typeface="Arial"/>
            </a:endParaRPr>
          </a:p>
          <a:p>
            <a:endParaRPr lang="en-US" dirty="0"/>
          </a:p>
        </p:txBody>
      </p:sp>
      <p:sp>
        <p:nvSpPr>
          <p:cNvPr id="4" name="Slide Number Placeholder 3"/>
          <p:cNvSpPr>
            <a:spLocks noGrp="1"/>
          </p:cNvSpPr>
          <p:nvPr>
            <p:ph type="sldNum" sz="quarter" idx="10"/>
          </p:nvPr>
        </p:nvSpPr>
        <p:spPr/>
        <p:txBody>
          <a:bodyPr/>
          <a:lstStyle/>
          <a:p>
            <a:fld id="{F729C2D8-58F0-4010-8FA0-43A24C3C21A8}" type="slidenum">
              <a:rPr lang="en-ZA" smtClean="0"/>
              <a:t>23</a:t>
            </a:fld>
            <a:endParaRPr lang="en-ZA"/>
          </a:p>
        </p:txBody>
      </p:sp>
    </p:spTree>
    <p:extLst>
      <p:ext uri="{BB962C8B-B14F-4D97-AF65-F5344CB8AC3E}">
        <p14:creationId xmlns:p14="http://schemas.microsoft.com/office/powerpoint/2010/main" val="605075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GDP contribute approximately 30% and 2.5 Million</a:t>
            </a:r>
            <a:r>
              <a:rPr lang="en-US" baseline="0" dirty="0"/>
              <a:t> employment (Ntuli S, 2022)</a:t>
            </a:r>
            <a:endParaRPr lang="en-US" dirty="0"/>
          </a:p>
        </p:txBody>
      </p:sp>
      <p:sp>
        <p:nvSpPr>
          <p:cNvPr id="4" name="Slide Number Placeholder 3"/>
          <p:cNvSpPr>
            <a:spLocks noGrp="1"/>
          </p:cNvSpPr>
          <p:nvPr>
            <p:ph type="sldNum" sz="quarter" idx="10"/>
          </p:nvPr>
        </p:nvSpPr>
        <p:spPr/>
        <p:txBody>
          <a:bodyPr/>
          <a:lstStyle/>
          <a:p>
            <a:fld id="{F729C2D8-58F0-4010-8FA0-43A24C3C21A8}" type="slidenum">
              <a:rPr lang="en-ZA" smtClean="0"/>
              <a:t>24</a:t>
            </a:fld>
            <a:endParaRPr lang="en-ZA"/>
          </a:p>
        </p:txBody>
      </p:sp>
    </p:spTree>
    <p:extLst>
      <p:ext uri="{BB962C8B-B14F-4D97-AF65-F5344CB8AC3E}">
        <p14:creationId xmlns:p14="http://schemas.microsoft.com/office/powerpoint/2010/main" val="516727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Strategy</a:t>
            </a:r>
            <a:r>
              <a:rPr lang="en-US" b="1" baseline="0" dirty="0"/>
              <a:t> for informal economy:</a:t>
            </a:r>
          </a:p>
          <a:p>
            <a:endParaRPr lang="en-US" baseline="0" dirty="0"/>
          </a:p>
          <a:p>
            <a:r>
              <a:rPr lang="en-US" baseline="0" dirty="0"/>
              <a:t>NIBUS (National Informal Business Upliftment Strategy – used to support informal businesses , address their challenges</a:t>
            </a:r>
          </a:p>
          <a:p>
            <a:r>
              <a:rPr lang="en-US" baseline="0" dirty="0"/>
              <a:t>SETA Training Programs- provide training and skills to informal workers to improve productivity</a:t>
            </a:r>
          </a:p>
          <a:p>
            <a:endParaRPr lang="en-US" baseline="0" dirty="0"/>
          </a:p>
          <a:p>
            <a:endParaRPr lang="en-US" baseline="0" dirty="0"/>
          </a:p>
          <a:p>
            <a:r>
              <a:rPr lang="en-US" b="1" dirty="0"/>
              <a:t>Future Strategy technology transformation:</a:t>
            </a:r>
          </a:p>
          <a:p>
            <a:endParaRPr lang="en-US" dirty="0"/>
          </a:p>
          <a:p>
            <a:r>
              <a:rPr lang="en-US" dirty="0"/>
              <a:t>Mobile banking introduce to make it simple to trade and manage their finance</a:t>
            </a:r>
          </a:p>
          <a:p>
            <a:endParaRPr lang="en-US" dirty="0"/>
          </a:p>
          <a:p>
            <a:endParaRPr lang="en-US" dirty="0"/>
          </a:p>
          <a:p>
            <a:r>
              <a:rPr lang="en-US" b="1" dirty="0"/>
              <a:t>Case study of successful enterprise:</a:t>
            </a:r>
          </a:p>
          <a:p>
            <a:endParaRPr lang="en-US" b="1" dirty="0"/>
          </a:p>
          <a:p>
            <a:r>
              <a:rPr lang="en-US" b="0" dirty="0"/>
              <a:t>Real life scenario</a:t>
            </a:r>
            <a:r>
              <a:rPr lang="en-US" b="0" baseline="0" dirty="0"/>
              <a:t> like brazil and India </a:t>
            </a:r>
          </a:p>
          <a:p>
            <a:r>
              <a:rPr lang="en-US" b="1" baseline="0" dirty="0"/>
              <a:t>India</a:t>
            </a:r>
            <a:r>
              <a:rPr lang="en-US" b="0" baseline="0" dirty="0"/>
              <a:t>- used of technology for formalization to informal worker</a:t>
            </a:r>
          </a:p>
          <a:p>
            <a:r>
              <a:rPr lang="en-US" b="0" baseline="0" dirty="0"/>
              <a:t>        - mobile application provide training and support</a:t>
            </a:r>
          </a:p>
          <a:p>
            <a:r>
              <a:rPr lang="en-US" b="0" baseline="0" dirty="0"/>
              <a:t>        - access to financial services through digital</a:t>
            </a:r>
          </a:p>
          <a:p>
            <a:endParaRPr lang="en-US" b="0" baseline="0" dirty="0"/>
          </a:p>
          <a:p>
            <a:r>
              <a:rPr lang="en-US" b="1" baseline="0" dirty="0"/>
              <a:t>Brazil</a:t>
            </a:r>
            <a:r>
              <a:rPr lang="en-US" b="0" baseline="0" dirty="0"/>
              <a:t> –focus on reducing barrier for informal businesses</a:t>
            </a:r>
          </a:p>
          <a:p>
            <a:r>
              <a:rPr lang="en-US" b="0" baseline="0" dirty="0"/>
              <a:t>         - Government provide training and resources for informal  workers</a:t>
            </a:r>
            <a:endParaRPr lang="en-US" b="0" dirty="0"/>
          </a:p>
          <a:p>
            <a:endParaRPr lang="en-US" dirty="0"/>
          </a:p>
          <a:p>
            <a:endParaRPr lang="en-US" dirty="0"/>
          </a:p>
        </p:txBody>
      </p:sp>
      <p:sp>
        <p:nvSpPr>
          <p:cNvPr id="4" name="Slide Number Placeholder 3"/>
          <p:cNvSpPr>
            <a:spLocks noGrp="1"/>
          </p:cNvSpPr>
          <p:nvPr>
            <p:ph type="sldNum" sz="quarter" idx="10"/>
          </p:nvPr>
        </p:nvSpPr>
        <p:spPr/>
        <p:txBody>
          <a:bodyPr/>
          <a:lstStyle/>
          <a:p>
            <a:fld id="{F729C2D8-58F0-4010-8FA0-43A24C3C21A8}" type="slidenum">
              <a:rPr lang="en-ZA" smtClean="0"/>
              <a:t>25</a:t>
            </a:fld>
            <a:endParaRPr lang="en-ZA"/>
          </a:p>
        </p:txBody>
      </p:sp>
    </p:spTree>
    <p:extLst>
      <p:ext uri="{BB962C8B-B14F-4D97-AF65-F5344CB8AC3E}">
        <p14:creationId xmlns:p14="http://schemas.microsoft.com/office/powerpoint/2010/main" val="2023225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251DF60-464C-4BD4-8D0A-3624F70F8F0E}" type="datetime3">
              <a:rPr lang="en-ZA" smtClean="0"/>
              <a:t>5 March 2026</a:t>
            </a:fld>
            <a:endParaRPr lang="en-ZA" dirty="0"/>
          </a:p>
        </p:txBody>
      </p:sp>
      <p:sp>
        <p:nvSpPr>
          <p:cNvPr id="5" name="Footer Placeholder 4"/>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p:cNvSpPr>
            <a:spLocks noGrp="1"/>
          </p:cNvSpPr>
          <p:nvPr>
            <p:ph type="sldNum" sz="quarter" idx="12"/>
          </p:nvPr>
        </p:nvSpPr>
        <p:spPr/>
        <p:txBody>
          <a:bodyPr/>
          <a:lstStyle/>
          <a:p>
            <a:fld id="{4BAB4CA8-F650-4055-9541-1E017D8B8873}" type="slidenum">
              <a:rPr lang="en-ZA" smtClean="0"/>
              <a:pPr/>
              <a:t>‹#›</a:t>
            </a:fld>
            <a:endParaRPr lang="en-ZA" dirty="0"/>
          </a:p>
        </p:txBody>
      </p:sp>
    </p:spTree>
    <p:extLst>
      <p:ext uri="{BB962C8B-B14F-4D97-AF65-F5344CB8AC3E}">
        <p14:creationId xmlns:p14="http://schemas.microsoft.com/office/powerpoint/2010/main" val="155300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2AD394A7-1302-450B-95EB-FFC37E100C94}" type="datetime3">
              <a:rPr lang="en-ZA" smtClean="0"/>
              <a:t>5 March 2026</a:t>
            </a:fld>
            <a:endParaRPr lang="en-ZA" dirty="0"/>
          </a:p>
        </p:txBody>
      </p:sp>
      <p:sp>
        <p:nvSpPr>
          <p:cNvPr id="8" name="Footer Placeholder 7"/>
          <p:cNvSpPr>
            <a:spLocks noGrp="1"/>
          </p:cNvSpPr>
          <p:nvPr>
            <p:ph type="ftr" sz="quarter" idx="11"/>
          </p:nvPr>
        </p:nvSpPr>
        <p:spPr/>
        <p:txBody>
          <a:bodyPr/>
          <a:lstStyle/>
          <a:p>
            <a:endParaRPr lang="en-ZA"/>
          </a:p>
          <a:p>
            <a:r>
              <a:rPr lang="en-ZA"/>
              <a:t>Department of Mathematics &amp; Physics</a:t>
            </a:r>
            <a:endParaRPr lang="en-ZA" dirty="0"/>
          </a:p>
        </p:txBody>
      </p:sp>
      <p:sp>
        <p:nvSpPr>
          <p:cNvPr id="9" name="Slide Number Placeholder 8"/>
          <p:cNvSpPr>
            <a:spLocks noGrp="1"/>
          </p:cNvSpPr>
          <p:nvPr>
            <p:ph type="sldNum" sz="quarter" idx="12"/>
          </p:nvPr>
        </p:nvSpPr>
        <p:spPr/>
        <p:txBody>
          <a:bodyPr/>
          <a:lstStyle/>
          <a:p>
            <a:fld id="{FCDC5D13-0321-4383-81EA-F2073319DF27}" type="slidenum">
              <a:rPr lang="en-ZA" smtClean="0"/>
              <a:pPr/>
              <a:t>‹#›</a:t>
            </a:fld>
            <a:endParaRPr lang="en-ZA" dirty="0"/>
          </a:p>
        </p:txBody>
      </p:sp>
      <p:pic>
        <p:nvPicPr>
          <p:cNvPr id="4" name="Picture 3">
            <a:extLst>
              <a:ext uri="{FF2B5EF4-FFF2-40B4-BE49-F238E27FC236}">
                <a16:creationId xmlns:a16="http://schemas.microsoft.com/office/drawing/2014/main" id="{7AC2868B-9A88-9DC8-6035-024DC8199F4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2026144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5EA8D51-1E9B-4081-9BDD-D3361D3886B9}" type="datetime3">
              <a:rPr lang="en-ZA" smtClean="0"/>
              <a:t>5 March 2026</a:t>
            </a:fld>
            <a:endParaRPr lang="en-ZA" dirty="0"/>
          </a:p>
        </p:txBody>
      </p:sp>
      <p:sp>
        <p:nvSpPr>
          <p:cNvPr id="5" name="Footer Placeholder 4"/>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p:cNvSpPr>
            <a:spLocks noGrp="1"/>
          </p:cNvSpPr>
          <p:nvPr>
            <p:ph type="sldNum" sz="quarter" idx="12"/>
          </p:nvPr>
        </p:nvSpPr>
        <p:spPr/>
        <p:txBody>
          <a:bodyPr/>
          <a:lstStyle/>
          <a:p>
            <a:fld id="{FCDC5D13-0321-4383-81EA-F2073319DF27}" type="slidenum">
              <a:rPr lang="en-ZA" smtClean="0"/>
              <a:pPr/>
              <a:t>‹#›</a:t>
            </a:fld>
            <a:endParaRPr lang="en-ZA" dirty="0"/>
          </a:p>
        </p:txBody>
      </p:sp>
      <p:pic>
        <p:nvPicPr>
          <p:cNvPr id="7" name="Picture 6">
            <a:extLst>
              <a:ext uri="{FF2B5EF4-FFF2-40B4-BE49-F238E27FC236}">
                <a16:creationId xmlns:a16="http://schemas.microsoft.com/office/drawing/2014/main" id="{DFF6CE40-4264-BD03-9D0B-B0985B61A16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3240592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11E5B0A7-0E05-4A59-9704-66249F2DB4B6}" type="datetime3">
              <a:rPr lang="en-ZA" smtClean="0"/>
              <a:t>5 March 2026</a:t>
            </a:fld>
            <a:endParaRPr lang="en-ZA" dirty="0"/>
          </a:p>
        </p:txBody>
      </p:sp>
      <p:sp>
        <p:nvSpPr>
          <p:cNvPr id="9" name="Footer Placeholder 8"/>
          <p:cNvSpPr>
            <a:spLocks noGrp="1"/>
          </p:cNvSpPr>
          <p:nvPr>
            <p:ph type="ftr" sz="quarter" idx="11"/>
          </p:nvPr>
        </p:nvSpPr>
        <p:spPr/>
        <p:txBody>
          <a:bodyPr/>
          <a:lstStyle/>
          <a:p>
            <a:endParaRPr lang="en-ZA"/>
          </a:p>
          <a:p>
            <a:r>
              <a:rPr lang="en-ZA"/>
              <a:t>Department of Mathematics &amp; Physics</a:t>
            </a:r>
            <a:endParaRPr lang="en-ZA" dirty="0"/>
          </a:p>
        </p:txBody>
      </p:sp>
      <p:sp>
        <p:nvSpPr>
          <p:cNvPr id="10" name="Slide Number Placeholder 9"/>
          <p:cNvSpPr>
            <a:spLocks noGrp="1"/>
          </p:cNvSpPr>
          <p:nvPr>
            <p:ph type="sldNum" sz="quarter" idx="12"/>
          </p:nvPr>
        </p:nvSpPr>
        <p:spPr/>
        <p:txBody>
          <a:bodyPr/>
          <a:lstStyle/>
          <a:p>
            <a:fld id="{FCDC5D13-0321-4383-81EA-F2073319DF27}" type="slidenum">
              <a:rPr lang="en-ZA" smtClean="0"/>
              <a:pPr/>
              <a:t>‹#›</a:t>
            </a:fld>
            <a:endParaRPr lang="en-ZA" dirty="0"/>
          </a:p>
        </p:txBody>
      </p:sp>
      <p:pic>
        <p:nvPicPr>
          <p:cNvPr id="5" name="Picture 4">
            <a:extLst>
              <a:ext uri="{FF2B5EF4-FFF2-40B4-BE49-F238E27FC236}">
                <a16:creationId xmlns:a16="http://schemas.microsoft.com/office/drawing/2014/main" id="{E41728C1-CFDF-D9ED-6392-41D5D0EB89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2876395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63242D48-62C4-4B3C-ABE0-5DCF990D9E2D}" type="datetime3">
              <a:rPr lang="en-ZA" smtClean="0"/>
              <a:t>5 March 2026</a:t>
            </a:fld>
            <a:endParaRPr lang="en-ZA" dirty="0"/>
          </a:p>
        </p:txBody>
      </p:sp>
      <p:sp>
        <p:nvSpPr>
          <p:cNvPr id="8" name="Footer Placeholder 7"/>
          <p:cNvSpPr>
            <a:spLocks noGrp="1"/>
          </p:cNvSpPr>
          <p:nvPr>
            <p:ph type="ftr" sz="quarter" idx="11"/>
          </p:nvPr>
        </p:nvSpPr>
        <p:spPr/>
        <p:txBody>
          <a:bodyPr/>
          <a:lstStyle/>
          <a:p>
            <a:endParaRPr lang="en-ZA"/>
          </a:p>
          <a:p>
            <a:r>
              <a:rPr lang="en-ZA"/>
              <a:t>Department of Mathematics &amp; Physics</a:t>
            </a:r>
            <a:endParaRPr lang="en-ZA" dirty="0"/>
          </a:p>
        </p:txBody>
      </p:sp>
      <p:sp>
        <p:nvSpPr>
          <p:cNvPr id="9" name="Slide Number Placeholder 8"/>
          <p:cNvSpPr>
            <a:spLocks noGrp="1"/>
          </p:cNvSpPr>
          <p:nvPr>
            <p:ph type="sldNum" sz="quarter" idx="12"/>
          </p:nvPr>
        </p:nvSpPr>
        <p:spPr/>
        <p:txBody>
          <a:bodyPr/>
          <a:lstStyle/>
          <a:p>
            <a:fld id="{FCDC5D13-0321-4383-81EA-F2073319DF27}" type="slidenum">
              <a:rPr lang="en-ZA" smtClean="0"/>
              <a:pPr/>
              <a:t>‹#›</a:t>
            </a:fld>
            <a:endParaRPr lang="en-ZA" dirty="0"/>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3563786380"/>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F166AD8-C202-41FF-A62D-A144727F6E0D}" type="datetime3">
              <a:rPr lang="en-ZA" smtClean="0"/>
              <a:t>5 March 2026</a:t>
            </a:fld>
            <a:endParaRPr lang="en-ZA" dirty="0"/>
          </a:p>
        </p:txBody>
      </p:sp>
      <p:sp>
        <p:nvSpPr>
          <p:cNvPr id="4" name="Footer Placeholder 3"/>
          <p:cNvSpPr>
            <a:spLocks noGrp="1"/>
          </p:cNvSpPr>
          <p:nvPr>
            <p:ph type="ftr" sz="quarter" idx="11"/>
          </p:nvPr>
        </p:nvSpPr>
        <p:spPr/>
        <p:txBody>
          <a:bodyPr/>
          <a:lstStyle/>
          <a:p>
            <a:endParaRPr lang="en-ZA"/>
          </a:p>
          <a:p>
            <a:r>
              <a:rPr lang="en-ZA"/>
              <a:t>Department of Mathematics &amp; Physics</a:t>
            </a:r>
            <a:endParaRPr lang="en-ZA" dirty="0"/>
          </a:p>
        </p:txBody>
      </p:sp>
      <p:sp>
        <p:nvSpPr>
          <p:cNvPr id="5" name="Slide Number Placeholder 4"/>
          <p:cNvSpPr>
            <a:spLocks noGrp="1"/>
          </p:cNvSpPr>
          <p:nvPr>
            <p:ph type="sldNum" sz="quarter" idx="12"/>
          </p:nvPr>
        </p:nvSpPr>
        <p:spPr/>
        <p:txBody>
          <a:bodyPr/>
          <a:lstStyle/>
          <a:p>
            <a:fld id="{FCDC5D13-0321-4383-81EA-F2073319DF27}" type="slidenum">
              <a:rPr lang="en-ZA" smtClean="0"/>
              <a:pPr/>
              <a:t>‹#›</a:t>
            </a:fld>
            <a:endParaRPr lang="en-ZA" dirty="0"/>
          </a:p>
        </p:txBody>
      </p:sp>
      <p:pic>
        <p:nvPicPr>
          <p:cNvPr id="6" name="Picture 5">
            <a:extLst>
              <a:ext uri="{FF2B5EF4-FFF2-40B4-BE49-F238E27FC236}">
                <a16:creationId xmlns:a16="http://schemas.microsoft.com/office/drawing/2014/main" id="{3E140092-AACC-9BA6-C278-CDD06291A54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3431004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65A318-0514-4A73-AF9E-6FD7E8DE28C5}" type="datetime3">
              <a:rPr lang="en-ZA" smtClean="0"/>
              <a:t>5 March 2026</a:t>
            </a:fld>
            <a:endParaRPr lang="en-ZA" dirty="0"/>
          </a:p>
        </p:txBody>
      </p:sp>
      <p:sp>
        <p:nvSpPr>
          <p:cNvPr id="3" name="Footer Placeholder 2"/>
          <p:cNvSpPr>
            <a:spLocks noGrp="1"/>
          </p:cNvSpPr>
          <p:nvPr>
            <p:ph type="ftr" sz="quarter" idx="11"/>
          </p:nvPr>
        </p:nvSpPr>
        <p:spPr/>
        <p:txBody>
          <a:bodyPr/>
          <a:lstStyle/>
          <a:p>
            <a:endParaRPr lang="en-ZA"/>
          </a:p>
          <a:p>
            <a:r>
              <a:rPr lang="en-ZA"/>
              <a:t>Department of Mathematics &amp; Physics</a:t>
            </a:r>
            <a:endParaRPr lang="en-ZA" dirty="0"/>
          </a:p>
        </p:txBody>
      </p:sp>
      <p:sp>
        <p:nvSpPr>
          <p:cNvPr id="4" name="Slide Number Placeholder 3"/>
          <p:cNvSpPr>
            <a:spLocks noGrp="1"/>
          </p:cNvSpPr>
          <p:nvPr>
            <p:ph type="sldNum" sz="quarter" idx="12"/>
          </p:nvPr>
        </p:nvSpPr>
        <p:spPr/>
        <p:txBody>
          <a:bodyPr/>
          <a:lstStyle/>
          <a:p>
            <a:fld id="{FCDC5D13-0321-4383-81EA-F2073319DF27}" type="slidenum">
              <a:rPr lang="en-ZA" smtClean="0"/>
              <a:pPr/>
              <a:t>‹#›</a:t>
            </a:fld>
            <a:endParaRPr lang="en-ZA" dirty="0"/>
          </a:p>
        </p:txBody>
      </p:sp>
      <p:pic>
        <p:nvPicPr>
          <p:cNvPr id="5" name="Picture 4">
            <a:extLst>
              <a:ext uri="{FF2B5EF4-FFF2-40B4-BE49-F238E27FC236}">
                <a16:creationId xmlns:a16="http://schemas.microsoft.com/office/drawing/2014/main" id="{C03E89A9-6537-8733-7878-7C10B5D9FB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1494233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0CE222A4-F6FA-4A8C-B835-174C86BB7792}" type="datetime3">
              <a:rPr lang="en-ZA" smtClean="0"/>
              <a:t>5 March 2026</a:t>
            </a:fld>
            <a:endParaRPr lang="en-ZA"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ZA"/>
          </a:p>
          <a:p>
            <a:r>
              <a:rPr lang="en-ZA"/>
              <a:t>Department of Mathematics &amp; Physics</a:t>
            </a:r>
            <a:endParaRPr lang="en-ZA" dirty="0"/>
          </a:p>
        </p:txBody>
      </p:sp>
      <p:sp>
        <p:nvSpPr>
          <p:cNvPr id="11" name="Slide Number Placeholder 10"/>
          <p:cNvSpPr>
            <a:spLocks noGrp="1"/>
          </p:cNvSpPr>
          <p:nvPr>
            <p:ph type="sldNum" sz="quarter" idx="12"/>
          </p:nvPr>
        </p:nvSpPr>
        <p:spPr/>
        <p:txBody>
          <a:bodyPr/>
          <a:lstStyle/>
          <a:p>
            <a:fld id="{FCDC5D13-0321-4383-81EA-F2073319DF27}" type="slidenum">
              <a:rPr lang="en-ZA" smtClean="0"/>
              <a:pPr/>
              <a:t>‹#›</a:t>
            </a:fld>
            <a:endParaRPr lang="en-ZA" dirty="0"/>
          </a:p>
        </p:txBody>
      </p:sp>
      <p:pic>
        <p:nvPicPr>
          <p:cNvPr id="5" name="Picture 4">
            <a:extLst>
              <a:ext uri="{FF2B5EF4-FFF2-40B4-BE49-F238E27FC236}">
                <a16:creationId xmlns:a16="http://schemas.microsoft.com/office/drawing/2014/main" id="{1D5CA16D-6648-F4AA-D0C4-D65F22FC4F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2381511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85000"/>
            </a:schemeClr>
          </a:solidFill>
        </p:spPr>
        <p:txBody>
          <a:bodyPr anchor="t"/>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7D0E48FF-BE5F-402F-88D0-0E42A85B39E9}" type="datetime3">
              <a:rPr lang="en-ZA" smtClean="0"/>
              <a:t>5 March 2026</a:t>
            </a:fld>
            <a:endParaRPr lang="en-ZA" dirty="0"/>
          </a:p>
        </p:txBody>
      </p:sp>
      <p:sp>
        <p:nvSpPr>
          <p:cNvPr id="9" name="Footer Placeholder 8"/>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ZA"/>
          </a:p>
          <a:p>
            <a:r>
              <a:rPr lang="en-ZA"/>
              <a:t>Department of Mathematics &amp; Physics</a:t>
            </a:r>
            <a:endParaRPr lang="en-ZA" dirty="0"/>
          </a:p>
        </p:txBody>
      </p:sp>
      <p:sp>
        <p:nvSpPr>
          <p:cNvPr id="10" name="Slide Number Placeholder 9"/>
          <p:cNvSpPr>
            <a:spLocks noGrp="1"/>
          </p:cNvSpPr>
          <p:nvPr>
            <p:ph type="sldNum" sz="quarter" idx="12"/>
          </p:nvPr>
        </p:nvSpPr>
        <p:spPr/>
        <p:txBody>
          <a:bodyPr/>
          <a:lstStyle/>
          <a:p>
            <a:fld id="{FCDC5D13-0321-4383-81EA-F2073319DF27}" type="slidenum">
              <a:rPr lang="en-ZA" smtClean="0"/>
              <a:pPr/>
              <a:t>‹#›</a:t>
            </a:fld>
            <a:endParaRPr lang="en-ZA" dirty="0"/>
          </a:p>
        </p:txBody>
      </p:sp>
      <p:pic>
        <p:nvPicPr>
          <p:cNvPr id="5" name="Picture 4">
            <a:extLst>
              <a:ext uri="{FF2B5EF4-FFF2-40B4-BE49-F238E27FC236}">
                <a16:creationId xmlns:a16="http://schemas.microsoft.com/office/drawing/2014/main" id="{6D5385E0-7DE5-115C-287F-F642FCD6CEA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764876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CFF3A4F-CABF-4398-994B-8C345006B0B3}" type="datetime3">
              <a:rPr lang="en-ZA" smtClean="0"/>
              <a:t>5 March 2026</a:t>
            </a:fld>
            <a:endParaRPr lang="en-ZA" dirty="0"/>
          </a:p>
        </p:txBody>
      </p:sp>
      <p:sp>
        <p:nvSpPr>
          <p:cNvPr id="5" name="Footer Placeholder 4"/>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p:cNvSpPr>
            <a:spLocks noGrp="1"/>
          </p:cNvSpPr>
          <p:nvPr>
            <p:ph type="sldNum" sz="quarter" idx="12"/>
          </p:nvPr>
        </p:nvSpPr>
        <p:spPr/>
        <p:txBody>
          <a:bodyPr/>
          <a:lstStyle/>
          <a:p>
            <a:fld id="{FCDC5D13-0321-4383-81EA-F2073319DF27}" type="slidenum">
              <a:rPr lang="en-ZA" smtClean="0"/>
              <a:pPr/>
              <a:t>‹#›</a:t>
            </a:fld>
            <a:endParaRPr lang="en-ZA" dirty="0"/>
          </a:p>
        </p:txBody>
      </p:sp>
      <p:pic>
        <p:nvPicPr>
          <p:cNvPr id="7" name="Picture 6">
            <a:extLst>
              <a:ext uri="{FF2B5EF4-FFF2-40B4-BE49-F238E27FC236}">
                <a16:creationId xmlns:a16="http://schemas.microsoft.com/office/drawing/2014/main" id="{83D0EFAC-BB42-DCD2-D3EB-1A614F0A5E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1082064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30FC908-19E6-4536-8040-5F510F63B829}" type="datetime3">
              <a:rPr lang="en-ZA" smtClean="0"/>
              <a:t>5 March 2026</a:t>
            </a:fld>
            <a:endParaRPr lang="en-ZA" dirty="0"/>
          </a:p>
        </p:txBody>
      </p:sp>
      <p:sp>
        <p:nvSpPr>
          <p:cNvPr id="5" name="Footer Placeholder 4"/>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p:cNvSpPr>
            <a:spLocks noGrp="1"/>
          </p:cNvSpPr>
          <p:nvPr>
            <p:ph type="sldNum" sz="quarter" idx="12"/>
          </p:nvPr>
        </p:nvSpPr>
        <p:spPr/>
        <p:txBody>
          <a:bodyPr/>
          <a:lstStyle/>
          <a:p>
            <a:fld id="{FCDC5D13-0321-4383-81EA-F2073319DF27}" type="slidenum">
              <a:rPr lang="en-ZA" smtClean="0"/>
              <a:pPr/>
              <a:t>‹#›</a:t>
            </a:fld>
            <a:endParaRPr lang="en-ZA" dirty="0"/>
          </a:p>
        </p:txBody>
      </p:sp>
      <p:pic>
        <p:nvPicPr>
          <p:cNvPr id="7" name="Picture 6">
            <a:extLst>
              <a:ext uri="{FF2B5EF4-FFF2-40B4-BE49-F238E27FC236}">
                <a16:creationId xmlns:a16="http://schemas.microsoft.com/office/drawing/2014/main" id="{70590E75-3B38-9065-7FEE-8387B232CF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4800" y="6294437"/>
            <a:ext cx="1955800" cy="488950"/>
          </a:xfrm>
          <a:prstGeom prst="rect">
            <a:avLst/>
          </a:prstGeom>
        </p:spPr>
      </p:pic>
    </p:spTree>
    <p:extLst>
      <p:ext uri="{BB962C8B-B14F-4D97-AF65-F5344CB8AC3E}">
        <p14:creationId xmlns:p14="http://schemas.microsoft.com/office/powerpoint/2010/main" val="2137042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63242D48-62C4-4B3C-ABE0-5DCF990D9E2D}" type="datetime3">
              <a:rPr lang="en-ZA" smtClean="0"/>
              <a:t>5 March 2026</a:t>
            </a:fld>
            <a:endParaRPr lang="en-ZA"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ZA"/>
          </a:p>
          <a:p>
            <a:r>
              <a:rPr lang="en-ZA"/>
              <a:t>Department of Mathematics &amp; Physics</a:t>
            </a:r>
            <a:endParaRPr lang="en-ZA"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CDC5D13-0321-4383-81EA-F2073319DF27}" type="slidenum">
              <a:rPr lang="en-ZA" smtClean="0"/>
              <a:pPr/>
              <a:t>‹#›</a:t>
            </a:fld>
            <a:endParaRPr lang="en-ZA" dirty="0"/>
          </a:p>
        </p:txBody>
      </p:sp>
      <p:pic>
        <p:nvPicPr>
          <p:cNvPr id="7" name="Picture 6">
            <a:extLst>
              <a:ext uri="{FF2B5EF4-FFF2-40B4-BE49-F238E27FC236}">
                <a16:creationId xmlns:a16="http://schemas.microsoft.com/office/drawing/2014/main" id="{F7B42292-50AF-AAE1-0478-AB29DC99AC2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769100" y="6294437"/>
            <a:ext cx="1955800" cy="488950"/>
          </a:xfrm>
          <a:prstGeom prst="rect">
            <a:avLst/>
          </a:prstGeom>
        </p:spPr>
      </p:pic>
    </p:spTree>
    <p:extLst>
      <p:ext uri="{BB962C8B-B14F-4D97-AF65-F5344CB8AC3E}">
        <p14:creationId xmlns:p14="http://schemas.microsoft.com/office/powerpoint/2010/main" val="76019288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creativecommons.org/licenses/by-nd/3.0/" TargetMode="External"/><Relationship Id="rId4" Type="http://schemas.openxmlformats.org/officeDocument/2006/relationships/hyperlink" Target="https://www.news.uct.ac.za/article/-2018-05-07-new-deal-could-ease-sas-economic-woes"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6.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customXml" Target="../ink/ink1.xml"/><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326DE264-65A3-B5F4-EFEF-943899E9ED6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0389" r="20389"/>
          <a:stretch/>
        </p:blipFill>
        <p:spPr>
          <a:xfrm>
            <a:off x="0" y="10"/>
            <a:ext cx="12327467" cy="6857990"/>
          </a:xfrm>
          <a:prstGeom prst="rect">
            <a:avLst/>
          </a:prstGeom>
        </p:spPr>
      </p:pic>
      <p:sp>
        <p:nvSpPr>
          <p:cNvPr id="10" name="Title 9"/>
          <p:cNvSpPr>
            <a:spLocks noGrp="1"/>
          </p:cNvSpPr>
          <p:nvPr>
            <p:ph type="ctrTitle"/>
          </p:nvPr>
        </p:nvSpPr>
        <p:spPr>
          <a:xfrm>
            <a:off x="1854200" y="501705"/>
            <a:ext cx="8830733" cy="1902491"/>
          </a:xfrm>
          <a:solidFill>
            <a:schemeClr val="bg1">
              <a:lumMod val="95000"/>
            </a:schemeClr>
          </a:solidFill>
        </p:spPr>
        <p:txBody>
          <a:bodyPr vert="horz" lIns="182880" tIns="182880" rIns="182880" bIns="182880" rtlCol="0" anchor="ctr">
            <a:normAutofit/>
          </a:bodyPr>
          <a:lstStyle/>
          <a:p>
            <a:r>
              <a:rPr lang="en-US" sz="2100" b="1">
                <a:solidFill>
                  <a:schemeClr val="tx1"/>
                </a:solidFill>
                <a:latin typeface="Arial"/>
                <a:cs typeface="Arial"/>
              </a:rPr>
              <a:t>THE SIGNIFICANT CONTRIBUTION OF  INFORMAL ECONOMY TO ECONOMIC GROWTH IN South Africa’s and labour market</a:t>
            </a:r>
            <a:endParaRPr lang="en-US" dirty="0">
              <a:solidFill>
                <a:schemeClr val="tx1"/>
              </a:solidFill>
            </a:endParaRPr>
          </a:p>
        </p:txBody>
      </p:sp>
      <p:sp>
        <p:nvSpPr>
          <p:cNvPr id="11" name="Subtitle 10"/>
          <p:cNvSpPr>
            <a:spLocks noGrp="1"/>
          </p:cNvSpPr>
          <p:nvPr>
            <p:ph type="subTitle" idx="1"/>
          </p:nvPr>
        </p:nvSpPr>
        <p:spPr>
          <a:xfrm>
            <a:off x="3824198" y="2618753"/>
            <a:ext cx="4543603" cy="3309236"/>
          </a:xfrm>
        </p:spPr>
        <p:txBody>
          <a:bodyPr vert="horz" lIns="91440" tIns="45720" rIns="91440" bIns="45720" rtlCol="0" anchor="t">
            <a:normAutofit/>
          </a:bodyPr>
          <a:lstStyle/>
          <a:p>
            <a:endParaRPr lang="en-US" sz="1400" cap="all">
              <a:solidFill>
                <a:schemeClr val="tx1"/>
              </a:solidFill>
              <a:latin typeface="Arial"/>
              <a:cs typeface="Arial"/>
            </a:endParaRPr>
          </a:p>
          <a:p>
            <a:r>
              <a:rPr lang="en-US" sz="1400" b="1" cap="all">
                <a:solidFill>
                  <a:schemeClr val="bg1"/>
                </a:solidFill>
                <a:highlight>
                  <a:srgbClr val="000000"/>
                </a:highlight>
                <a:latin typeface="Arial"/>
                <a:cs typeface="Arial"/>
              </a:rPr>
              <a:t>MATHEMATICAL SCIENCES PROJECT 3 (MSP360S)</a:t>
            </a:r>
            <a:endParaRPr lang="en-US" sz="1400">
              <a:solidFill>
                <a:schemeClr val="bg1"/>
              </a:solidFill>
              <a:highlight>
                <a:srgbClr val="000000"/>
              </a:highlight>
            </a:endParaRPr>
          </a:p>
          <a:p>
            <a:endParaRPr lang="en-US" sz="1400" b="1" cap="all">
              <a:solidFill>
                <a:schemeClr val="bg1"/>
              </a:solidFill>
              <a:highlight>
                <a:srgbClr val="000000"/>
              </a:highlight>
              <a:latin typeface="Arial"/>
              <a:cs typeface="Arial"/>
            </a:endParaRPr>
          </a:p>
          <a:p>
            <a:r>
              <a:rPr lang="en-US" sz="1400" b="1" cap="all">
                <a:solidFill>
                  <a:schemeClr val="bg1"/>
                </a:solidFill>
                <a:highlight>
                  <a:srgbClr val="000000"/>
                </a:highlight>
                <a:latin typeface="Arial"/>
                <a:cs typeface="Arial"/>
              </a:rPr>
              <a:t>Name:</a:t>
            </a:r>
            <a:r>
              <a:rPr lang="en-US" sz="1400" cap="all">
                <a:solidFill>
                  <a:schemeClr val="bg1"/>
                </a:solidFill>
                <a:highlight>
                  <a:srgbClr val="000000"/>
                </a:highlight>
                <a:latin typeface="Arial"/>
                <a:cs typeface="Arial"/>
              </a:rPr>
              <a:t> Mkhonto Hendry mike</a:t>
            </a:r>
            <a:endParaRPr lang="en-US" sz="1400">
              <a:solidFill>
                <a:schemeClr val="bg1"/>
              </a:solidFill>
              <a:highlight>
                <a:srgbClr val="000000"/>
              </a:highlight>
            </a:endParaRPr>
          </a:p>
          <a:p>
            <a:r>
              <a:rPr lang="en-US" sz="1400" b="1" cap="all">
                <a:solidFill>
                  <a:schemeClr val="bg1"/>
                </a:solidFill>
                <a:highlight>
                  <a:srgbClr val="000000"/>
                </a:highlight>
                <a:latin typeface="Arial"/>
                <a:cs typeface="Arial"/>
              </a:rPr>
              <a:t>Student no: </a:t>
            </a:r>
            <a:r>
              <a:rPr lang="en-US" sz="1400" cap="all">
                <a:solidFill>
                  <a:schemeClr val="bg1"/>
                </a:solidFill>
                <a:highlight>
                  <a:srgbClr val="000000"/>
                </a:highlight>
                <a:latin typeface="Arial"/>
                <a:cs typeface="Arial"/>
              </a:rPr>
              <a:t>221026908</a:t>
            </a:r>
            <a:endParaRPr lang="en-US" sz="1400">
              <a:solidFill>
                <a:schemeClr val="bg1"/>
              </a:solidFill>
              <a:highlight>
                <a:srgbClr val="000000"/>
              </a:highlight>
            </a:endParaRPr>
          </a:p>
          <a:p>
            <a:r>
              <a:rPr lang="en-US" sz="1400" b="1" cap="all">
                <a:solidFill>
                  <a:schemeClr val="bg1"/>
                </a:solidFill>
                <a:highlight>
                  <a:srgbClr val="000000"/>
                </a:highlight>
                <a:latin typeface="Arial"/>
                <a:cs typeface="Arial"/>
              </a:rPr>
              <a:t>ACADEMIC SUPERVISOR: </a:t>
            </a:r>
            <a:r>
              <a:rPr lang="en-US" sz="1400" cap="all">
                <a:solidFill>
                  <a:schemeClr val="bg1"/>
                </a:solidFill>
                <a:highlight>
                  <a:srgbClr val="000000"/>
                </a:highlight>
                <a:latin typeface="Arial"/>
                <a:cs typeface="Arial"/>
              </a:rPr>
              <a:t>Dr Buzuzi</a:t>
            </a:r>
            <a:endParaRPr lang="en-US" sz="1400">
              <a:solidFill>
                <a:schemeClr val="bg1"/>
              </a:solidFill>
              <a:highlight>
                <a:srgbClr val="000000"/>
              </a:highlight>
            </a:endParaRPr>
          </a:p>
          <a:p>
            <a:r>
              <a:rPr lang="en-US" sz="1400" b="1" cap="all">
                <a:solidFill>
                  <a:schemeClr val="bg1"/>
                </a:solidFill>
                <a:highlight>
                  <a:srgbClr val="000000"/>
                </a:highlight>
                <a:latin typeface="Arial"/>
                <a:cs typeface="Arial"/>
              </a:rPr>
              <a:t>COMPANY MENTOR(S):</a:t>
            </a:r>
            <a:r>
              <a:rPr lang="en-US" sz="1400" cap="all">
                <a:solidFill>
                  <a:schemeClr val="bg1"/>
                </a:solidFill>
                <a:highlight>
                  <a:srgbClr val="000000"/>
                </a:highlight>
                <a:latin typeface="Arial"/>
                <a:cs typeface="Arial"/>
              </a:rPr>
              <a:t>MR Zukile Ncapayi</a:t>
            </a:r>
            <a:r>
              <a:rPr lang="en-US" sz="700" cap="all">
                <a:solidFill>
                  <a:schemeClr val="bg1"/>
                </a:solidFill>
                <a:highlight>
                  <a:srgbClr val="000000"/>
                </a:highlight>
                <a:latin typeface="Arial"/>
                <a:cs typeface="Arial"/>
              </a:rPr>
              <a:t> </a:t>
            </a:r>
            <a:endParaRPr lang="en-US">
              <a:solidFill>
                <a:schemeClr val="bg1"/>
              </a:solidFill>
              <a:highlight>
                <a:srgbClr val="000000"/>
              </a:highlight>
            </a:endParaRPr>
          </a:p>
          <a:p>
            <a:pPr indent="-228600" algn="l">
              <a:buFont typeface="Arial" panose="020B0604020202020204" pitchFamily="34" charset="0"/>
              <a:buChar char="•"/>
            </a:pPr>
            <a:endParaRPr lang="en-US">
              <a:solidFill>
                <a:schemeClr val="bg1"/>
              </a:solidFill>
              <a:highlight>
                <a:srgbClr val="000000"/>
              </a:highlight>
            </a:endParaRPr>
          </a:p>
          <a:p>
            <a:pPr indent="-228600" algn="l">
              <a:buFont typeface="Arial" panose="020B0604020202020204" pitchFamily="34" charset="0"/>
              <a:buChar char="•"/>
            </a:pPr>
            <a:endParaRPr lang="en-US" dirty="0">
              <a:solidFill>
                <a:schemeClr val="tx1">
                  <a:lumMod val="85000"/>
                  <a:lumOff val="15000"/>
                </a:schemeClr>
              </a:solidFill>
            </a:endParaRPr>
          </a:p>
        </p:txBody>
      </p:sp>
      <p:sp>
        <p:nvSpPr>
          <p:cNvPr id="16" name="Footer Placeholder 15"/>
          <p:cNvSpPr>
            <a:spLocks noGrp="1"/>
          </p:cNvSpPr>
          <p:nvPr>
            <p:ph type="ftr" sz="quarter" idx="11"/>
          </p:nvPr>
        </p:nvSpPr>
        <p:spPr>
          <a:xfrm>
            <a:off x="1238189" y="6224660"/>
            <a:ext cx="4671182" cy="313300"/>
          </a:xfrm>
        </p:spPr>
        <p:txBody>
          <a:bodyPr vert="horz" lIns="91440" tIns="45720" rIns="91440" bIns="45720" rtlCol="0" anchor="ctr">
            <a:normAutofit/>
          </a:bodyPr>
          <a:lstStyle/>
          <a:p>
            <a:pPr>
              <a:lnSpc>
                <a:spcPct val="90000"/>
              </a:lnSpc>
              <a:spcAft>
                <a:spcPts val="600"/>
              </a:spcAft>
            </a:pPr>
            <a:endParaRPr lang="en-US" sz="500"/>
          </a:p>
          <a:p>
            <a:pPr>
              <a:lnSpc>
                <a:spcPct val="90000"/>
              </a:lnSpc>
              <a:spcAft>
                <a:spcPts val="600"/>
              </a:spcAft>
            </a:pPr>
            <a:r>
              <a:rPr lang="en-US" sz="500"/>
              <a:t>Department of Mathematics &amp; Physics</a:t>
            </a:r>
            <a:endParaRPr lang="en-US" sz="500" dirty="0"/>
          </a:p>
        </p:txBody>
      </p:sp>
      <p:sp>
        <p:nvSpPr>
          <p:cNvPr id="15" name="Date Placeholder 14"/>
          <p:cNvSpPr>
            <a:spLocks noGrp="1"/>
          </p:cNvSpPr>
          <p:nvPr>
            <p:ph type="dt" sz="half" idx="10"/>
          </p:nvPr>
        </p:nvSpPr>
        <p:spPr>
          <a:xfrm>
            <a:off x="7821429" y="6238816"/>
            <a:ext cx="2753746" cy="323968"/>
          </a:xfrm>
        </p:spPr>
        <p:txBody>
          <a:bodyPr vert="horz" lIns="91440" tIns="45720" rIns="91440" bIns="45720" rtlCol="0" anchor="ctr">
            <a:normAutofit/>
          </a:bodyPr>
          <a:lstStyle/>
          <a:p>
            <a:pPr>
              <a:spcAft>
                <a:spcPts val="600"/>
              </a:spcAft>
            </a:pPr>
            <a:fld id="{A4AF0AD1-B766-432B-BF86-45FD7A2A5449}" type="datetime3">
              <a:rPr lang="en-US" smtClean="0">
                <a:solidFill>
                  <a:srgbClr val="FFFFFF"/>
                </a:solidFill>
              </a:rPr>
              <a:pPr>
                <a:spcAft>
                  <a:spcPts val="600"/>
                </a:spcAft>
              </a:pPr>
              <a:t>5 March 2026</a:t>
            </a:fld>
            <a:endParaRPr lang="en-US">
              <a:solidFill>
                <a:srgbClr val="FFFFFF"/>
              </a:solidFill>
            </a:endParaRPr>
          </a:p>
        </p:txBody>
      </p:sp>
      <p:sp>
        <p:nvSpPr>
          <p:cNvPr id="17" name="Slide Number Placeholder 16"/>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4BAB4CA8-F650-4055-9541-1E017D8B8873}" type="slidenum">
              <a:rPr lang="en-US" smtClean="0"/>
              <a:pPr>
                <a:lnSpc>
                  <a:spcPct val="90000"/>
                </a:lnSpc>
                <a:spcAft>
                  <a:spcPts val="600"/>
                </a:spcAft>
              </a:pPr>
              <a:t>1</a:t>
            </a:fld>
            <a:endParaRPr lang="en-US"/>
          </a:p>
        </p:txBody>
      </p:sp>
      <p:sp>
        <p:nvSpPr>
          <p:cNvPr id="2" name="TextBox 1">
            <a:extLst>
              <a:ext uri="{FF2B5EF4-FFF2-40B4-BE49-F238E27FC236}">
                <a16:creationId xmlns:a16="http://schemas.microsoft.com/office/drawing/2014/main" id="{4111A2A9-A7A6-08D9-83DA-04A42C602977}"/>
              </a:ext>
            </a:extLst>
          </p:cNvPr>
          <p:cNvSpPr txBox="1"/>
          <p:nvPr/>
        </p:nvSpPr>
        <p:spPr>
          <a:xfrm>
            <a:off x="6096000" y="6858000"/>
            <a:ext cx="6096000" cy="230832"/>
          </a:xfrm>
          <a:prstGeom prst="rect">
            <a:avLst/>
          </a:prstGeom>
          <a:noFill/>
        </p:spPr>
        <p:txBody>
          <a:bodyPr wrap="square" rtlCol="0">
            <a:spAutoFit/>
          </a:bodyPr>
          <a:lstStyle/>
          <a:p>
            <a:r>
              <a:rPr lang="en-ZA" sz="900">
                <a:hlinkClick r:id="rId4" tooltip="https://www.news.uct.ac.za/article/-2018-05-07-new-deal-could-ease-sas-economic-woes"/>
              </a:rPr>
              <a:t>This Photo</a:t>
            </a:r>
            <a:r>
              <a:rPr lang="en-ZA" sz="900"/>
              <a:t> by Unknown Author is licensed under </a:t>
            </a:r>
            <a:r>
              <a:rPr lang="en-ZA" sz="900">
                <a:hlinkClick r:id="rId5" tooltip="https://creativecommons.org/licenses/by-nd/3.0/"/>
              </a:rPr>
              <a:t>CC BY-ND</a:t>
            </a:r>
            <a:endParaRPr lang="en-ZA" sz="900"/>
          </a:p>
        </p:txBody>
      </p:sp>
    </p:spTree>
    <p:extLst>
      <p:ext uri="{BB962C8B-B14F-4D97-AF65-F5344CB8AC3E}">
        <p14:creationId xmlns:p14="http://schemas.microsoft.com/office/powerpoint/2010/main" val="1028762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09DC6-2CEC-3448-7197-C9C07C7E60AB}"/>
              </a:ext>
            </a:extLst>
          </p:cNvPr>
          <p:cNvSpPr>
            <a:spLocks noGrp="1"/>
          </p:cNvSpPr>
          <p:nvPr>
            <p:ph type="title"/>
          </p:nvPr>
        </p:nvSpPr>
        <p:spPr>
          <a:xfrm>
            <a:off x="2115389" y="530641"/>
            <a:ext cx="7729728" cy="822189"/>
          </a:xfrm>
        </p:spPr>
        <p:txBody>
          <a:bodyPr/>
          <a:lstStyle/>
          <a:p>
            <a:r>
              <a:rPr lang="en-US" b="1" dirty="0">
                <a:latin typeface="Arial" panose="020B0604020202020204" pitchFamily="34" charset="0"/>
                <a:cs typeface="Arial" panose="020B0604020202020204" pitchFamily="34" charset="0"/>
              </a:rPr>
              <a:t>CONTENTS</a:t>
            </a:r>
          </a:p>
        </p:txBody>
      </p:sp>
      <p:sp>
        <p:nvSpPr>
          <p:cNvPr id="4" name="Date Placeholder 3">
            <a:extLst>
              <a:ext uri="{FF2B5EF4-FFF2-40B4-BE49-F238E27FC236}">
                <a16:creationId xmlns:a16="http://schemas.microsoft.com/office/drawing/2014/main" id="{19B2856F-ADA5-1622-7BCB-063171EA203F}"/>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DFB14FB0-D012-C792-D281-220C2DBD5CF1}"/>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4789B256-C17B-4EAA-2308-18B5BEA4D2BA}"/>
              </a:ext>
            </a:extLst>
          </p:cNvPr>
          <p:cNvSpPr>
            <a:spLocks noGrp="1"/>
          </p:cNvSpPr>
          <p:nvPr>
            <p:ph type="sldNum" sz="quarter" idx="12"/>
          </p:nvPr>
        </p:nvSpPr>
        <p:spPr/>
        <p:txBody>
          <a:bodyPr/>
          <a:lstStyle/>
          <a:p>
            <a:fld id="{FCDC5D13-0321-4383-81EA-F2073319DF27}" type="slidenum">
              <a:rPr lang="en-ZA" smtClean="0"/>
              <a:pPr/>
              <a:t>2</a:t>
            </a:fld>
            <a:endParaRPr lang="en-ZA" dirty="0"/>
          </a:p>
        </p:txBody>
      </p:sp>
      <p:graphicFrame>
        <p:nvGraphicFramePr>
          <p:cNvPr id="7" name="Content Placeholder 2">
            <a:extLst>
              <a:ext uri="{FF2B5EF4-FFF2-40B4-BE49-F238E27FC236}">
                <a16:creationId xmlns:a16="http://schemas.microsoft.com/office/drawing/2014/main" id="{7EA337C3-B631-21E4-0C4D-4A3230762EA3}"/>
              </a:ext>
            </a:extLst>
          </p:cNvPr>
          <p:cNvGraphicFramePr>
            <a:graphicFrameLocks noGrp="1"/>
          </p:cNvGraphicFramePr>
          <p:nvPr>
            <p:extLst>
              <p:ext uri="{D42A27DB-BD31-4B8C-83A1-F6EECF244321}">
                <p14:modId xmlns:p14="http://schemas.microsoft.com/office/powerpoint/2010/main" val="2118722410"/>
              </p:ext>
            </p:extLst>
          </p:nvPr>
        </p:nvGraphicFramePr>
        <p:xfrm>
          <a:off x="2114691" y="1888381"/>
          <a:ext cx="8410744" cy="3762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64002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02" y="964692"/>
            <a:ext cx="9070462" cy="1188720"/>
          </a:xfrm>
          <a:solidFill>
            <a:srgbClr val="FFFFFF"/>
          </a:solidFill>
          <a:ln>
            <a:solidFill>
              <a:srgbClr val="404040"/>
            </a:solidFill>
          </a:ln>
        </p:spPr>
        <p:txBody>
          <a:bodyPr vert="horz" lIns="274320" tIns="182880" rIns="274320" bIns="182880" rtlCol="0" anchorCtr="1">
            <a:normAutofit/>
          </a:bodyPr>
          <a:lstStyle/>
          <a:p>
            <a:r>
              <a:rPr lang="en-US" b="1" dirty="0">
                <a:solidFill>
                  <a:srgbClr val="262626"/>
                </a:solidFill>
                <a:latin typeface="Arial" panose="020B0604020202020204" pitchFamily="34" charset="0"/>
                <a:cs typeface="Arial" panose="020B0604020202020204" pitchFamily="34" charset="0"/>
              </a:rPr>
              <a:t>Introduction</a:t>
            </a:r>
          </a:p>
        </p:txBody>
      </p:sp>
      <p:sp>
        <p:nvSpPr>
          <p:cNvPr id="5" name="Footer Placeholder 4"/>
          <p:cNvSpPr>
            <a:spLocks noGrp="1"/>
          </p:cNvSpPr>
          <p:nvPr>
            <p:ph type="ftr" sz="quarter" idx="11"/>
          </p:nvPr>
        </p:nvSpPr>
        <p:spPr>
          <a:xfrm>
            <a:off x="1600200" y="6236208"/>
            <a:ext cx="5901189" cy="320040"/>
          </a:xfrm>
        </p:spPr>
        <p:txBody>
          <a:bodyPr vert="horz" lIns="91440" tIns="45720" rIns="91440" bIns="45720" rtlCol="0">
            <a:normAutofit/>
          </a:bodyPr>
          <a:lstStyle/>
          <a:p>
            <a:pPr>
              <a:lnSpc>
                <a:spcPct val="90000"/>
              </a:lnSpc>
              <a:spcAft>
                <a:spcPts val="600"/>
              </a:spcAft>
            </a:pPr>
            <a:endParaRPr lang="en-US" sz="500"/>
          </a:p>
          <a:p>
            <a:pPr>
              <a:lnSpc>
                <a:spcPct val="90000"/>
              </a:lnSpc>
              <a:spcAft>
                <a:spcPts val="600"/>
              </a:spcAft>
            </a:pPr>
            <a:r>
              <a:rPr lang="en-US" sz="500"/>
              <a:t>Department of Mathematics &amp; Physics</a:t>
            </a:r>
            <a:endParaRPr lang="en-US" sz="500" dirty="0"/>
          </a:p>
        </p:txBody>
      </p:sp>
      <p:sp>
        <p:nvSpPr>
          <p:cNvPr id="4" name="Date Placeholder 3"/>
          <p:cNvSpPr>
            <a:spLocks noGrp="1"/>
          </p:cNvSpPr>
          <p:nvPr>
            <p:ph type="dt" sz="half" idx="10"/>
          </p:nvPr>
        </p:nvSpPr>
        <p:spPr>
          <a:xfrm>
            <a:off x="7821429" y="6238816"/>
            <a:ext cx="2753746" cy="323968"/>
          </a:xfrm>
        </p:spPr>
        <p:txBody>
          <a:bodyPr vert="horz" lIns="91440" tIns="45720" rIns="91440" bIns="45720" rtlCol="0">
            <a:normAutofit/>
          </a:bodyPr>
          <a:lstStyle/>
          <a:p>
            <a:pPr>
              <a:spcAft>
                <a:spcPts val="600"/>
              </a:spcAft>
            </a:pPr>
            <a:fld id="{E0E92323-7ABC-4498-80E8-B6DCDA8BA80E}" type="datetime3">
              <a:rPr lang="en-US" smtClean="0"/>
              <a:pPr>
                <a:spcAft>
                  <a:spcPts val="600"/>
                </a:spcAft>
              </a:pPr>
              <a:t>5 March 2026</a:t>
            </a:fld>
            <a:endParaRPr lang="en-US"/>
          </a:p>
        </p:txBody>
      </p:sp>
      <p:sp>
        <p:nvSpPr>
          <p:cNvPr id="6" name="Slide Number Placeholder 5"/>
          <p:cNvSpPr>
            <a:spLocks noGrp="1"/>
          </p:cNvSpPr>
          <p:nvPr>
            <p:ph type="sldNum" sz="quarter" idx="12"/>
          </p:nvPr>
        </p:nvSpPr>
        <p:spPr>
          <a:xfrm>
            <a:off x="10758922" y="6217920"/>
            <a:ext cx="365760" cy="365760"/>
          </a:xfrm>
        </p:spPr>
        <p:txBody>
          <a:bodyPr vert="horz" lIns="18288" tIns="45720" rIns="18288" bIns="45720" rtlCol="0">
            <a:normAutofit/>
          </a:bodyPr>
          <a:lstStyle/>
          <a:p>
            <a:pPr>
              <a:lnSpc>
                <a:spcPct val="90000"/>
              </a:lnSpc>
              <a:spcAft>
                <a:spcPts val="600"/>
              </a:spcAft>
            </a:pPr>
            <a:fld id="{FCDC5D13-0321-4383-81EA-F2073319DF27}" type="slidenum">
              <a:rPr lang="en-US" smtClean="0"/>
              <a:pPr>
                <a:lnSpc>
                  <a:spcPct val="90000"/>
                </a:lnSpc>
                <a:spcAft>
                  <a:spcPts val="600"/>
                </a:spcAft>
              </a:pPr>
              <a:t>3</a:t>
            </a:fld>
            <a:endParaRPr lang="en-US"/>
          </a:p>
        </p:txBody>
      </p:sp>
      <p:graphicFrame>
        <p:nvGraphicFramePr>
          <p:cNvPr id="8" name="Content Placeholder 2">
            <a:extLst>
              <a:ext uri="{FF2B5EF4-FFF2-40B4-BE49-F238E27FC236}">
                <a16:creationId xmlns:a16="http://schemas.microsoft.com/office/drawing/2014/main" id="{75EA9AC0-D578-CB4D-6100-A7F53BC62139}"/>
              </a:ext>
            </a:extLst>
          </p:cNvPr>
          <p:cNvGraphicFramePr>
            <a:graphicFrameLocks noGrp="1"/>
          </p:cNvGraphicFramePr>
          <p:nvPr>
            <p:ph idx="1"/>
            <p:extLst>
              <p:ext uri="{D42A27DB-BD31-4B8C-83A1-F6EECF244321}">
                <p14:modId xmlns:p14="http://schemas.microsoft.com/office/powerpoint/2010/main" val="1339058706"/>
              </p:ext>
            </p:extLst>
          </p:nvPr>
        </p:nvGraphicFramePr>
        <p:xfrm>
          <a:off x="965200" y="2638425"/>
          <a:ext cx="10261600" cy="31077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1494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43FFA-EB5A-2C8F-CFC4-3FED633295FB}"/>
              </a:ext>
            </a:extLst>
          </p:cNvPr>
          <p:cNvSpPr>
            <a:spLocks noGrp="1"/>
          </p:cNvSpPr>
          <p:nvPr>
            <p:ph type="title"/>
          </p:nvPr>
        </p:nvSpPr>
        <p:spPr>
          <a:xfrm>
            <a:off x="1004342" y="523614"/>
            <a:ext cx="9447024" cy="885461"/>
          </a:xfrm>
        </p:spPr>
        <p:txBody>
          <a:bodyPr/>
          <a:lstStyle/>
          <a:p>
            <a:r>
              <a:rPr lang="en-ZA" dirty="0">
                <a:latin typeface="Arial" panose="020B0604020202020204" pitchFamily="34" charset="0"/>
                <a:cs typeface="Arial" panose="020B0604020202020204" pitchFamily="34" charset="0"/>
              </a:rPr>
              <a:t>Intro:BACKGROUND</a:t>
            </a:r>
          </a:p>
        </p:txBody>
      </p:sp>
      <p:graphicFrame>
        <p:nvGraphicFramePr>
          <p:cNvPr id="12" name="Content Placeholder 2">
            <a:extLst>
              <a:ext uri="{FF2B5EF4-FFF2-40B4-BE49-F238E27FC236}">
                <a16:creationId xmlns:a16="http://schemas.microsoft.com/office/drawing/2014/main" id="{765CC19E-8091-B764-8A49-917C46700452}"/>
              </a:ext>
            </a:extLst>
          </p:cNvPr>
          <p:cNvGraphicFramePr>
            <a:graphicFrameLocks noGrp="1"/>
          </p:cNvGraphicFramePr>
          <p:nvPr>
            <p:ph sz="half" idx="1"/>
            <p:extLst>
              <p:ext uri="{D42A27DB-BD31-4B8C-83A1-F6EECF244321}">
                <p14:modId xmlns:p14="http://schemas.microsoft.com/office/powerpoint/2010/main" val="3270104536"/>
              </p:ext>
            </p:extLst>
          </p:nvPr>
        </p:nvGraphicFramePr>
        <p:xfrm>
          <a:off x="1004341" y="1910092"/>
          <a:ext cx="9646726" cy="3864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e Placeholder 4">
            <a:extLst>
              <a:ext uri="{FF2B5EF4-FFF2-40B4-BE49-F238E27FC236}">
                <a16:creationId xmlns:a16="http://schemas.microsoft.com/office/drawing/2014/main" id="{34CA1609-690D-A6EB-E6DE-F54334182325}"/>
              </a:ext>
            </a:extLst>
          </p:cNvPr>
          <p:cNvSpPr>
            <a:spLocks noGrp="1"/>
          </p:cNvSpPr>
          <p:nvPr>
            <p:ph type="dt" sz="half" idx="10"/>
          </p:nvPr>
        </p:nvSpPr>
        <p:spPr/>
        <p:txBody>
          <a:bodyPr/>
          <a:lstStyle/>
          <a:p>
            <a:fld id="{11E5B0A7-0E05-4A59-9704-66249F2DB4B6}" type="datetime3">
              <a:rPr lang="en-ZA" smtClean="0"/>
              <a:t>5 March 2026</a:t>
            </a:fld>
            <a:endParaRPr lang="en-ZA" dirty="0"/>
          </a:p>
        </p:txBody>
      </p:sp>
      <p:sp>
        <p:nvSpPr>
          <p:cNvPr id="6" name="Footer Placeholder 5">
            <a:extLst>
              <a:ext uri="{FF2B5EF4-FFF2-40B4-BE49-F238E27FC236}">
                <a16:creationId xmlns:a16="http://schemas.microsoft.com/office/drawing/2014/main" id="{945DBC87-8C50-B2C4-8581-227ADB24DC7D}"/>
              </a:ext>
            </a:extLst>
          </p:cNvPr>
          <p:cNvSpPr>
            <a:spLocks noGrp="1"/>
          </p:cNvSpPr>
          <p:nvPr>
            <p:ph type="ftr" sz="quarter" idx="11"/>
          </p:nvPr>
        </p:nvSpPr>
        <p:spPr/>
        <p:txBody>
          <a:bodyPr/>
          <a:lstStyle/>
          <a:p>
            <a:endParaRPr lang="en-ZA"/>
          </a:p>
          <a:p>
            <a:r>
              <a:rPr lang="en-ZA" dirty="0"/>
              <a:t>Department of Mathematics &amp; Physics</a:t>
            </a:r>
          </a:p>
        </p:txBody>
      </p:sp>
      <p:sp>
        <p:nvSpPr>
          <p:cNvPr id="7" name="Slide Number Placeholder 6">
            <a:extLst>
              <a:ext uri="{FF2B5EF4-FFF2-40B4-BE49-F238E27FC236}">
                <a16:creationId xmlns:a16="http://schemas.microsoft.com/office/drawing/2014/main" id="{DF67AB84-570B-6EA4-8913-40A3B2753A31}"/>
              </a:ext>
            </a:extLst>
          </p:cNvPr>
          <p:cNvSpPr>
            <a:spLocks noGrp="1"/>
          </p:cNvSpPr>
          <p:nvPr>
            <p:ph type="sldNum" sz="quarter" idx="12"/>
          </p:nvPr>
        </p:nvSpPr>
        <p:spPr/>
        <p:txBody>
          <a:bodyPr/>
          <a:lstStyle/>
          <a:p>
            <a:fld id="{FCDC5D13-0321-4383-81EA-F2073319DF27}" type="slidenum">
              <a:rPr lang="en-ZA" smtClean="0"/>
              <a:pPr/>
              <a:t>4</a:t>
            </a:fld>
            <a:endParaRPr lang="en-ZA" dirty="0"/>
          </a:p>
        </p:txBody>
      </p:sp>
    </p:spTree>
    <p:extLst>
      <p:ext uri="{BB962C8B-B14F-4D97-AF65-F5344CB8AC3E}">
        <p14:creationId xmlns:p14="http://schemas.microsoft.com/office/powerpoint/2010/main" val="3464748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22F76-3766-BD83-EB13-0D59E7C7C08C}"/>
              </a:ext>
            </a:extLst>
          </p:cNvPr>
          <p:cNvSpPr>
            <a:spLocks noGrp="1"/>
          </p:cNvSpPr>
          <p:nvPr>
            <p:ph type="title"/>
          </p:nvPr>
        </p:nvSpPr>
        <p:spPr>
          <a:xfrm>
            <a:off x="1745899" y="1020029"/>
            <a:ext cx="9195903" cy="758310"/>
          </a:xfrm>
          <a:solidFill>
            <a:schemeClr val="bg1">
              <a:lumMod val="95000"/>
            </a:schemeClr>
          </a:solidFill>
        </p:spPr>
        <p:txBody>
          <a:bodyPr>
            <a:normAutofit/>
          </a:bodyPr>
          <a:lstStyle/>
          <a:p>
            <a:r>
              <a:rPr lang="en-US" dirty="0">
                <a:latin typeface="Arial" panose="020B0604020202020204" pitchFamily="34" charset="0"/>
                <a:cs typeface="Arial" panose="020B0604020202020204" pitchFamily="34" charset="0"/>
              </a:rPr>
              <a:t>What is INFORMAL ECONOMY</a:t>
            </a:r>
            <a:endParaRPr lang="en-ZA"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794E9EDD-0C3B-42F0-4D3D-3F2C147D357A}"/>
              </a:ext>
            </a:extLst>
          </p:cNvPr>
          <p:cNvPicPr>
            <a:picLocks noChangeAspect="1"/>
          </p:cNvPicPr>
          <p:nvPr/>
        </p:nvPicPr>
        <p:blipFill>
          <a:blip r:embed="rId2"/>
          <a:stretch>
            <a:fillRect/>
          </a:stretch>
        </p:blipFill>
        <p:spPr>
          <a:xfrm>
            <a:off x="6649202" y="2545080"/>
            <a:ext cx="4292600" cy="2924387"/>
          </a:xfrm>
          <a:prstGeom prst="rect">
            <a:avLst/>
          </a:prstGeom>
          <a:ln w="31750" cap="sq">
            <a:solidFill>
              <a:srgbClr val="FFFFFF"/>
            </a:solidFill>
            <a:miter lim="800000"/>
          </a:ln>
        </p:spPr>
      </p:pic>
      <p:sp>
        <p:nvSpPr>
          <p:cNvPr id="5" name="Footer Placeholder 4">
            <a:extLst>
              <a:ext uri="{FF2B5EF4-FFF2-40B4-BE49-F238E27FC236}">
                <a16:creationId xmlns:a16="http://schemas.microsoft.com/office/drawing/2014/main" id="{F8D82DCD-671D-EE86-13FA-9AC226C1FF62}"/>
              </a:ext>
            </a:extLst>
          </p:cNvPr>
          <p:cNvSpPr>
            <a:spLocks noGrp="1"/>
          </p:cNvSpPr>
          <p:nvPr>
            <p:ph type="ftr" sz="quarter" idx="11"/>
          </p:nvPr>
        </p:nvSpPr>
        <p:spPr>
          <a:xfrm>
            <a:off x="1600200" y="6236208"/>
            <a:ext cx="5901189" cy="320040"/>
          </a:xfrm>
        </p:spPr>
        <p:txBody>
          <a:bodyPr>
            <a:normAutofit/>
          </a:bodyPr>
          <a:lstStyle/>
          <a:p>
            <a:pPr>
              <a:lnSpc>
                <a:spcPct val="90000"/>
              </a:lnSpc>
              <a:spcAft>
                <a:spcPts val="600"/>
              </a:spcAft>
            </a:pPr>
            <a:endParaRPr lang="en-ZA" sz="500"/>
          </a:p>
          <a:p>
            <a:pPr>
              <a:lnSpc>
                <a:spcPct val="90000"/>
              </a:lnSpc>
              <a:spcAft>
                <a:spcPts val="600"/>
              </a:spcAft>
            </a:pPr>
            <a:r>
              <a:rPr lang="en-ZA" sz="500"/>
              <a:t>Department of Mathematics &amp; Physics</a:t>
            </a:r>
          </a:p>
        </p:txBody>
      </p:sp>
      <p:sp>
        <p:nvSpPr>
          <p:cNvPr id="4" name="Date Placeholder 3">
            <a:extLst>
              <a:ext uri="{FF2B5EF4-FFF2-40B4-BE49-F238E27FC236}">
                <a16:creationId xmlns:a16="http://schemas.microsoft.com/office/drawing/2014/main" id="{4B6D3E0D-5FFA-4097-72AB-D1C2451DBD97}"/>
              </a:ext>
            </a:extLst>
          </p:cNvPr>
          <p:cNvSpPr>
            <a:spLocks noGrp="1"/>
          </p:cNvSpPr>
          <p:nvPr>
            <p:ph type="dt" sz="half" idx="10"/>
          </p:nvPr>
        </p:nvSpPr>
        <p:spPr>
          <a:xfrm>
            <a:off x="7821429" y="6238816"/>
            <a:ext cx="2753746" cy="323968"/>
          </a:xfrm>
        </p:spPr>
        <p:txBody>
          <a:bodyPr>
            <a:normAutofit/>
          </a:bodyPr>
          <a:lstStyle/>
          <a:p>
            <a:pPr>
              <a:spcAft>
                <a:spcPts val="600"/>
              </a:spcAft>
            </a:pPr>
            <a:fld id="{2AD394A7-1302-450B-95EB-FFC37E100C94}" type="datetime3">
              <a:rPr lang="en-ZA" smtClean="0"/>
              <a:pPr>
                <a:spcAft>
                  <a:spcPts val="600"/>
                </a:spcAft>
              </a:pPr>
              <a:t>5 March 2026</a:t>
            </a:fld>
            <a:endParaRPr lang="en-ZA"/>
          </a:p>
        </p:txBody>
      </p:sp>
      <p:sp>
        <p:nvSpPr>
          <p:cNvPr id="6" name="Slide Number Placeholder 5">
            <a:extLst>
              <a:ext uri="{FF2B5EF4-FFF2-40B4-BE49-F238E27FC236}">
                <a16:creationId xmlns:a16="http://schemas.microsoft.com/office/drawing/2014/main" id="{A1CAB3D6-E09D-EEF0-2A12-30FCA819C26C}"/>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FCDC5D13-0321-4383-81EA-F2073319DF27}" type="slidenum">
              <a:rPr lang="en-ZA" smtClean="0"/>
              <a:pPr>
                <a:lnSpc>
                  <a:spcPct val="90000"/>
                </a:lnSpc>
                <a:spcAft>
                  <a:spcPts val="600"/>
                </a:spcAft>
              </a:pPr>
              <a:t>5</a:t>
            </a:fld>
            <a:endParaRPr lang="en-ZA"/>
          </a:p>
        </p:txBody>
      </p:sp>
      <p:graphicFrame>
        <p:nvGraphicFramePr>
          <p:cNvPr id="11" name="Content Placeholder 2">
            <a:extLst>
              <a:ext uri="{FF2B5EF4-FFF2-40B4-BE49-F238E27FC236}">
                <a16:creationId xmlns:a16="http://schemas.microsoft.com/office/drawing/2014/main" id="{D3C73617-FEED-FC14-868C-9737BD730802}"/>
              </a:ext>
            </a:extLst>
          </p:cNvPr>
          <p:cNvGraphicFramePr>
            <a:graphicFrameLocks noGrp="1"/>
          </p:cNvGraphicFramePr>
          <p:nvPr>
            <p:ph idx="1"/>
            <p:extLst>
              <p:ext uri="{D42A27DB-BD31-4B8C-83A1-F6EECF244321}">
                <p14:modId xmlns:p14="http://schemas.microsoft.com/office/powerpoint/2010/main" val="3512273836"/>
              </p:ext>
            </p:extLst>
          </p:nvPr>
        </p:nvGraphicFramePr>
        <p:xfrm>
          <a:off x="1745899" y="2545080"/>
          <a:ext cx="4828030" cy="32889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1" name="TextBox 50">
            <a:extLst>
              <a:ext uri="{FF2B5EF4-FFF2-40B4-BE49-F238E27FC236}">
                <a16:creationId xmlns:a16="http://schemas.microsoft.com/office/drawing/2014/main" id="{FBD35A12-C8D4-9EBD-4CC9-4594691A0465}"/>
              </a:ext>
            </a:extLst>
          </p:cNvPr>
          <p:cNvSpPr txBox="1"/>
          <p:nvPr/>
        </p:nvSpPr>
        <p:spPr>
          <a:xfrm>
            <a:off x="7050022" y="5440558"/>
            <a:ext cx="3989572" cy="276999"/>
          </a:xfrm>
          <a:prstGeom prst="rect">
            <a:avLst/>
          </a:prstGeom>
          <a:noFill/>
        </p:spPr>
        <p:txBody>
          <a:bodyPr wrap="square">
            <a:spAutoFit/>
          </a:bodyPr>
          <a:lstStyle/>
          <a:p>
            <a:r>
              <a:rPr lang="en-US" sz="1200" dirty="0">
                <a:solidFill>
                  <a:schemeClr val="accent2">
                    <a:lumMod val="75000"/>
                  </a:schemeClr>
                </a:solidFill>
              </a:rPr>
              <a:t>Annual Periodic Labour Force Survey Report (PLFS) 2022-23</a:t>
            </a:r>
            <a:endParaRPr lang="en-ZA" sz="1200" dirty="0">
              <a:solidFill>
                <a:schemeClr val="accent2">
                  <a:lumMod val="75000"/>
                </a:schemeClr>
              </a:solidFill>
            </a:endParaRPr>
          </a:p>
        </p:txBody>
      </p:sp>
    </p:spTree>
    <p:extLst>
      <p:ext uri="{BB962C8B-B14F-4D97-AF65-F5344CB8AC3E}">
        <p14:creationId xmlns:p14="http://schemas.microsoft.com/office/powerpoint/2010/main" val="1015036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2F35D-B02B-B6B0-28B0-7A00DC399D9E}"/>
              </a:ext>
            </a:extLst>
          </p:cNvPr>
          <p:cNvSpPr>
            <a:spLocks noGrp="1"/>
          </p:cNvSpPr>
          <p:nvPr>
            <p:ph type="title"/>
          </p:nvPr>
        </p:nvSpPr>
        <p:spPr>
          <a:xfrm>
            <a:off x="1702965" y="771745"/>
            <a:ext cx="8872209" cy="744635"/>
          </a:xfrm>
        </p:spPr>
        <p:txBody>
          <a:bodyPr>
            <a:normAutofit fontScale="90000"/>
          </a:bodyPr>
          <a:lstStyle/>
          <a:p>
            <a:r>
              <a:rPr lang="en-US"/>
              <a:t>THE SIZE AND COMPOSITION OF INFORMAL?</a:t>
            </a:r>
            <a:endParaRPr lang="en-ZA" dirty="0"/>
          </a:p>
        </p:txBody>
      </p:sp>
      <p:sp>
        <p:nvSpPr>
          <p:cNvPr id="3" name="Content Placeholder 2">
            <a:extLst>
              <a:ext uri="{FF2B5EF4-FFF2-40B4-BE49-F238E27FC236}">
                <a16:creationId xmlns:a16="http://schemas.microsoft.com/office/drawing/2014/main" id="{FD1E70DF-3BA0-CC1F-64C0-1756D259D780}"/>
              </a:ext>
            </a:extLst>
          </p:cNvPr>
          <p:cNvSpPr>
            <a:spLocks noGrp="1"/>
          </p:cNvSpPr>
          <p:nvPr>
            <p:ph idx="1"/>
          </p:nvPr>
        </p:nvSpPr>
        <p:spPr>
          <a:xfrm>
            <a:off x="1600200" y="1912620"/>
            <a:ext cx="9158722" cy="4305300"/>
          </a:xfrm>
        </p:spPr>
        <p:txBody>
          <a:bodyPr vert="horz" lIns="91440" tIns="45720" rIns="91440" bIns="45720" rtlCol="0" anchor="t">
            <a:normAutofit/>
          </a:bodyPr>
          <a:lstStyle/>
          <a:p>
            <a:pPr>
              <a:buFont typeface="Wingdings" panose="05000000000000000000" pitchFamily="2" charset="2"/>
              <a:buChar char="§"/>
            </a:pPr>
            <a:r>
              <a:rPr lang="en-US" sz="1400" dirty="0"/>
              <a:t>2 billion workers (61.2% of global workforce) from the age of 15 and above (ILO,2018).</a:t>
            </a:r>
          </a:p>
          <a:p>
            <a:pPr>
              <a:buFont typeface="Wingdings" panose="05000000000000000000" pitchFamily="2" charset="2"/>
              <a:buChar char="Ø"/>
            </a:pPr>
            <a:r>
              <a:rPr lang="en-US" sz="1400" dirty="0"/>
              <a:t>More than 300 000 people are engaged in community and social services (Simelane,2012)</a:t>
            </a:r>
          </a:p>
          <a:p>
            <a:pPr>
              <a:buFont typeface="Wingdings" panose="05000000000000000000" pitchFamily="2" charset="2"/>
              <a:buChar char="Ø"/>
            </a:pPr>
            <a:r>
              <a:rPr lang="en-US" sz="1400" dirty="0"/>
              <a:t>Trade, social , agriculture and community services contribute to 60% of employment in informal economy</a:t>
            </a:r>
          </a:p>
          <a:p>
            <a:pPr>
              <a:buFont typeface="Wingdings" panose="05000000000000000000" pitchFamily="2" charset="2"/>
              <a:buChar char="Ø"/>
            </a:pPr>
            <a:r>
              <a:rPr lang="en-US" sz="1400" dirty="0"/>
              <a:t>Urban areas have higher informal employment rates than rural.</a:t>
            </a:r>
          </a:p>
          <a:p>
            <a:pPr>
              <a:buFont typeface="Wingdings" panose="05000000000000000000" pitchFamily="2" charset="2"/>
              <a:buChar char="Ø"/>
            </a:pPr>
            <a:r>
              <a:rPr lang="en-US" sz="1400" dirty="0"/>
              <a:t>Past Estimates: 10-12% contribution to economic growth (2010-2015) (Ngcobo,2018).</a:t>
            </a:r>
          </a:p>
          <a:p>
            <a:pPr>
              <a:buFont typeface="Wingdings" panose="05000000000000000000" pitchFamily="2" charset="2"/>
              <a:buChar char="Ø"/>
            </a:pPr>
            <a:endParaRPr lang="en-US" sz="1400" dirty="0"/>
          </a:p>
          <a:p>
            <a:pPr marL="0" indent="0">
              <a:buNone/>
            </a:pPr>
            <a:r>
              <a:rPr lang="en-US" sz="2000" b="1" dirty="0"/>
              <a:t>Importance of informal economy </a:t>
            </a:r>
          </a:p>
          <a:p>
            <a:pPr>
              <a:buFont typeface="Wingdings" panose="05000000000000000000" pitchFamily="2" charset="2"/>
              <a:buChar char="Ø"/>
            </a:pPr>
            <a:r>
              <a:rPr lang="en-US" sz="1600" dirty="0"/>
              <a:t>Provide jobs for those who are unable to find jobs in the formal sector</a:t>
            </a:r>
          </a:p>
          <a:p>
            <a:pPr>
              <a:buFont typeface="Wingdings" panose="05000000000000000000" pitchFamily="2" charset="2"/>
              <a:buChar char="Ø"/>
            </a:pPr>
            <a:r>
              <a:rPr lang="en-ZA" sz="1600" b="0" i="0" dirty="0">
                <a:solidFill>
                  <a:srgbClr val="040C28"/>
                </a:solidFill>
                <a:effectLst/>
                <a:latin typeface="Google Sans"/>
              </a:rPr>
              <a:t>Encourages entrepreneurship as self-employment</a:t>
            </a:r>
          </a:p>
          <a:p>
            <a:pPr>
              <a:buFont typeface="Wingdings" panose="05000000000000000000" pitchFamily="2" charset="2"/>
              <a:buChar char="Ø"/>
            </a:pPr>
            <a:r>
              <a:rPr lang="en-US" sz="1600" dirty="0"/>
              <a:t>Reduce poverty and raise productivity to economy.</a:t>
            </a:r>
          </a:p>
          <a:p>
            <a:pPr>
              <a:buFont typeface="Wingdings" panose="05000000000000000000" pitchFamily="2" charset="2"/>
              <a:buChar char="Ø"/>
            </a:pPr>
            <a:r>
              <a:rPr lang="en-US" sz="1600" dirty="0"/>
              <a:t>Helps for skills development and gain experience, which can lead to formal job opportunities in the future</a:t>
            </a:r>
          </a:p>
          <a:p>
            <a:pPr>
              <a:buFont typeface="Wingdings" panose="05000000000000000000" pitchFamily="2" charset="2"/>
              <a:buChar char="Ø"/>
            </a:pPr>
            <a:endParaRPr lang="en-US" dirty="0"/>
          </a:p>
          <a:p>
            <a:endParaRPr lang="en-ZA" dirty="0"/>
          </a:p>
        </p:txBody>
      </p:sp>
      <p:sp>
        <p:nvSpPr>
          <p:cNvPr id="4" name="Date Placeholder 3">
            <a:extLst>
              <a:ext uri="{FF2B5EF4-FFF2-40B4-BE49-F238E27FC236}">
                <a16:creationId xmlns:a16="http://schemas.microsoft.com/office/drawing/2014/main" id="{D6005405-84B0-D7CD-753F-5777AC1424C2}"/>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0D50A2E0-8118-C4E0-2F38-3592280BD253}"/>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F2300C7A-F90D-B37F-1538-28B5F51EF791}"/>
              </a:ext>
            </a:extLst>
          </p:cNvPr>
          <p:cNvSpPr>
            <a:spLocks noGrp="1"/>
          </p:cNvSpPr>
          <p:nvPr>
            <p:ph type="sldNum" sz="quarter" idx="12"/>
          </p:nvPr>
        </p:nvSpPr>
        <p:spPr/>
        <p:txBody>
          <a:bodyPr/>
          <a:lstStyle/>
          <a:p>
            <a:fld id="{FCDC5D13-0321-4383-81EA-F2073319DF27}" type="slidenum">
              <a:rPr lang="en-ZA" smtClean="0"/>
              <a:pPr/>
              <a:t>6</a:t>
            </a:fld>
            <a:endParaRPr lang="en-ZA" dirty="0"/>
          </a:p>
        </p:txBody>
      </p:sp>
    </p:spTree>
    <p:extLst>
      <p:ext uri="{BB962C8B-B14F-4D97-AF65-F5344CB8AC3E}">
        <p14:creationId xmlns:p14="http://schemas.microsoft.com/office/powerpoint/2010/main" val="1032813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AF371-6B4A-EF50-A3D2-A257DC1F9D71}"/>
              </a:ext>
            </a:extLst>
          </p:cNvPr>
          <p:cNvSpPr>
            <a:spLocks noGrp="1"/>
          </p:cNvSpPr>
          <p:nvPr>
            <p:ph type="title"/>
          </p:nvPr>
        </p:nvSpPr>
        <p:spPr>
          <a:xfrm>
            <a:off x="1067317" y="513520"/>
            <a:ext cx="10057365" cy="800214"/>
          </a:xfrm>
        </p:spPr>
        <p:txBody>
          <a:bodyPr anchor="t">
            <a:normAutofit fontScale="90000"/>
          </a:bodyPr>
          <a:lstStyle/>
          <a:p>
            <a:r>
              <a:rPr lang="en-US" sz="2800" dirty="0">
                <a:latin typeface="+mn-lt"/>
                <a:ea typeface="Barlow Bold" pitchFamily="34" charset="-122"/>
                <a:cs typeface="Arial" panose="020B0604020202020204" pitchFamily="34" charset="0"/>
              </a:rPr>
              <a:t>Challenges Faced by the Informal Economy</a:t>
            </a:r>
            <a:br>
              <a:rPr lang="en-US" sz="2800" dirty="0"/>
            </a:br>
            <a:endParaRPr lang="en-ZA"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9B03D01B-56E1-47F6-6349-79317E3C59E5}"/>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13FFFFB6-B1D8-E620-8AF6-DD4DDAD06243}"/>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FF005F37-A47B-F749-31A3-032395AEFF8B}"/>
              </a:ext>
            </a:extLst>
          </p:cNvPr>
          <p:cNvSpPr>
            <a:spLocks noGrp="1"/>
          </p:cNvSpPr>
          <p:nvPr>
            <p:ph type="sldNum" sz="quarter" idx="12"/>
          </p:nvPr>
        </p:nvSpPr>
        <p:spPr/>
        <p:txBody>
          <a:bodyPr/>
          <a:lstStyle/>
          <a:p>
            <a:fld id="{FCDC5D13-0321-4383-81EA-F2073319DF27}" type="slidenum">
              <a:rPr lang="en-ZA" smtClean="0"/>
              <a:pPr/>
              <a:t>7</a:t>
            </a:fld>
            <a:endParaRPr lang="en-ZA" dirty="0"/>
          </a:p>
        </p:txBody>
      </p:sp>
      <p:sp>
        <p:nvSpPr>
          <p:cNvPr id="7" name="Text 0">
            <a:extLst>
              <a:ext uri="{FF2B5EF4-FFF2-40B4-BE49-F238E27FC236}">
                <a16:creationId xmlns:a16="http://schemas.microsoft.com/office/drawing/2014/main" id="{C60F70D4-0B9F-2D21-2BE4-9733D226E7A9}"/>
              </a:ext>
            </a:extLst>
          </p:cNvPr>
          <p:cNvSpPr/>
          <p:nvPr/>
        </p:nvSpPr>
        <p:spPr>
          <a:xfrm>
            <a:off x="1711569" y="612403"/>
            <a:ext cx="7913077" cy="627275"/>
          </a:xfrm>
          <a:prstGeom prst="rect">
            <a:avLst/>
          </a:prstGeom>
          <a:noFill/>
          <a:ln/>
        </p:spPr>
        <p:txBody>
          <a:bodyPr wrap="square" lIns="0" tIns="0" rIns="0" bIns="0" rtlCol="0" anchor="t"/>
          <a:lstStyle/>
          <a:p>
            <a:pPr marL="0" indent="0">
              <a:lnSpc>
                <a:spcPts val="5150"/>
              </a:lnSpc>
              <a:buNone/>
            </a:pPr>
            <a:endParaRPr lang="en-US" sz="2400" dirty="0"/>
          </a:p>
        </p:txBody>
      </p:sp>
      <p:sp>
        <p:nvSpPr>
          <p:cNvPr id="8" name="Shape 1">
            <a:extLst>
              <a:ext uri="{FF2B5EF4-FFF2-40B4-BE49-F238E27FC236}">
                <a16:creationId xmlns:a16="http://schemas.microsoft.com/office/drawing/2014/main" id="{2AA69B1A-80C7-309C-7C13-044A49DDB011}"/>
              </a:ext>
            </a:extLst>
          </p:cNvPr>
          <p:cNvSpPr/>
          <p:nvPr/>
        </p:nvSpPr>
        <p:spPr>
          <a:xfrm flipH="1">
            <a:off x="1131990" y="1310589"/>
            <a:ext cx="99955" cy="4904349"/>
          </a:xfrm>
          <a:prstGeom prst="roundRect">
            <a:avLst>
              <a:gd name="adj" fmla="val 788060"/>
            </a:avLst>
          </a:prstGeom>
          <a:solidFill>
            <a:srgbClr val="60646A"/>
          </a:solidFill>
          <a:ln/>
        </p:spPr>
        <p:txBody>
          <a:bodyPr/>
          <a:lstStyle/>
          <a:p>
            <a:endParaRPr lang="en-ZA"/>
          </a:p>
        </p:txBody>
      </p:sp>
      <p:sp>
        <p:nvSpPr>
          <p:cNvPr id="9" name="Shape 2">
            <a:extLst>
              <a:ext uri="{FF2B5EF4-FFF2-40B4-BE49-F238E27FC236}">
                <a16:creationId xmlns:a16="http://schemas.microsoft.com/office/drawing/2014/main" id="{EF211C27-6957-056E-F753-DE050384D42A}"/>
              </a:ext>
            </a:extLst>
          </p:cNvPr>
          <p:cNvSpPr/>
          <p:nvPr/>
        </p:nvSpPr>
        <p:spPr>
          <a:xfrm flipV="1">
            <a:off x="1291022" y="2085028"/>
            <a:ext cx="700564" cy="45719"/>
          </a:xfrm>
          <a:prstGeom prst="roundRect">
            <a:avLst>
              <a:gd name="adj" fmla="val 788060"/>
            </a:avLst>
          </a:prstGeom>
          <a:solidFill>
            <a:srgbClr val="60646A"/>
          </a:solidFill>
          <a:ln/>
        </p:spPr>
        <p:txBody>
          <a:bodyPr/>
          <a:lstStyle/>
          <a:p>
            <a:endParaRPr lang="en-ZA"/>
          </a:p>
        </p:txBody>
      </p:sp>
      <p:sp>
        <p:nvSpPr>
          <p:cNvPr id="10" name="Shape 3">
            <a:extLst>
              <a:ext uri="{FF2B5EF4-FFF2-40B4-BE49-F238E27FC236}">
                <a16:creationId xmlns:a16="http://schemas.microsoft.com/office/drawing/2014/main" id="{6CA253CB-E80A-230F-A9BF-1BD0EA3DF6B9}"/>
              </a:ext>
            </a:extLst>
          </p:cNvPr>
          <p:cNvSpPr/>
          <p:nvPr/>
        </p:nvSpPr>
        <p:spPr>
          <a:xfrm>
            <a:off x="967204" y="1842914"/>
            <a:ext cx="450294" cy="450294"/>
          </a:xfrm>
          <a:prstGeom prst="roundRect">
            <a:avLst>
              <a:gd name="adj" fmla="val 40007"/>
            </a:avLst>
          </a:prstGeom>
          <a:solidFill>
            <a:srgbClr val="282C32"/>
          </a:solidFill>
          <a:ln/>
          <a:effectLst>
            <a:outerShdw blurRad="49530" dist="24130" dir="13500000" algn="bl" rotWithShape="0">
              <a:srgbClr val="FFFFFF">
                <a:alpha val="10000"/>
              </a:srgbClr>
            </a:outerShdw>
          </a:effectLst>
        </p:spPr>
        <p:txBody>
          <a:bodyPr/>
          <a:lstStyle/>
          <a:p>
            <a:endParaRPr lang="en-ZA"/>
          </a:p>
        </p:txBody>
      </p:sp>
      <p:sp>
        <p:nvSpPr>
          <p:cNvPr id="11" name="Text 4">
            <a:extLst>
              <a:ext uri="{FF2B5EF4-FFF2-40B4-BE49-F238E27FC236}">
                <a16:creationId xmlns:a16="http://schemas.microsoft.com/office/drawing/2014/main" id="{ADB8BB45-E0A1-D8BB-BAAB-425CFE7AF00F}"/>
              </a:ext>
            </a:extLst>
          </p:cNvPr>
          <p:cNvSpPr/>
          <p:nvPr/>
        </p:nvSpPr>
        <p:spPr>
          <a:xfrm>
            <a:off x="1118826" y="1917749"/>
            <a:ext cx="111779" cy="450294"/>
          </a:xfrm>
          <a:prstGeom prst="rect">
            <a:avLst/>
          </a:prstGeom>
          <a:noFill/>
          <a:ln/>
        </p:spPr>
        <p:txBody>
          <a:bodyPr wrap="none" lIns="0" tIns="0" rIns="0" bIns="0" rtlCol="0" anchor="t"/>
          <a:lstStyle/>
          <a:p>
            <a:pPr marL="0" indent="0" algn="ctr">
              <a:lnSpc>
                <a:spcPts val="2450"/>
              </a:lnSpc>
              <a:buNone/>
            </a:pPr>
            <a:r>
              <a:rPr lang="en-US" sz="2450" b="1" dirty="0">
                <a:solidFill>
                  <a:srgbClr val="EEEFF5"/>
                </a:solidFill>
                <a:latin typeface="Barlow Bold" pitchFamily="34" charset="0"/>
                <a:ea typeface="Barlow Bold" pitchFamily="34" charset="-122"/>
                <a:cs typeface="Barlow Bold" pitchFamily="34" charset="-120"/>
              </a:rPr>
              <a:t>1</a:t>
            </a:r>
            <a:endParaRPr lang="en-US" sz="2450" dirty="0"/>
          </a:p>
        </p:txBody>
      </p:sp>
      <p:sp>
        <p:nvSpPr>
          <p:cNvPr id="12" name="Text 5">
            <a:extLst>
              <a:ext uri="{FF2B5EF4-FFF2-40B4-BE49-F238E27FC236}">
                <a16:creationId xmlns:a16="http://schemas.microsoft.com/office/drawing/2014/main" id="{A4385C80-5425-8370-C8B6-83AE9FCE79C9}"/>
              </a:ext>
            </a:extLst>
          </p:cNvPr>
          <p:cNvSpPr/>
          <p:nvPr/>
        </p:nvSpPr>
        <p:spPr>
          <a:xfrm>
            <a:off x="2053344" y="1953288"/>
            <a:ext cx="3267194" cy="329208"/>
          </a:xfrm>
          <a:prstGeom prst="rect">
            <a:avLst/>
          </a:prstGeom>
          <a:noFill/>
          <a:ln/>
        </p:spPr>
        <p:txBody>
          <a:bodyPr wrap="none" lIns="0" tIns="0" rIns="0" bIns="0" rtlCol="0" anchor="t"/>
          <a:lstStyle/>
          <a:p>
            <a:pPr marL="0" indent="0" algn="l">
              <a:lnSpc>
                <a:spcPts val="2550"/>
              </a:lnSpc>
              <a:buNone/>
            </a:pPr>
            <a:r>
              <a:rPr lang="en-US" sz="2050" b="1" dirty="0">
                <a:latin typeface="Barlow Bold" pitchFamily="34" charset="0"/>
                <a:ea typeface="Barlow Bold" pitchFamily="34" charset="-122"/>
                <a:cs typeface="Barlow Bold" pitchFamily="34" charset="-120"/>
              </a:rPr>
              <a:t>Lack of Access to Financing</a:t>
            </a:r>
            <a:endParaRPr lang="en-US" sz="2050" b="1" dirty="0"/>
          </a:p>
        </p:txBody>
      </p:sp>
      <p:sp>
        <p:nvSpPr>
          <p:cNvPr id="13" name="Text 6">
            <a:extLst>
              <a:ext uri="{FF2B5EF4-FFF2-40B4-BE49-F238E27FC236}">
                <a16:creationId xmlns:a16="http://schemas.microsoft.com/office/drawing/2014/main" id="{3327DAC9-C866-DBD9-2F26-19B82D71D78C}"/>
              </a:ext>
            </a:extLst>
          </p:cNvPr>
          <p:cNvSpPr/>
          <p:nvPr/>
        </p:nvSpPr>
        <p:spPr>
          <a:xfrm>
            <a:off x="1995422" y="2327554"/>
            <a:ext cx="6341864" cy="640318"/>
          </a:xfrm>
          <a:prstGeom prst="rect">
            <a:avLst/>
          </a:prstGeom>
          <a:noFill/>
          <a:ln/>
        </p:spPr>
        <p:txBody>
          <a:bodyPr wrap="square" lIns="0" tIns="0" rIns="0" bIns="0" rtlCol="0" anchor="t"/>
          <a:lstStyle/>
          <a:p>
            <a:pPr>
              <a:lnSpc>
                <a:spcPts val="2500"/>
              </a:lnSpc>
            </a:pPr>
            <a:r>
              <a:rPr lang="en-US" sz="1400" dirty="0">
                <a:latin typeface="Arial" panose="020B0604020202020204" pitchFamily="34" charset="0"/>
                <a:ea typeface="Montserrat" pitchFamily="34" charset="-122"/>
                <a:cs typeface="Arial" panose="020B0604020202020204" pitchFamily="34" charset="0"/>
              </a:rPr>
              <a:t>Informal businesses often lack the collateral or credit history to secure formal financing, limiting their growth potential for their businesses.</a:t>
            </a:r>
            <a:endParaRPr lang="en-US" sz="1400" dirty="0">
              <a:latin typeface="Arial" panose="020B0604020202020204" pitchFamily="34" charset="0"/>
              <a:cs typeface="Arial" panose="020B0604020202020204" pitchFamily="34" charset="0"/>
            </a:endParaRPr>
          </a:p>
        </p:txBody>
      </p:sp>
      <p:sp>
        <p:nvSpPr>
          <p:cNvPr id="14" name="Shape 7">
            <a:extLst>
              <a:ext uri="{FF2B5EF4-FFF2-40B4-BE49-F238E27FC236}">
                <a16:creationId xmlns:a16="http://schemas.microsoft.com/office/drawing/2014/main" id="{A2CCAA68-9A7D-62C9-42CC-303580B00DA7}"/>
              </a:ext>
            </a:extLst>
          </p:cNvPr>
          <p:cNvSpPr/>
          <p:nvPr/>
        </p:nvSpPr>
        <p:spPr>
          <a:xfrm flipV="1">
            <a:off x="1369153" y="3444098"/>
            <a:ext cx="506126" cy="47280"/>
          </a:xfrm>
          <a:prstGeom prst="roundRect">
            <a:avLst>
              <a:gd name="adj" fmla="val 788060"/>
            </a:avLst>
          </a:prstGeom>
          <a:solidFill>
            <a:srgbClr val="60646A"/>
          </a:solidFill>
          <a:ln/>
        </p:spPr>
        <p:txBody>
          <a:bodyPr/>
          <a:lstStyle/>
          <a:p>
            <a:endParaRPr lang="en-ZA"/>
          </a:p>
        </p:txBody>
      </p:sp>
      <p:sp>
        <p:nvSpPr>
          <p:cNvPr id="15" name="Shape 8">
            <a:extLst>
              <a:ext uri="{FF2B5EF4-FFF2-40B4-BE49-F238E27FC236}">
                <a16:creationId xmlns:a16="http://schemas.microsoft.com/office/drawing/2014/main" id="{A5ADAFCC-5908-A55B-A38B-2887772036AF}"/>
              </a:ext>
            </a:extLst>
          </p:cNvPr>
          <p:cNvSpPr/>
          <p:nvPr/>
        </p:nvSpPr>
        <p:spPr>
          <a:xfrm>
            <a:off x="950769" y="3185056"/>
            <a:ext cx="450294" cy="450294"/>
          </a:xfrm>
          <a:prstGeom prst="roundRect">
            <a:avLst>
              <a:gd name="adj" fmla="val 40007"/>
            </a:avLst>
          </a:prstGeom>
          <a:solidFill>
            <a:srgbClr val="282C32"/>
          </a:solidFill>
          <a:ln/>
          <a:effectLst>
            <a:outerShdw blurRad="49530" dist="24130" dir="13500000" algn="bl" rotWithShape="0">
              <a:srgbClr val="FFFFFF">
                <a:alpha val="10000"/>
              </a:srgbClr>
            </a:outerShdw>
          </a:effectLst>
        </p:spPr>
        <p:txBody>
          <a:bodyPr/>
          <a:lstStyle/>
          <a:p>
            <a:endParaRPr lang="en-ZA"/>
          </a:p>
        </p:txBody>
      </p:sp>
      <p:sp>
        <p:nvSpPr>
          <p:cNvPr id="16" name="Text 9">
            <a:extLst>
              <a:ext uri="{FF2B5EF4-FFF2-40B4-BE49-F238E27FC236}">
                <a16:creationId xmlns:a16="http://schemas.microsoft.com/office/drawing/2014/main" id="{3508BCA9-1F94-A038-3209-0459EEAFC625}"/>
              </a:ext>
            </a:extLst>
          </p:cNvPr>
          <p:cNvSpPr/>
          <p:nvPr/>
        </p:nvSpPr>
        <p:spPr>
          <a:xfrm>
            <a:off x="1092812" y="3223415"/>
            <a:ext cx="111323" cy="220683"/>
          </a:xfrm>
          <a:prstGeom prst="rect">
            <a:avLst/>
          </a:prstGeom>
          <a:noFill/>
          <a:ln/>
        </p:spPr>
        <p:txBody>
          <a:bodyPr wrap="none" lIns="0" tIns="0" rIns="0" bIns="0" rtlCol="0" anchor="t"/>
          <a:lstStyle/>
          <a:p>
            <a:pPr marL="0" indent="0" algn="ctr">
              <a:lnSpc>
                <a:spcPts val="2450"/>
              </a:lnSpc>
              <a:buNone/>
            </a:pPr>
            <a:r>
              <a:rPr lang="en-US" sz="2450" b="1" dirty="0">
                <a:solidFill>
                  <a:srgbClr val="EEEFF5"/>
                </a:solidFill>
                <a:latin typeface="Barlow Bold" pitchFamily="34" charset="0"/>
                <a:ea typeface="Barlow Bold" pitchFamily="34" charset="-122"/>
                <a:cs typeface="Barlow Bold" pitchFamily="34" charset="-120"/>
              </a:rPr>
              <a:t>2</a:t>
            </a:r>
            <a:endParaRPr lang="en-US" sz="2450" dirty="0"/>
          </a:p>
        </p:txBody>
      </p:sp>
      <p:sp>
        <p:nvSpPr>
          <p:cNvPr id="17" name="Text 10">
            <a:extLst>
              <a:ext uri="{FF2B5EF4-FFF2-40B4-BE49-F238E27FC236}">
                <a16:creationId xmlns:a16="http://schemas.microsoft.com/office/drawing/2014/main" id="{ED1341EF-0642-7F9D-707C-2857CA890BFF}"/>
              </a:ext>
            </a:extLst>
          </p:cNvPr>
          <p:cNvSpPr/>
          <p:nvPr/>
        </p:nvSpPr>
        <p:spPr>
          <a:xfrm>
            <a:off x="1956655" y="3294403"/>
            <a:ext cx="2633662" cy="329208"/>
          </a:xfrm>
          <a:prstGeom prst="rect">
            <a:avLst/>
          </a:prstGeom>
          <a:noFill/>
          <a:ln/>
        </p:spPr>
        <p:txBody>
          <a:bodyPr wrap="none" lIns="0" tIns="0" rIns="0" bIns="0" rtlCol="0" anchor="t"/>
          <a:lstStyle/>
          <a:p>
            <a:pPr marL="0" indent="0" algn="l">
              <a:lnSpc>
                <a:spcPts val="2550"/>
              </a:lnSpc>
              <a:buNone/>
            </a:pPr>
            <a:r>
              <a:rPr lang="en-US" sz="2050" b="1" dirty="0">
                <a:latin typeface="Barlow Bold" pitchFamily="34" charset="0"/>
                <a:ea typeface="Barlow Bold" pitchFamily="34" charset="-122"/>
                <a:cs typeface="Barlow Bold" pitchFamily="34" charset="-120"/>
              </a:rPr>
              <a:t>Regulatory Barriers</a:t>
            </a:r>
            <a:endParaRPr lang="en-US" sz="2050" b="1" dirty="0"/>
          </a:p>
        </p:txBody>
      </p:sp>
      <p:sp>
        <p:nvSpPr>
          <p:cNvPr id="18" name="Text 11">
            <a:extLst>
              <a:ext uri="{FF2B5EF4-FFF2-40B4-BE49-F238E27FC236}">
                <a16:creationId xmlns:a16="http://schemas.microsoft.com/office/drawing/2014/main" id="{425AB8D3-ED72-B16D-1E02-24F1203423F9}"/>
              </a:ext>
            </a:extLst>
          </p:cNvPr>
          <p:cNvSpPr/>
          <p:nvPr/>
        </p:nvSpPr>
        <p:spPr>
          <a:xfrm>
            <a:off x="1956655" y="3730656"/>
            <a:ext cx="6341864" cy="960477"/>
          </a:xfrm>
          <a:prstGeom prst="rect">
            <a:avLst/>
          </a:prstGeom>
          <a:noFill/>
          <a:ln/>
        </p:spPr>
        <p:txBody>
          <a:bodyPr wrap="square" lIns="0" tIns="0" rIns="0" bIns="0" rtlCol="0" anchor="t"/>
          <a:lstStyle/>
          <a:p>
            <a:pPr marL="0" indent="0" algn="l">
              <a:lnSpc>
                <a:spcPts val="2500"/>
              </a:lnSpc>
              <a:buNone/>
            </a:pPr>
            <a:r>
              <a:rPr lang="en-US" sz="1400" dirty="0">
                <a:latin typeface="Arial" panose="020B0604020202020204" pitchFamily="34" charset="0"/>
                <a:ea typeface="Montserrat" pitchFamily="34" charset="-122"/>
                <a:cs typeface="Arial" panose="020B0604020202020204" pitchFamily="34" charset="0"/>
              </a:rPr>
              <a:t>Informal workers and businesses may face challenges, such as difficulties in obtaining licenses and proper infrastructure</a:t>
            </a:r>
            <a:r>
              <a:rPr lang="en-US" sz="1200" dirty="0">
                <a:latin typeface="Arial" panose="020B0604020202020204" pitchFamily="34" charset="0"/>
                <a:ea typeface="Montserrat"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19" name="Shape 12">
            <a:extLst>
              <a:ext uri="{FF2B5EF4-FFF2-40B4-BE49-F238E27FC236}">
                <a16:creationId xmlns:a16="http://schemas.microsoft.com/office/drawing/2014/main" id="{81A7381A-091F-4376-2184-095901B7DE86}"/>
              </a:ext>
            </a:extLst>
          </p:cNvPr>
          <p:cNvSpPr/>
          <p:nvPr/>
        </p:nvSpPr>
        <p:spPr>
          <a:xfrm>
            <a:off x="1174715" y="5069185"/>
            <a:ext cx="635708" cy="45719"/>
          </a:xfrm>
          <a:prstGeom prst="roundRect">
            <a:avLst>
              <a:gd name="adj" fmla="val 788060"/>
            </a:avLst>
          </a:prstGeom>
          <a:solidFill>
            <a:srgbClr val="60646A"/>
          </a:solidFill>
          <a:ln/>
        </p:spPr>
        <p:txBody>
          <a:bodyPr/>
          <a:lstStyle/>
          <a:p>
            <a:endParaRPr lang="en-ZA"/>
          </a:p>
        </p:txBody>
      </p:sp>
      <p:sp>
        <p:nvSpPr>
          <p:cNvPr id="20" name="Shape 13">
            <a:extLst>
              <a:ext uri="{FF2B5EF4-FFF2-40B4-BE49-F238E27FC236}">
                <a16:creationId xmlns:a16="http://schemas.microsoft.com/office/drawing/2014/main" id="{1C8263B7-7453-0EF1-DC3D-B74EF6127891}"/>
              </a:ext>
            </a:extLst>
          </p:cNvPr>
          <p:cNvSpPr/>
          <p:nvPr/>
        </p:nvSpPr>
        <p:spPr>
          <a:xfrm>
            <a:off x="928206" y="4866897"/>
            <a:ext cx="450294" cy="450294"/>
          </a:xfrm>
          <a:prstGeom prst="roundRect">
            <a:avLst>
              <a:gd name="adj" fmla="val 40007"/>
            </a:avLst>
          </a:prstGeom>
          <a:solidFill>
            <a:srgbClr val="282C32"/>
          </a:solidFill>
          <a:ln/>
          <a:effectLst>
            <a:outerShdw blurRad="49530" dist="24130" dir="13500000" algn="bl" rotWithShape="0">
              <a:srgbClr val="FFFFFF">
                <a:alpha val="10000"/>
              </a:srgbClr>
            </a:outerShdw>
          </a:effectLst>
        </p:spPr>
        <p:txBody>
          <a:bodyPr/>
          <a:lstStyle/>
          <a:p>
            <a:endParaRPr lang="en-ZA"/>
          </a:p>
        </p:txBody>
      </p:sp>
      <p:sp>
        <p:nvSpPr>
          <p:cNvPr id="21" name="Text 14">
            <a:extLst>
              <a:ext uri="{FF2B5EF4-FFF2-40B4-BE49-F238E27FC236}">
                <a16:creationId xmlns:a16="http://schemas.microsoft.com/office/drawing/2014/main" id="{74A033C3-D012-3A97-5547-A3AE9B047492}"/>
              </a:ext>
            </a:extLst>
          </p:cNvPr>
          <p:cNvSpPr/>
          <p:nvPr/>
        </p:nvSpPr>
        <p:spPr>
          <a:xfrm>
            <a:off x="1059869" y="4989847"/>
            <a:ext cx="170736" cy="316111"/>
          </a:xfrm>
          <a:prstGeom prst="rect">
            <a:avLst/>
          </a:prstGeom>
          <a:noFill/>
          <a:ln/>
        </p:spPr>
        <p:txBody>
          <a:bodyPr wrap="none" lIns="0" tIns="0" rIns="0" bIns="0" rtlCol="0" anchor="t"/>
          <a:lstStyle/>
          <a:p>
            <a:pPr marL="0" indent="0" algn="ctr">
              <a:lnSpc>
                <a:spcPts val="2450"/>
              </a:lnSpc>
              <a:buNone/>
            </a:pPr>
            <a:r>
              <a:rPr lang="en-US" sz="2450" b="1" dirty="0">
                <a:solidFill>
                  <a:srgbClr val="EEEFF5"/>
                </a:solidFill>
                <a:latin typeface="Barlow Bold" pitchFamily="34" charset="0"/>
                <a:ea typeface="Barlow Bold" pitchFamily="34" charset="-122"/>
                <a:cs typeface="Barlow Bold" pitchFamily="34" charset="-120"/>
              </a:rPr>
              <a:t>3</a:t>
            </a:r>
            <a:endParaRPr lang="en-US" sz="2450" dirty="0"/>
          </a:p>
        </p:txBody>
      </p:sp>
      <p:sp>
        <p:nvSpPr>
          <p:cNvPr id="22" name="Text 15">
            <a:extLst>
              <a:ext uri="{FF2B5EF4-FFF2-40B4-BE49-F238E27FC236}">
                <a16:creationId xmlns:a16="http://schemas.microsoft.com/office/drawing/2014/main" id="{82B7DA08-70C9-C841-6456-B83C31CB06A2}"/>
              </a:ext>
            </a:extLst>
          </p:cNvPr>
          <p:cNvSpPr/>
          <p:nvPr/>
        </p:nvSpPr>
        <p:spPr>
          <a:xfrm>
            <a:off x="1956655" y="4948541"/>
            <a:ext cx="3238500" cy="329208"/>
          </a:xfrm>
          <a:prstGeom prst="rect">
            <a:avLst/>
          </a:prstGeom>
          <a:noFill/>
          <a:ln/>
        </p:spPr>
        <p:txBody>
          <a:bodyPr wrap="none" lIns="0" tIns="0" rIns="0" bIns="0" rtlCol="0" anchor="t"/>
          <a:lstStyle/>
          <a:p>
            <a:pPr marL="0" indent="0" algn="l">
              <a:lnSpc>
                <a:spcPts val="2550"/>
              </a:lnSpc>
              <a:buNone/>
            </a:pPr>
            <a:r>
              <a:rPr lang="en-US" sz="2050" b="1" dirty="0">
                <a:latin typeface="Barlow Bold" pitchFamily="34" charset="0"/>
                <a:ea typeface="Barlow Bold" pitchFamily="34" charset="-122"/>
                <a:cs typeface="Barlow Bold" pitchFamily="34" charset="-120"/>
              </a:rPr>
              <a:t>Vulnerability to Exploitation</a:t>
            </a:r>
            <a:endParaRPr lang="en-US" sz="2050" b="1" dirty="0"/>
          </a:p>
        </p:txBody>
      </p:sp>
      <p:sp>
        <p:nvSpPr>
          <p:cNvPr id="23" name="Text 16">
            <a:extLst>
              <a:ext uri="{FF2B5EF4-FFF2-40B4-BE49-F238E27FC236}">
                <a16:creationId xmlns:a16="http://schemas.microsoft.com/office/drawing/2014/main" id="{88971BD0-0A67-660E-2A3A-C0A22EB8106F}"/>
              </a:ext>
            </a:extLst>
          </p:cNvPr>
          <p:cNvSpPr/>
          <p:nvPr/>
        </p:nvSpPr>
        <p:spPr>
          <a:xfrm>
            <a:off x="1956655" y="5401691"/>
            <a:ext cx="6341864" cy="640318"/>
          </a:xfrm>
          <a:prstGeom prst="rect">
            <a:avLst/>
          </a:prstGeom>
          <a:noFill/>
          <a:ln/>
        </p:spPr>
        <p:txBody>
          <a:bodyPr wrap="square" lIns="0" tIns="0" rIns="0" bIns="0" rtlCol="0" anchor="t"/>
          <a:lstStyle/>
          <a:p>
            <a:pPr marL="0" indent="0" algn="l">
              <a:lnSpc>
                <a:spcPts val="2500"/>
              </a:lnSpc>
              <a:buNone/>
            </a:pPr>
            <a:r>
              <a:rPr lang="en-US" sz="1400" dirty="0">
                <a:latin typeface="Arial" panose="020B0604020202020204" pitchFamily="34" charset="0"/>
                <a:ea typeface="Montserrat" pitchFamily="34" charset="-122"/>
                <a:cs typeface="Arial" panose="020B0604020202020204" pitchFamily="34" charset="0"/>
              </a:rPr>
              <a:t>Informal workers are susceptible to exploitation, with limited legal protections and access to social safety nets.</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15166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EFD3C-18EF-E103-52D5-7B339AC9642D}"/>
              </a:ext>
            </a:extLst>
          </p:cNvPr>
          <p:cNvSpPr>
            <a:spLocks noGrp="1"/>
          </p:cNvSpPr>
          <p:nvPr>
            <p:ph type="title"/>
          </p:nvPr>
        </p:nvSpPr>
        <p:spPr>
          <a:xfrm>
            <a:off x="2231136" y="964692"/>
            <a:ext cx="7729728" cy="999575"/>
          </a:xfrm>
          <a:solidFill>
            <a:srgbClr val="FFFFFF"/>
          </a:solidFill>
          <a:ln>
            <a:solidFill>
              <a:srgbClr val="404040"/>
            </a:solidFill>
          </a:ln>
        </p:spPr>
        <p:txBody>
          <a:bodyPr>
            <a:normAutofit/>
          </a:bodyPr>
          <a:lstStyle/>
          <a:p>
            <a:r>
              <a:rPr lang="en-US" dirty="0">
                <a:solidFill>
                  <a:srgbClr val="262626"/>
                </a:solidFill>
              </a:rPr>
              <a:t> Intro: problem STATEMENT</a:t>
            </a:r>
            <a:endParaRPr lang="en-ZA" dirty="0">
              <a:solidFill>
                <a:srgbClr val="262626"/>
              </a:solidFill>
            </a:endParaRPr>
          </a:p>
        </p:txBody>
      </p:sp>
      <p:sp>
        <p:nvSpPr>
          <p:cNvPr id="5" name="Footer Placeholder 4">
            <a:extLst>
              <a:ext uri="{FF2B5EF4-FFF2-40B4-BE49-F238E27FC236}">
                <a16:creationId xmlns:a16="http://schemas.microsoft.com/office/drawing/2014/main" id="{6ABC97AC-0AA2-6297-481C-BD24C08A7254}"/>
              </a:ext>
            </a:extLst>
          </p:cNvPr>
          <p:cNvSpPr>
            <a:spLocks noGrp="1"/>
          </p:cNvSpPr>
          <p:nvPr>
            <p:ph type="ftr" sz="quarter" idx="11"/>
          </p:nvPr>
        </p:nvSpPr>
        <p:spPr>
          <a:xfrm>
            <a:off x="1600200" y="6236208"/>
            <a:ext cx="5901189" cy="320040"/>
          </a:xfrm>
        </p:spPr>
        <p:txBody>
          <a:bodyPr>
            <a:normAutofit/>
          </a:bodyPr>
          <a:lstStyle/>
          <a:p>
            <a:pPr>
              <a:lnSpc>
                <a:spcPct val="90000"/>
              </a:lnSpc>
              <a:spcAft>
                <a:spcPts val="600"/>
              </a:spcAft>
            </a:pPr>
            <a:endParaRPr lang="en-ZA" sz="500"/>
          </a:p>
          <a:p>
            <a:pPr>
              <a:lnSpc>
                <a:spcPct val="90000"/>
              </a:lnSpc>
              <a:spcAft>
                <a:spcPts val="600"/>
              </a:spcAft>
            </a:pPr>
            <a:r>
              <a:rPr lang="en-ZA" sz="500"/>
              <a:t>Department of Mathematics &amp; Physics</a:t>
            </a:r>
          </a:p>
        </p:txBody>
      </p:sp>
      <p:sp>
        <p:nvSpPr>
          <p:cNvPr id="4" name="Date Placeholder 3">
            <a:extLst>
              <a:ext uri="{FF2B5EF4-FFF2-40B4-BE49-F238E27FC236}">
                <a16:creationId xmlns:a16="http://schemas.microsoft.com/office/drawing/2014/main" id="{B65A0F16-EA6B-ADAF-C480-22123ADD09BF}"/>
              </a:ext>
            </a:extLst>
          </p:cNvPr>
          <p:cNvSpPr>
            <a:spLocks noGrp="1"/>
          </p:cNvSpPr>
          <p:nvPr>
            <p:ph type="dt" sz="half" idx="10"/>
          </p:nvPr>
        </p:nvSpPr>
        <p:spPr>
          <a:xfrm>
            <a:off x="7821429" y="6238816"/>
            <a:ext cx="2753746" cy="323968"/>
          </a:xfrm>
        </p:spPr>
        <p:txBody>
          <a:bodyPr>
            <a:normAutofit/>
          </a:bodyPr>
          <a:lstStyle/>
          <a:p>
            <a:pPr>
              <a:spcAft>
                <a:spcPts val="600"/>
              </a:spcAft>
            </a:pPr>
            <a:fld id="{2AD394A7-1302-450B-95EB-FFC37E100C94}" type="datetime3">
              <a:rPr lang="en-ZA" smtClean="0"/>
              <a:pPr>
                <a:spcAft>
                  <a:spcPts val="600"/>
                </a:spcAft>
              </a:pPr>
              <a:t>5 March 2026</a:t>
            </a:fld>
            <a:endParaRPr lang="en-ZA"/>
          </a:p>
        </p:txBody>
      </p:sp>
      <p:sp>
        <p:nvSpPr>
          <p:cNvPr id="6" name="Slide Number Placeholder 5">
            <a:extLst>
              <a:ext uri="{FF2B5EF4-FFF2-40B4-BE49-F238E27FC236}">
                <a16:creationId xmlns:a16="http://schemas.microsoft.com/office/drawing/2014/main" id="{5DA8265E-7F3E-4B7B-2843-0C7442F014B8}"/>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FCDC5D13-0321-4383-81EA-F2073319DF27}" type="slidenum">
              <a:rPr lang="en-ZA" smtClean="0"/>
              <a:pPr>
                <a:lnSpc>
                  <a:spcPct val="90000"/>
                </a:lnSpc>
                <a:spcAft>
                  <a:spcPts val="600"/>
                </a:spcAft>
              </a:pPr>
              <a:t>8</a:t>
            </a:fld>
            <a:endParaRPr lang="en-ZA"/>
          </a:p>
        </p:txBody>
      </p:sp>
      <p:graphicFrame>
        <p:nvGraphicFramePr>
          <p:cNvPr id="37" name="Content Placeholder 2">
            <a:extLst>
              <a:ext uri="{FF2B5EF4-FFF2-40B4-BE49-F238E27FC236}">
                <a16:creationId xmlns:a16="http://schemas.microsoft.com/office/drawing/2014/main" id="{2F599DD6-F478-0773-0AA4-028182AF5E41}"/>
              </a:ext>
            </a:extLst>
          </p:cNvPr>
          <p:cNvGraphicFramePr>
            <a:graphicFrameLocks noGrp="1"/>
          </p:cNvGraphicFramePr>
          <p:nvPr>
            <p:ph idx="1"/>
            <p:extLst>
              <p:ext uri="{D42A27DB-BD31-4B8C-83A1-F6EECF244321}">
                <p14:modId xmlns:p14="http://schemas.microsoft.com/office/powerpoint/2010/main" val="2299803093"/>
              </p:ext>
            </p:extLst>
          </p:nvPr>
        </p:nvGraphicFramePr>
        <p:xfrm>
          <a:off x="965201" y="2638425"/>
          <a:ext cx="10261600" cy="3101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8339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8410" y="821109"/>
            <a:ext cx="7753507" cy="652511"/>
          </a:xfrm>
        </p:spPr>
        <p:txBody>
          <a:bodyPr>
            <a:noAutofit/>
          </a:bodyPr>
          <a:lstStyle/>
          <a:p>
            <a:r>
              <a:rPr lang="en-US" sz="2400" dirty="0"/>
              <a:t>Intro:Research questions</a:t>
            </a:r>
          </a:p>
        </p:txBody>
      </p:sp>
      <p:sp>
        <p:nvSpPr>
          <p:cNvPr id="4" name="Date Placeholder 3"/>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p:cNvSpPr>
            <a:spLocks noGrp="1"/>
          </p:cNvSpPr>
          <p:nvPr>
            <p:ph type="sldNum" sz="quarter" idx="12"/>
          </p:nvPr>
        </p:nvSpPr>
        <p:spPr/>
        <p:txBody>
          <a:bodyPr/>
          <a:lstStyle/>
          <a:p>
            <a:fld id="{FCDC5D13-0321-4383-81EA-F2073319DF27}" type="slidenum">
              <a:rPr lang="en-ZA" smtClean="0"/>
              <a:pPr/>
              <a:t>9</a:t>
            </a:fld>
            <a:endParaRPr lang="en-ZA" dirty="0"/>
          </a:p>
        </p:txBody>
      </p:sp>
      <p:graphicFrame>
        <p:nvGraphicFramePr>
          <p:cNvPr id="7" name="Diagram 6"/>
          <p:cNvGraphicFramePr/>
          <p:nvPr>
            <p:extLst>
              <p:ext uri="{D42A27DB-BD31-4B8C-83A1-F6EECF244321}">
                <p14:modId xmlns:p14="http://schemas.microsoft.com/office/powerpoint/2010/main" val="2898506862"/>
              </p:ext>
            </p:extLst>
          </p:nvPr>
        </p:nvGraphicFramePr>
        <p:xfrm>
          <a:off x="2108409" y="2112689"/>
          <a:ext cx="8147059" cy="34818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5693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8B9D2-F7F4-F4C5-0C25-449D093F2482}"/>
              </a:ext>
            </a:extLst>
          </p:cNvPr>
          <p:cNvSpPr>
            <a:spLocks noGrp="1"/>
          </p:cNvSpPr>
          <p:nvPr>
            <p:ph type="title"/>
          </p:nvPr>
        </p:nvSpPr>
        <p:spPr>
          <a:xfrm>
            <a:off x="1148466" y="656526"/>
            <a:ext cx="9610455" cy="870080"/>
          </a:xfrm>
        </p:spPr>
        <p:txBody>
          <a:bodyPr>
            <a:normAutofit/>
          </a:bodyPr>
          <a:lstStyle/>
          <a:p>
            <a:r>
              <a:rPr lang="en-US" dirty="0"/>
              <a:t>Intro: RESEARCH OBJECTIVE </a:t>
            </a:r>
            <a:endParaRPr lang="en-ZA" dirty="0"/>
          </a:p>
        </p:txBody>
      </p:sp>
      <p:graphicFrame>
        <p:nvGraphicFramePr>
          <p:cNvPr id="8" name="Content Placeholder 2">
            <a:extLst>
              <a:ext uri="{FF2B5EF4-FFF2-40B4-BE49-F238E27FC236}">
                <a16:creationId xmlns:a16="http://schemas.microsoft.com/office/drawing/2014/main" id="{B5EEEAED-89C4-3AD5-9B6A-DDA4BF2DDB59}"/>
              </a:ext>
            </a:extLst>
          </p:cNvPr>
          <p:cNvGraphicFramePr>
            <a:graphicFrameLocks noGrp="1"/>
          </p:cNvGraphicFramePr>
          <p:nvPr>
            <p:ph idx="1"/>
            <p:extLst>
              <p:ext uri="{D42A27DB-BD31-4B8C-83A1-F6EECF244321}">
                <p14:modId xmlns:p14="http://schemas.microsoft.com/office/powerpoint/2010/main" val="2838968227"/>
              </p:ext>
            </p:extLst>
          </p:nvPr>
        </p:nvGraphicFramePr>
        <p:xfrm>
          <a:off x="1148466" y="1849777"/>
          <a:ext cx="10261600" cy="40240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2A8CDD67-4E1C-F4C9-8696-D5D0E0016FBD}"/>
              </a:ext>
            </a:extLst>
          </p:cNvPr>
          <p:cNvSpPr>
            <a:spLocks noGrp="1"/>
          </p:cNvSpPr>
          <p:nvPr>
            <p:ph type="dt" sz="half" idx="10"/>
          </p:nvPr>
        </p:nvSpPr>
        <p:spPr/>
        <p:txBody>
          <a:bodyPr>
            <a:normAutofit/>
          </a:bodyPr>
          <a:lstStyle/>
          <a:p>
            <a:pPr>
              <a:spcAft>
                <a:spcPts val="600"/>
              </a:spcAft>
            </a:pPr>
            <a:fld id="{2AD394A7-1302-450B-95EB-FFC37E100C94}" type="datetime3">
              <a:rPr lang="en-ZA" smtClean="0"/>
              <a:pPr>
                <a:spcAft>
                  <a:spcPts val="600"/>
                </a:spcAft>
              </a:pPr>
              <a:t>5 March 2026</a:t>
            </a:fld>
            <a:endParaRPr lang="en-ZA"/>
          </a:p>
        </p:txBody>
      </p:sp>
      <p:sp>
        <p:nvSpPr>
          <p:cNvPr id="5" name="Footer Placeholder 4">
            <a:extLst>
              <a:ext uri="{FF2B5EF4-FFF2-40B4-BE49-F238E27FC236}">
                <a16:creationId xmlns:a16="http://schemas.microsoft.com/office/drawing/2014/main" id="{F534079B-576A-5001-790F-06518CBD91A3}"/>
              </a:ext>
            </a:extLst>
          </p:cNvPr>
          <p:cNvSpPr>
            <a:spLocks noGrp="1"/>
          </p:cNvSpPr>
          <p:nvPr>
            <p:ph type="ftr" sz="quarter" idx="11"/>
          </p:nvPr>
        </p:nvSpPr>
        <p:spPr/>
        <p:txBody>
          <a:bodyPr>
            <a:normAutofit/>
          </a:bodyPr>
          <a:lstStyle/>
          <a:p>
            <a:pPr>
              <a:lnSpc>
                <a:spcPct val="90000"/>
              </a:lnSpc>
              <a:spcAft>
                <a:spcPts val="600"/>
              </a:spcAft>
            </a:pPr>
            <a:endParaRPr lang="en-ZA" sz="500"/>
          </a:p>
          <a:p>
            <a:pPr>
              <a:lnSpc>
                <a:spcPct val="90000"/>
              </a:lnSpc>
              <a:spcAft>
                <a:spcPts val="600"/>
              </a:spcAft>
            </a:pPr>
            <a:r>
              <a:rPr lang="en-ZA" sz="500"/>
              <a:t>Department of Mathematics &amp; Physics</a:t>
            </a:r>
          </a:p>
        </p:txBody>
      </p:sp>
      <p:sp>
        <p:nvSpPr>
          <p:cNvPr id="6" name="Slide Number Placeholder 5">
            <a:extLst>
              <a:ext uri="{FF2B5EF4-FFF2-40B4-BE49-F238E27FC236}">
                <a16:creationId xmlns:a16="http://schemas.microsoft.com/office/drawing/2014/main" id="{00A5444B-A95F-DCAD-7BEC-616A24A2BB77}"/>
              </a:ext>
            </a:extLst>
          </p:cNvPr>
          <p:cNvSpPr>
            <a:spLocks noGrp="1"/>
          </p:cNvSpPr>
          <p:nvPr>
            <p:ph type="sldNum" sz="quarter" idx="12"/>
          </p:nvPr>
        </p:nvSpPr>
        <p:spPr/>
        <p:txBody>
          <a:bodyPr>
            <a:normAutofit/>
          </a:bodyPr>
          <a:lstStyle/>
          <a:p>
            <a:pPr>
              <a:lnSpc>
                <a:spcPct val="90000"/>
              </a:lnSpc>
              <a:spcAft>
                <a:spcPts val="600"/>
              </a:spcAft>
            </a:pPr>
            <a:fld id="{FCDC5D13-0321-4383-81EA-F2073319DF27}" type="slidenum">
              <a:rPr lang="en-ZA" smtClean="0"/>
              <a:pPr>
                <a:lnSpc>
                  <a:spcPct val="90000"/>
                </a:lnSpc>
                <a:spcAft>
                  <a:spcPts val="600"/>
                </a:spcAft>
              </a:pPr>
              <a:t>10</a:t>
            </a:fld>
            <a:endParaRPr lang="en-ZA"/>
          </a:p>
        </p:txBody>
      </p:sp>
    </p:spTree>
    <p:extLst>
      <p:ext uri="{BB962C8B-B14F-4D97-AF65-F5344CB8AC3E}">
        <p14:creationId xmlns:p14="http://schemas.microsoft.com/office/powerpoint/2010/main" val="918149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51C46-1E69-DEE3-B60B-2A75DF37340E}"/>
              </a:ext>
            </a:extLst>
          </p:cNvPr>
          <p:cNvSpPr>
            <a:spLocks noGrp="1"/>
          </p:cNvSpPr>
          <p:nvPr>
            <p:ph type="title"/>
          </p:nvPr>
        </p:nvSpPr>
        <p:spPr>
          <a:xfrm>
            <a:off x="1604174" y="704262"/>
            <a:ext cx="9048645" cy="753110"/>
          </a:xfrm>
        </p:spPr>
        <p:txBody>
          <a:bodyPr/>
          <a:lstStyle/>
          <a:p>
            <a:r>
              <a:rPr lang="en-ZA" dirty="0"/>
              <a:t>LITERATURE REVIEW</a:t>
            </a:r>
          </a:p>
        </p:txBody>
      </p:sp>
      <p:sp>
        <p:nvSpPr>
          <p:cNvPr id="3" name="Content Placeholder 2">
            <a:extLst>
              <a:ext uri="{FF2B5EF4-FFF2-40B4-BE49-F238E27FC236}">
                <a16:creationId xmlns:a16="http://schemas.microsoft.com/office/drawing/2014/main" id="{5FBD8812-FB8D-049B-1F79-B380D80256CF}"/>
              </a:ext>
            </a:extLst>
          </p:cNvPr>
          <p:cNvSpPr>
            <a:spLocks noGrp="1"/>
          </p:cNvSpPr>
          <p:nvPr>
            <p:ph idx="1"/>
          </p:nvPr>
        </p:nvSpPr>
        <p:spPr>
          <a:xfrm>
            <a:off x="1488427" y="1905000"/>
            <a:ext cx="9848439" cy="4312920"/>
          </a:xfrm>
        </p:spPr>
        <p:txBody>
          <a:bodyPr vert="horz" lIns="91440" tIns="45720" rIns="91440" bIns="45720" rtlCol="0" anchor="t">
            <a:normAutofit/>
          </a:bodyPr>
          <a:lstStyle/>
          <a:p>
            <a:pPr marL="0" indent="0">
              <a:buNone/>
            </a:pPr>
            <a:endParaRPr lang="en-ZA" sz="2500" dirty="0">
              <a:solidFill>
                <a:schemeClr val="tx1"/>
              </a:solidFill>
            </a:endParaRPr>
          </a:p>
          <a:p>
            <a:pPr marL="285750" indent="-285750"/>
            <a:endParaRPr lang="en-GB" sz="1700" b="1" dirty="0">
              <a:solidFill>
                <a:srgbClr val="000000"/>
              </a:solidFill>
              <a:latin typeface="Arial"/>
              <a:cs typeface="Arial"/>
            </a:endParaRPr>
          </a:p>
          <a:p>
            <a:endParaRPr lang="en-GB" dirty="0"/>
          </a:p>
          <a:p>
            <a:endParaRPr lang="en-GB" dirty="0"/>
          </a:p>
          <a:p>
            <a:endParaRPr lang="en-GB" dirty="0"/>
          </a:p>
          <a:p>
            <a:endParaRPr lang="en-ZA" dirty="0"/>
          </a:p>
        </p:txBody>
      </p:sp>
      <p:sp>
        <p:nvSpPr>
          <p:cNvPr id="4" name="Date Placeholder 3">
            <a:extLst>
              <a:ext uri="{FF2B5EF4-FFF2-40B4-BE49-F238E27FC236}">
                <a16:creationId xmlns:a16="http://schemas.microsoft.com/office/drawing/2014/main" id="{194F4939-762E-EB34-B5A6-D97C872067A6}"/>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11C55758-F40B-ED86-C870-E6660B9EB12E}"/>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1F15F2FB-486D-BBD2-12E9-C8740A1EEF4B}"/>
              </a:ext>
            </a:extLst>
          </p:cNvPr>
          <p:cNvSpPr>
            <a:spLocks noGrp="1"/>
          </p:cNvSpPr>
          <p:nvPr>
            <p:ph type="sldNum" sz="quarter" idx="12"/>
          </p:nvPr>
        </p:nvSpPr>
        <p:spPr/>
        <p:txBody>
          <a:bodyPr/>
          <a:lstStyle/>
          <a:p>
            <a:fld id="{FCDC5D13-0321-4383-81EA-F2073319DF27}" type="slidenum">
              <a:rPr lang="en-ZA" smtClean="0"/>
              <a:pPr/>
              <a:t>11</a:t>
            </a:fld>
            <a:endParaRPr lang="en-ZA" dirty="0"/>
          </a:p>
        </p:txBody>
      </p:sp>
      <p:sp>
        <p:nvSpPr>
          <p:cNvPr id="10" name="TextBox 9">
            <a:extLst>
              <a:ext uri="{FF2B5EF4-FFF2-40B4-BE49-F238E27FC236}">
                <a16:creationId xmlns:a16="http://schemas.microsoft.com/office/drawing/2014/main" id="{F8DD1F80-5029-2FF6-BF07-7D93CDF982AD}"/>
              </a:ext>
            </a:extLst>
          </p:cNvPr>
          <p:cNvSpPr txBox="1"/>
          <p:nvPr/>
        </p:nvSpPr>
        <p:spPr>
          <a:xfrm>
            <a:off x="1488428" y="1965661"/>
            <a:ext cx="2179379" cy="1105880"/>
          </a:xfrm>
          <a:prstGeom prst="rect">
            <a:avLst/>
          </a:prstGeom>
          <a:noFill/>
        </p:spPr>
        <p:txBody>
          <a:bodyPr wrap="square">
            <a:spAutoFit/>
          </a:bodyPr>
          <a:lstStyle/>
          <a:p>
            <a:pPr marL="0" marR="0" lvl="0" indent="0" algn="l" defTabSz="914400" rtl="0" eaLnBrk="1" fontAlgn="auto" latinLnBrk="0" hangingPunct="1">
              <a:lnSpc>
                <a:spcPct val="150000"/>
              </a:lnSpc>
              <a:spcBef>
                <a:spcPts val="1000"/>
              </a:spcBef>
              <a:spcAft>
                <a:spcPts val="0"/>
              </a:spcAft>
              <a:buClr>
                <a:srgbClr val="9BAFB5"/>
              </a:buClr>
              <a:buSzTx/>
              <a:buFont typeface="Arial" panose="020B0604020202020204" pitchFamily="34" charset="0"/>
              <a:buNone/>
              <a:tabLst/>
              <a:defRPr/>
            </a:pPr>
            <a:r>
              <a:rPr kumimoji="0" lang="en-ZA" sz="1200" b="1" i="0" u="none" strike="noStrike" kern="1200" cap="none" spc="0" normalizeH="0" baseline="0" noProof="0" dirty="0">
                <a:ln>
                  <a:noFill/>
                </a:ln>
                <a:solidFill>
                  <a:srgbClr val="000000">
                    <a:lumMod val="85000"/>
                    <a:lumOff val="15000"/>
                  </a:srgbClr>
                </a:solidFill>
                <a:effectLst/>
                <a:uLnTx/>
                <a:uFillTx/>
                <a:latin typeface="Gill Sans MT" panose="020B0502020104020203"/>
                <a:ea typeface="+mn-ea"/>
                <a:cs typeface="+mn-cs"/>
              </a:rPr>
              <a:t>Cohen &amp; Simelane(1993):</a:t>
            </a:r>
            <a:endParaRPr lang="en-ZA" sz="1000" b="1" dirty="0">
              <a:solidFill>
                <a:srgbClr val="000000"/>
              </a:solidFill>
              <a:latin typeface="Arial"/>
              <a:cs typeface="Arial"/>
            </a:endParaRPr>
          </a:p>
          <a:p>
            <a:pPr marL="171450" indent="-171450" defTabSz="914400">
              <a:lnSpc>
                <a:spcPct val="150000"/>
              </a:lnSpc>
              <a:spcBef>
                <a:spcPts val="1000"/>
              </a:spcBef>
              <a:buClr>
                <a:schemeClr val="tx1"/>
              </a:buClr>
              <a:buFont typeface="Arial" panose="020B0604020202020204" pitchFamily="34" charset="0"/>
              <a:buChar char="•"/>
              <a:defRPr/>
            </a:pPr>
            <a:r>
              <a:rPr lang="en-ZA" sz="1400" dirty="0">
                <a:solidFill>
                  <a:schemeClr val="tx1"/>
                </a:solidFill>
                <a:cs typeface="Arial"/>
              </a:rPr>
              <a:t>Tied to apartheid-era racial exclusion  </a:t>
            </a:r>
            <a:endParaRPr lang="en-ZA" sz="1400" dirty="0">
              <a:solidFill>
                <a:schemeClr val="tx1"/>
              </a:solidFill>
            </a:endParaRPr>
          </a:p>
        </p:txBody>
      </p:sp>
      <p:sp>
        <p:nvSpPr>
          <p:cNvPr id="11" name="TextBox 10">
            <a:extLst>
              <a:ext uri="{FF2B5EF4-FFF2-40B4-BE49-F238E27FC236}">
                <a16:creationId xmlns:a16="http://schemas.microsoft.com/office/drawing/2014/main" id="{EE3E4C42-28A5-3676-D266-6249C21D0064}"/>
              </a:ext>
            </a:extLst>
          </p:cNvPr>
          <p:cNvSpPr txBox="1"/>
          <p:nvPr/>
        </p:nvSpPr>
        <p:spPr>
          <a:xfrm>
            <a:off x="1427229" y="4453879"/>
            <a:ext cx="3534237" cy="1620957"/>
          </a:xfrm>
          <a:prstGeom prst="rect">
            <a:avLst/>
          </a:prstGeom>
          <a:noFill/>
        </p:spPr>
        <p:txBody>
          <a:bodyPr wrap="square">
            <a:spAutoFit/>
          </a:bodyPr>
          <a:lstStyle/>
          <a:p>
            <a:pPr marL="0" indent="0">
              <a:lnSpc>
                <a:spcPct val="150000"/>
              </a:lnSpc>
              <a:buNone/>
            </a:pPr>
            <a:r>
              <a:rPr lang="en-ZA" sz="1200" b="1" dirty="0"/>
              <a:t>Rogan &amp; Skinner (2018):</a:t>
            </a:r>
          </a:p>
          <a:p>
            <a:pPr marL="171450" indent="-171450">
              <a:lnSpc>
                <a:spcPct val="150000"/>
              </a:lnSpc>
              <a:buFont typeface="Arial" panose="020B0604020202020204" pitchFamily="34" charset="0"/>
              <a:buChar char="•"/>
            </a:pPr>
            <a:r>
              <a:rPr lang="en-ZA" sz="1400" dirty="0">
                <a:solidFill>
                  <a:srgbClr val="000000"/>
                </a:solidFill>
                <a:cs typeface="Arial"/>
              </a:rPr>
              <a:t>Current challenges-  Inequality, competition labour, High unemployment and limited access to capital </a:t>
            </a:r>
            <a:endParaRPr lang="en-ZA" sz="1400" dirty="0"/>
          </a:p>
          <a:p>
            <a:pPr marL="171450" marR="0" lvl="0" indent="-171450" algn="l" defTabSz="914400" rtl="0" eaLnBrk="1" fontAlgn="auto" latinLnBrk="0" hangingPunct="1">
              <a:lnSpc>
                <a:spcPct val="100000"/>
              </a:lnSpc>
              <a:spcBef>
                <a:spcPts val="1000"/>
              </a:spcBef>
              <a:spcAft>
                <a:spcPts val="0"/>
              </a:spcAft>
              <a:buClr>
                <a:srgbClr val="9BAFB5"/>
              </a:buClr>
              <a:buSzTx/>
              <a:buFont typeface="Arial" panose="020B0604020202020204" pitchFamily="34" charset="0"/>
              <a:buChar char="•"/>
              <a:tabLst/>
              <a:defRPr/>
            </a:pPr>
            <a:endParaRPr kumimoji="0" lang="en-ZA" sz="1000" b="1" i="0" u="none" strike="noStrike" kern="1200" cap="none" spc="0" normalizeH="0" baseline="0" noProof="0" dirty="0">
              <a:ln>
                <a:noFill/>
              </a:ln>
              <a:solidFill>
                <a:srgbClr val="000000"/>
              </a:solidFill>
              <a:effectLst/>
              <a:uLnTx/>
              <a:uFillTx/>
              <a:latin typeface="Arial"/>
              <a:ea typeface="+mn-ea"/>
              <a:cs typeface="Arial"/>
            </a:endParaRPr>
          </a:p>
        </p:txBody>
      </p:sp>
      <p:sp>
        <p:nvSpPr>
          <p:cNvPr id="12" name="TextBox 11">
            <a:extLst>
              <a:ext uri="{FF2B5EF4-FFF2-40B4-BE49-F238E27FC236}">
                <a16:creationId xmlns:a16="http://schemas.microsoft.com/office/drawing/2014/main" id="{A348D57A-03DB-54AA-45F7-B4E5350DCD7D}"/>
              </a:ext>
            </a:extLst>
          </p:cNvPr>
          <p:cNvSpPr txBox="1"/>
          <p:nvPr/>
        </p:nvSpPr>
        <p:spPr>
          <a:xfrm>
            <a:off x="4727548" y="3014257"/>
            <a:ext cx="2856293" cy="974626"/>
          </a:xfrm>
          <a:prstGeom prst="rect">
            <a:avLst/>
          </a:prstGeom>
          <a:noFill/>
        </p:spPr>
        <p:txBody>
          <a:bodyPr wrap="square">
            <a:spAutoFit/>
          </a:bodyPr>
          <a:lstStyle/>
          <a:p>
            <a:pPr marL="0" indent="0">
              <a:lnSpc>
                <a:spcPct val="150000"/>
              </a:lnSpc>
              <a:buNone/>
            </a:pPr>
            <a:r>
              <a:rPr lang="en-GB" sz="1200" dirty="0"/>
              <a:t> </a:t>
            </a:r>
            <a:r>
              <a:rPr lang="en-GB" sz="1200" b="1" dirty="0"/>
              <a:t>Heintz &amp; Posel (2008):</a:t>
            </a:r>
          </a:p>
          <a:p>
            <a:pPr marL="171450" indent="-171450">
              <a:lnSpc>
                <a:spcPct val="150000"/>
              </a:lnSpc>
              <a:buFont typeface="Arial" panose="020B0604020202020204" pitchFamily="34" charset="0"/>
              <a:buChar char="•"/>
            </a:pPr>
            <a:r>
              <a:rPr lang="en-GB" sz="1400" dirty="0"/>
              <a:t>Education attainment and income</a:t>
            </a:r>
          </a:p>
          <a:p>
            <a:pPr marL="171450" marR="0" lvl="0" indent="-171450" algn="l" defTabSz="914400" rtl="0" eaLnBrk="1" fontAlgn="auto" latinLnBrk="0" hangingPunct="1">
              <a:lnSpc>
                <a:spcPct val="100000"/>
              </a:lnSpc>
              <a:spcBef>
                <a:spcPts val="1000"/>
              </a:spcBef>
              <a:spcAft>
                <a:spcPts val="0"/>
              </a:spcAft>
              <a:buClr>
                <a:srgbClr val="9BAFB5"/>
              </a:buClr>
              <a:buSzTx/>
              <a:buFont typeface="Arial" panose="020B0604020202020204" pitchFamily="34" charset="0"/>
              <a:buChar char="•"/>
              <a:tabLst/>
              <a:defRPr/>
            </a:pPr>
            <a:endParaRPr kumimoji="0" lang="en-ZA" sz="1000" b="1" i="0" u="none" strike="noStrike" kern="1200" cap="none" spc="0" normalizeH="0" baseline="0" noProof="0" dirty="0">
              <a:ln>
                <a:noFill/>
              </a:ln>
              <a:solidFill>
                <a:srgbClr val="000000"/>
              </a:solidFill>
              <a:effectLst/>
              <a:uLnTx/>
              <a:uFillTx/>
              <a:latin typeface="Arial"/>
              <a:ea typeface="+mn-ea"/>
              <a:cs typeface="Arial"/>
            </a:endParaRPr>
          </a:p>
        </p:txBody>
      </p:sp>
      <p:sp>
        <p:nvSpPr>
          <p:cNvPr id="13" name="TextBox 12">
            <a:extLst>
              <a:ext uri="{FF2B5EF4-FFF2-40B4-BE49-F238E27FC236}">
                <a16:creationId xmlns:a16="http://schemas.microsoft.com/office/drawing/2014/main" id="{AD9B01B5-3070-0133-3E87-6A04EB02883E}"/>
              </a:ext>
            </a:extLst>
          </p:cNvPr>
          <p:cNvSpPr txBox="1"/>
          <p:nvPr/>
        </p:nvSpPr>
        <p:spPr>
          <a:xfrm>
            <a:off x="1488428" y="3166589"/>
            <a:ext cx="2841747" cy="1205458"/>
          </a:xfrm>
          <a:prstGeom prst="rect">
            <a:avLst/>
          </a:prstGeom>
          <a:noFill/>
        </p:spPr>
        <p:txBody>
          <a:bodyPr wrap="square">
            <a:spAutoFit/>
          </a:bodyPr>
          <a:lstStyle/>
          <a:p>
            <a:pPr marL="0" indent="0">
              <a:lnSpc>
                <a:spcPct val="150000"/>
              </a:lnSpc>
              <a:buNone/>
            </a:pPr>
            <a:r>
              <a:rPr lang="en-GB" sz="1200" b="1" dirty="0"/>
              <a:t>Saunders ( 2005):</a:t>
            </a:r>
          </a:p>
          <a:p>
            <a:pPr marL="171450" indent="-171450">
              <a:lnSpc>
                <a:spcPct val="150000"/>
              </a:lnSpc>
              <a:buFont typeface="Arial" panose="020B0604020202020204" pitchFamily="34" charset="0"/>
              <a:buChar char="•"/>
            </a:pPr>
            <a:r>
              <a:rPr lang="en-GB" sz="1200" dirty="0"/>
              <a:t>Geographic and Demographic Traits: Disparities based on race and migration </a:t>
            </a:r>
          </a:p>
          <a:p>
            <a:pPr marL="171450" marR="0" lvl="0" indent="-171450" algn="l" defTabSz="914400" rtl="0" eaLnBrk="1" fontAlgn="auto" latinLnBrk="0" hangingPunct="1">
              <a:lnSpc>
                <a:spcPct val="100000"/>
              </a:lnSpc>
              <a:spcBef>
                <a:spcPts val="1000"/>
              </a:spcBef>
              <a:spcAft>
                <a:spcPts val="0"/>
              </a:spcAft>
              <a:buClr>
                <a:srgbClr val="9BAFB5"/>
              </a:buClr>
              <a:buSzTx/>
              <a:buFont typeface="Arial" panose="020B0604020202020204" pitchFamily="34" charset="0"/>
              <a:buChar char="•"/>
              <a:tabLst/>
              <a:defRPr/>
            </a:pPr>
            <a:endParaRPr kumimoji="0" lang="en-ZA" sz="1000" b="1" i="0" u="none" strike="noStrike" kern="1200" cap="none" spc="0" normalizeH="0" baseline="0" noProof="0" dirty="0">
              <a:ln>
                <a:noFill/>
              </a:ln>
              <a:solidFill>
                <a:srgbClr val="000000"/>
              </a:solidFill>
              <a:effectLst/>
              <a:uLnTx/>
              <a:uFillTx/>
              <a:latin typeface="Arial"/>
              <a:ea typeface="+mn-ea"/>
              <a:cs typeface="Arial"/>
            </a:endParaRPr>
          </a:p>
        </p:txBody>
      </p:sp>
      <p:sp>
        <p:nvSpPr>
          <p:cNvPr id="15" name="TextBox 14">
            <a:extLst>
              <a:ext uri="{FF2B5EF4-FFF2-40B4-BE49-F238E27FC236}">
                <a16:creationId xmlns:a16="http://schemas.microsoft.com/office/drawing/2014/main" id="{FD89941D-0ED5-064B-9E21-7D00E31765ED}"/>
              </a:ext>
            </a:extLst>
          </p:cNvPr>
          <p:cNvSpPr txBox="1"/>
          <p:nvPr/>
        </p:nvSpPr>
        <p:spPr>
          <a:xfrm>
            <a:off x="4727548" y="1965661"/>
            <a:ext cx="3348753" cy="977640"/>
          </a:xfrm>
          <a:prstGeom prst="rect">
            <a:avLst/>
          </a:prstGeom>
          <a:noFill/>
        </p:spPr>
        <p:txBody>
          <a:bodyPr wrap="square">
            <a:spAutoFit/>
          </a:bodyPr>
          <a:lstStyle/>
          <a:p>
            <a:pPr marL="0" indent="0">
              <a:lnSpc>
                <a:spcPct val="150000"/>
              </a:lnSpc>
              <a:buNone/>
            </a:pPr>
            <a:r>
              <a:rPr lang="en-GB" sz="1200" b="1" dirty="0">
                <a:solidFill>
                  <a:srgbClr val="000000"/>
                </a:solidFill>
                <a:latin typeface="Arial"/>
                <a:cs typeface="Arial"/>
              </a:rPr>
              <a:t>ILO( 1993) :</a:t>
            </a:r>
            <a:endParaRPr lang="en-GB" sz="1200" b="1" dirty="0"/>
          </a:p>
          <a:p>
            <a:pPr marL="171450" indent="-171450">
              <a:lnSpc>
                <a:spcPct val="150000"/>
              </a:lnSpc>
              <a:buFont typeface="Arial" panose="020B0604020202020204" pitchFamily="34" charset="0"/>
              <a:buChar char="•"/>
            </a:pPr>
            <a:r>
              <a:rPr lang="en-GB" sz="1400" dirty="0">
                <a:solidFill>
                  <a:srgbClr val="000000"/>
                </a:solidFill>
                <a:cs typeface="Arial"/>
              </a:rPr>
              <a:t>linkage between formal and informal economy could boost economic growth</a:t>
            </a:r>
          </a:p>
        </p:txBody>
      </p:sp>
      <p:sp>
        <p:nvSpPr>
          <p:cNvPr id="16" name="TextBox 15">
            <a:extLst>
              <a:ext uri="{FF2B5EF4-FFF2-40B4-BE49-F238E27FC236}">
                <a16:creationId xmlns:a16="http://schemas.microsoft.com/office/drawing/2014/main" id="{88635D54-E1E4-1975-0C57-733D4ABE26A8}"/>
              </a:ext>
            </a:extLst>
          </p:cNvPr>
          <p:cNvSpPr txBox="1"/>
          <p:nvPr/>
        </p:nvSpPr>
        <p:spPr>
          <a:xfrm>
            <a:off x="8174087" y="1918436"/>
            <a:ext cx="3162780" cy="1300805"/>
          </a:xfrm>
          <a:prstGeom prst="rect">
            <a:avLst/>
          </a:prstGeom>
          <a:noFill/>
        </p:spPr>
        <p:txBody>
          <a:bodyPr wrap="square">
            <a:spAutoFit/>
          </a:bodyPr>
          <a:lstStyle/>
          <a:p>
            <a:pPr marL="0" indent="0">
              <a:lnSpc>
                <a:spcPct val="150000"/>
              </a:lnSpc>
              <a:buNone/>
            </a:pPr>
            <a:r>
              <a:rPr lang="en-GB" sz="1200" b="1" dirty="0">
                <a:solidFill>
                  <a:srgbClr val="000000"/>
                </a:solidFill>
                <a:latin typeface="Arial"/>
                <a:cs typeface="Arial"/>
              </a:rPr>
              <a:t>Patricia de Lille (2015):</a:t>
            </a:r>
            <a:endParaRPr lang="en-GB" sz="1200" b="1" dirty="0"/>
          </a:p>
          <a:p>
            <a:pPr marL="171450" indent="-171450">
              <a:lnSpc>
                <a:spcPct val="150000"/>
              </a:lnSpc>
              <a:buFont typeface="Arial" panose="020B0604020202020204" pitchFamily="34" charset="0"/>
              <a:buChar char="•"/>
            </a:pPr>
            <a:r>
              <a:rPr lang="en-GB" sz="1400" dirty="0">
                <a:solidFill>
                  <a:srgbClr val="000000"/>
                </a:solidFill>
                <a:cs typeface="Times New Roman" panose="02020603050405020304" pitchFamily="18" charset="0"/>
              </a:rPr>
              <a:t>Mayor of Cape Town states that refugee has value in the informal sector to boost economic growth</a:t>
            </a:r>
            <a:endParaRPr lang="en-GB" sz="1400" dirty="0">
              <a:cs typeface="Times New Roman" panose="02020603050405020304" pitchFamily="18" charset="0"/>
            </a:endParaRPr>
          </a:p>
        </p:txBody>
      </p:sp>
      <p:sp>
        <p:nvSpPr>
          <p:cNvPr id="17" name="TextBox 16">
            <a:extLst>
              <a:ext uri="{FF2B5EF4-FFF2-40B4-BE49-F238E27FC236}">
                <a16:creationId xmlns:a16="http://schemas.microsoft.com/office/drawing/2014/main" id="{CDD1FBAF-8974-EE83-5937-8CF5416EADE2}"/>
              </a:ext>
            </a:extLst>
          </p:cNvPr>
          <p:cNvSpPr txBox="1"/>
          <p:nvPr/>
        </p:nvSpPr>
        <p:spPr>
          <a:xfrm>
            <a:off x="8215132" y="3828143"/>
            <a:ext cx="2985044" cy="1300805"/>
          </a:xfrm>
          <a:prstGeom prst="rect">
            <a:avLst/>
          </a:prstGeom>
          <a:noFill/>
        </p:spPr>
        <p:txBody>
          <a:bodyPr wrap="square">
            <a:spAutoFit/>
          </a:bodyPr>
          <a:lstStyle/>
          <a:p>
            <a:pPr marL="0" indent="0">
              <a:lnSpc>
                <a:spcPct val="150000"/>
              </a:lnSpc>
              <a:buNone/>
            </a:pPr>
            <a:r>
              <a:rPr lang="en-GB" sz="1200" b="1" dirty="0">
                <a:solidFill>
                  <a:srgbClr val="000000"/>
                </a:solidFill>
                <a:latin typeface="Arial"/>
                <a:cs typeface="Arial"/>
              </a:rPr>
              <a:t>UNDP (2017):</a:t>
            </a:r>
            <a:endParaRPr lang="en-GB" sz="1200" b="1" dirty="0"/>
          </a:p>
          <a:p>
            <a:pPr marL="171450" indent="-171450">
              <a:lnSpc>
                <a:spcPct val="150000"/>
              </a:lnSpc>
              <a:buFont typeface="Arial" panose="020B0604020202020204" pitchFamily="34" charset="0"/>
              <a:buChar char="•"/>
            </a:pPr>
            <a:r>
              <a:rPr lang="en-GB" sz="1400" dirty="0">
                <a:solidFill>
                  <a:srgbClr val="000000"/>
                </a:solidFill>
                <a:cs typeface="Arial"/>
              </a:rPr>
              <a:t>campaign to help informal know as Sustainable livelihood approach (SLA)</a:t>
            </a:r>
            <a:endParaRPr lang="en-GB" sz="1400" dirty="0"/>
          </a:p>
        </p:txBody>
      </p:sp>
    </p:spTree>
    <p:extLst>
      <p:ext uri="{BB962C8B-B14F-4D97-AF65-F5344CB8AC3E}">
        <p14:creationId xmlns:p14="http://schemas.microsoft.com/office/powerpoint/2010/main" val="2219632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1F5AE30-38F8-47CE-BFE2-D28C2055B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63132" y="784758"/>
            <a:ext cx="9761550" cy="730775"/>
          </a:xfrm>
          <a:solidFill>
            <a:schemeClr val="bg1"/>
          </a:solidFill>
          <a:ln>
            <a:solidFill>
              <a:schemeClr val="tx1">
                <a:lumMod val="85000"/>
                <a:lumOff val="15000"/>
              </a:schemeClr>
            </a:solidFill>
          </a:ln>
        </p:spPr>
        <p:txBody>
          <a:bodyPr>
            <a:normAutofit fontScale="90000"/>
          </a:bodyPr>
          <a:lstStyle/>
          <a:p>
            <a:r>
              <a:rPr lang="en-ZA" dirty="0"/>
              <a:t>Methodology</a:t>
            </a:r>
          </a:p>
        </p:txBody>
      </p:sp>
      <p:sp>
        <p:nvSpPr>
          <p:cNvPr id="14" name="Rectangle 13">
            <a:extLst>
              <a:ext uri="{FF2B5EF4-FFF2-40B4-BE49-F238E27FC236}">
                <a16:creationId xmlns:a16="http://schemas.microsoft.com/office/drawing/2014/main" id="{FF313313-D44C-44FB-B8A1-3BFE4E866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5095" y="2743573"/>
            <a:ext cx="10089588" cy="2996827"/>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6" name="Rectangle 15">
            <a:extLst>
              <a:ext uri="{FF2B5EF4-FFF2-40B4-BE49-F238E27FC236}">
                <a16:creationId xmlns:a16="http://schemas.microsoft.com/office/drawing/2014/main" id="{1830A308-50ED-445A-A7D2-B7703879EF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1565" y="2906962"/>
            <a:ext cx="9756648" cy="2670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1600200" y="6236208"/>
            <a:ext cx="5901189" cy="320040"/>
          </a:xfrm>
        </p:spPr>
        <p:txBody>
          <a:bodyPr>
            <a:normAutofit/>
          </a:bodyPr>
          <a:lstStyle/>
          <a:p>
            <a:pPr>
              <a:lnSpc>
                <a:spcPct val="90000"/>
              </a:lnSpc>
              <a:spcAft>
                <a:spcPts val="600"/>
              </a:spcAft>
            </a:pPr>
            <a:endParaRPr lang="en-ZA" sz="500"/>
          </a:p>
          <a:p>
            <a:pPr>
              <a:lnSpc>
                <a:spcPct val="90000"/>
              </a:lnSpc>
              <a:spcAft>
                <a:spcPts val="600"/>
              </a:spcAft>
            </a:pPr>
            <a:r>
              <a:rPr lang="en-ZA" sz="500"/>
              <a:t>Department of Mathematics &amp; Physics</a:t>
            </a:r>
          </a:p>
        </p:txBody>
      </p:sp>
      <p:sp>
        <p:nvSpPr>
          <p:cNvPr id="4" name="Date Placeholder 3"/>
          <p:cNvSpPr>
            <a:spLocks noGrp="1"/>
          </p:cNvSpPr>
          <p:nvPr>
            <p:ph type="dt" sz="half" idx="10"/>
          </p:nvPr>
        </p:nvSpPr>
        <p:spPr>
          <a:xfrm>
            <a:off x="7821429" y="6238816"/>
            <a:ext cx="2753746" cy="323968"/>
          </a:xfrm>
        </p:spPr>
        <p:txBody>
          <a:bodyPr>
            <a:normAutofit/>
          </a:bodyPr>
          <a:lstStyle/>
          <a:p>
            <a:pPr>
              <a:spcAft>
                <a:spcPts val="600"/>
              </a:spcAft>
            </a:pPr>
            <a:fld id="{2AD394A7-1302-450B-95EB-FFC37E100C94}" type="datetime3">
              <a:rPr lang="en-ZA" smtClean="0"/>
              <a:pPr>
                <a:spcAft>
                  <a:spcPts val="600"/>
                </a:spcAft>
              </a:pPr>
              <a:t>5 March 2026</a:t>
            </a:fld>
            <a:endParaRPr lang="en-ZA"/>
          </a:p>
        </p:txBody>
      </p:sp>
      <p:sp>
        <p:nvSpPr>
          <p:cNvPr id="5" name="Slide Number Placeholder 4"/>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FCDC5D13-0321-4383-81EA-F2073319DF27}" type="slidenum">
              <a:rPr lang="en-ZA" smtClean="0"/>
              <a:pPr>
                <a:lnSpc>
                  <a:spcPct val="90000"/>
                </a:lnSpc>
                <a:spcAft>
                  <a:spcPts val="600"/>
                </a:spcAft>
              </a:pPr>
              <a:t>12</a:t>
            </a:fld>
            <a:endParaRPr lang="en-ZA"/>
          </a:p>
        </p:txBody>
      </p:sp>
      <p:graphicFrame>
        <p:nvGraphicFramePr>
          <p:cNvPr id="8" name="Content Placeholder 2">
            <a:extLst>
              <a:ext uri="{FF2B5EF4-FFF2-40B4-BE49-F238E27FC236}">
                <a16:creationId xmlns:a16="http://schemas.microsoft.com/office/drawing/2014/main" id="{34D30744-C627-3A39-4966-C67315666B41}"/>
              </a:ext>
            </a:extLst>
          </p:cNvPr>
          <p:cNvGraphicFramePr>
            <a:graphicFrameLocks noGrp="1"/>
          </p:cNvGraphicFramePr>
          <p:nvPr>
            <p:ph idx="1"/>
            <p:extLst>
              <p:ext uri="{D42A27DB-BD31-4B8C-83A1-F6EECF244321}">
                <p14:modId xmlns:p14="http://schemas.microsoft.com/office/powerpoint/2010/main" val="235625059"/>
              </p:ext>
            </p:extLst>
          </p:nvPr>
        </p:nvGraphicFramePr>
        <p:xfrm>
          <a:off x="1035095" y="2011341"/>
          <a:ext cx="10057364" cy="38621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02026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54503-CAB9-C893-AA97-C99F11341B64}"/>
              </a:ext>
            </a:extLst>
          </p:cNvPr>
          <p:cNvSpPr>
            <a:spLocks noGrp="1"/>
          </p:cNvSpPr>
          <p:nvPr>
            <p:ph type="title"/>
          </p:nvPr>
        </p:nvSpPr>
        <p:spPr>
          <a:xfrm>
            <a:off x="1600199" y="459783"/>
            <a:ext cx="9279468" cy="666214"/>
          </a:xfrm>
        </p:spPr>
        <p:txBody>
          <a:bodyPr>
            <a:normAutofit fontScale="90000"/>
          </a:bodyPr>
          <a:lstStyle/>
          <a:p>
            <a:r>
              <a:rPr lang="en-ZA" dirty="0"/>
              <a:t>DATA DISTRIBUTIONS</a:t>
            </a:r>
          </a:p>
        </p:txBody>
      </p:sp>
      <p:graphicFrame>
        <p:nvGraphicFramePr>
          <p:cNvPr id="7" name="Content Placeholder 6">
            <a:extLst>
              <a:ext uri="{FF2B5EF4-FFF2-40B4-BE49-F238E27FC236}">
                <a16:creationId xmlns:a16="http://schemas.microsoft.com/office/drawing/2014/main" id="{D59EA851-2D06-6560-1F43-CAD902C80ED7}"/>
              </a:ext>
            </a:extLst>
          </p:cNvPr>
          <p:cNvGraphicFramePr>
            <a:graphicFrameLocks noGrp="1"/>
          </p:cNvGraphicFramePr>
          <p:nvPr>
            <p:ph idx="1"/>
            <p:extLst>
              <p:ext uri="{D42A27DB-BD31-4B8C-83A1-F6EECF244321}">
                <p14:modId xmlns:p14="http://schemas.microsoft.com/office/powerpoint/2010/main" val="3792872473"/>
              </p:ext>
            </p:extLst>
          </p:nvPr>
        </p:nvGraphicFramePr>
        <p:xfrm>
          <a:off x="1600199" y="1884154"/>
          <a:ext cx="9158724" cy="4272817"/>
        </p:xfrm>
        <a:graphic>
          <a:graphicData uri="http://schemas.openxmlformats.org/drawingml/2006/table">
            <a:tbl>
              <a:tblPr/>
              <a:tblGrid>
                <a:gridCol w="2047175">
                  <a:extLst>
                    <a:ext uri="{9D8B030D-6E8A-4147-A177-3AD203B41FA5}">
                      <a16:colId xmlns:a16="http://schemas.microsoft.com/office/drawing/2014/main" val="305937462"/>
                    </a:ext>
                  </a:extLst>
                </a:gridCol>
                <a:gridCol w="2047175">
                  <a:extLst>
                    <a:ext uri="{9D8B030D-6E8A-4147-A177-3AD203B41FA5}">
                      <a16:colId xmlns:a16="http://schemas.microsoft.com/office/drawing/2014/main" val="1142593124"/>
                    </a:ext>
                  </a:extLst>
                </a:gridCol>
                <a:gridCol w="2027051">
                  <a:extLst>
                    <a:ext uri="{9D8B030D-6E8A-4147-A177-3AD203B41FA5}">
                      <a16:colId xmlns:a16="http://schemas.microsoft.com/office/drawing/2014/main" val="2151892689"/>
                    </a:ext>
                  </a:extLst>
                </a:gridCol>
                <a:gridCol w="1371839">
                  <a:extLst>
                    <a:ext uri="{9D8B030D-6E8A-4147-A177-3AD203B41FA5}">
                      <a16:colId xmlns:a16="http://schemas.microsoft.com/office/drawing/2014/main" val="2655909460"/>
                    </a:ext>
                  </a:extLst>
                </a:gridCol>
                <a:gridCol w="1665484">
                  <a:extLst>
                    <a:ext uri="{9D8B030D-6E8A-4147-A177-3AD203B41FA5}">
                      <a16:colId xmlns:a16="http://schemas.microsoft.com/office/drawing/2014/main" val="3813148036"/>
                    </a:ext>
                  </a:extLst>
                </a:gridCol>
              </a:tblGrid>
              <a:tr h="284348">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Variable Type</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Name</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Description</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Type</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Measurement</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542710230"/>
                  </a:ext>
                </a:extLst>
              </a:tr>
              <a:tr h="886847">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Dependent Variable</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b="1" dirty="0">
                          <a:effectLst/>
                          <a:latin typeface="Times New Roman" panose="02020603050405020304" pitchFamily="18" charset="0"/>
                          <a:ea typeface="Calibri" panose="020F0502020204030204" pitchFamily="34" charset="0"/>
                          <a:cs typeface="Arial" panose="020B0604020202020204" pitchFamily="34" charset="0"/>
                        </a:rPr>
                        <a:t>Y</a:t>
                      </a:r>
                      <a:r>
                        <a:rPr lang="en-US" sz="1400" dirty="0">
                          <a:effectLst/>
                          <a:latin typeface="Times New Roman" panose="02020603050405020304" pitchFamily="18" charset="0"/>
                          <a:ea typeface="Calibri" panose="020F0502020204030204" pitchFamily="34" charset="0"/>
                          <a:cs typeface="Arial" panose="020B0604020202020204" pitchFamily="34" charset="0"/>
                        </a:rPr>
                        <a:t>:Employment Status</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0= Employed</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1=Unemployed</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a:effectLst/>
                          <a:latin typeface="Times New Roman" panose="02020603050405020304" pitchFamily="18" charset="0"/>
                          <a:ea typeface="Calibri" panose="020F0502020204030204" pitchFamily="34" charset="0"/>
                          <a:cs typeface="Arial" panose="020B0604020202020204" pitchFamily="34" charset="0"/>
                        </a:rPr>
                        <a:t>Coded Binary</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Nominal</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269494441"/>
                  </a:ext>
                </a:extLst>
              </a:tr>
              <a:tr h="260652">
                <a:tc rowSpan="7">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Independent Variable</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a:effectLst/>
                          <a:latin typeface="Times New Roman" panose="02020603050405020304" pitchFamily="18" charset="0"/>
                          <a:ea typeface="Calibri" panose="020F0502020204030204" pitchFamily="34" charset="0"/>
                          <a:cs typeface="Arial" panose="020B0604020202020204" pitchFamily="34" charset="0"/>
                        </a:rPr>
                        <a:t> </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a:effectLst/>
                          <a:latin typeface="Times New Roman" panose="02020603050405020304" pitchFamily="18" charset="0"/>
                          <a:ea typeface="Calibri" panose="020F0502020204030204" pitchFamily="34" charset="0"/>
                          <a:cs typeface="Arial" panose="020B0604020202020204" pitchFamily="34" charset="0"/>
                        </a:rPr>
                        <a:t> </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a:effectLst/>
                          <a:latin typeface="Times New Roman" panose="02020603050405020304" pitchFamily="18" charset="0"/>
                          <a:ea typeface="Calibri" panose="020F0502020204030204" pitchFamily="34" charset="0"/>
                          <a:cs typeface="Arial" panose="020B0604020202020204" pitchFamily="34" charset="0"/>
                        </a:rPr>
                        <a:t> </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a:effectLst/>
                          <a:latin typeface="Times New Roman" panose="02020603050405020304" pitchFamily="18" charset="0"/>
                          <a:ea typeface="Calibri" panose="020F0502020204030204" pitchFamily="34" charset="0"/>
                          <a:cs typeface="Arial" panose="020B0604020202020204" pitchFamily="34" charset="0"/>
                        </a:rPr>
                        <a:t> </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989072027"/>
                  </a:ext>
                </a:extLst>
              </a:tr>
              <a:tr h="433373">
                <a:tc vMerge="1">
                  <a:txBody>
                    <a:bodyPr/>
                    <a:lstStyle/>
                    <a:p>
                      <a:endParaRPr lang="en-ZA"/>
                    </a:p>
                  </a:txBody>
                  <a:tcPr/>
                </a:tc>
                <a:tc>
                  <a:txBody>
                    <a:bodyPr/>
                    <a:lstStyle/>
                    <a:p>
                      <a:pPr marL="28575" algn="ctr">
                        <a:lnSpc>
                          <a:spcPct val="150000"/>
                        </a:lnSpc>
                        <a:spcBef>
                          <a:spcPts val="1200"/>
                        </a:spcBef>
                        <a:spcAft>
                          <a:spcPts val="1000"/>
                        </a:spcAft>
                        <a:tabLst>
                          <a:tab pos="1943100" algn="l"/>
                        </a:tabLst>
                      </a:pPr>
                      <a:r>
                        <a:rPr lang="en-US" sz="1400" b="1" dirty="0">
                          <a:effectLst/>
                          <a:latin typeface="Times New Roman" panose="02020603050405020304" pitchFamily="18" charset="0"/>
                          <a:ea typeface="Calibri" panose="020F0502020204030204" pitchFamily="34" charset="0"/>
                          <a:cs typeface="Arial" panose="020B0604020202020204" pitchFamily="34" charset="0"/>
                        </a:rPr>
                        <a:t>X1</a:t>
                      </a:r>
                      <a:r>
                        <a:rPr lang="en-US" sz="1400" dirty="0">
                          <a:effectLst/>
                          <a:latin typeface="Times New Roman" panose="02020603050405020304" pitchFamily="18" charset="0"/>
                          <a:ea typeface="Calibri" panose="020F0502020204030204" pitchFamily="34" charset="0"/>
                          <a:cs typeface="Arial" panose="020B0604020202020204" pitchFamily="34" charset="0"/>
                        </a:rPr>
                        <a:t>:Informal employment</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percentage of labour force</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dirty="0">
                          <a:effectLst/>
                          <a:latin typeface="Times New Roman" panose="02020603050405020304" pitchFamily="18" charset="0"/>
                          <a:ea typeface="Calibri" panose="020F0502020204030204" pitchFamily="34" charset="0"/>
                          <a:cs typeface="Arial" panose="020B0604020202020204" pitchFamily="34" charset="0"/>
                        </a:rPr>
                        <a:t>Continuous</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Ordinal</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416046835"/>
                  </a:ext>
                </a:extLst>
              </a:tr>
              <a:tr h="715076">
                <a:tc vMerge="1">
                  <a:txBody>
                    <a:bodyPr/>
                    <a:lstStyle/>
                    <a:p>
                      <a:endParaRPr lang="en-ZA"/>
                    </a:p>
                  </a:txBody>
                  <a:tcPr/>
                </a:tc>
                <a:tc>
                  <a:txBody>
                    <a:bodyPr/>
                    <a:lstStyle/>
                    <a:p>
                      <a:pPr marL="28575" algn="ctr">
                        <a:lnSpc>
                          <a:spcPct val="150000"/>
                        </a:lnSpc>
                        <a:spcBef>
                          <a:spcPts val="1200"/>
                        </a:spcBef>
                        <a:spcAft>
                          <a:spcPts val="1000"/>
                        </a:spcAft>
                        <a:tabLst>
                          <a:tab pos="1943100" algn="l"/>
                        </a:tabLst>
                      </a:pPr>
                      <a:r>
                        <a:rPr lang="en-US" sz="1400" b="1"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X2</a:t>
                      </a: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Age group</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15-24,25-34,35-44, etc.</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Category</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Ordinal</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591638136"/>
                  </a:ext>
                </a:extLst>
              </a:tr>
              <a:tr h="655158">
                <a:tc vMerge="1">
                  <a:txBody>
                    <a:bodyPr/>
                    <a:lstStyle/>
                    <a:p>
                      <a:endParaRPr lang="en-ZA"/>
                    </a:p>
                  </a:txBody>
                  <a:tcPr/>
                </a:tc>
                <a:tc>
                  <a:txBody>
                    <a:bodyPr/>
                    <a:lstStyle/>
                    <a:p>
                      <a:pPr marL="28575" algn="ctr">
                        <a:lnSpc>
                          <a:spcPct val="150000"/>
                        </a:lnSpc>
                        <a:spcBef>
                          <a:spcPts val="1200"/>
                        </a:spcBef>
                        <a:spcAft>
                          <a:spcPts val="1000"/>
                        </a:spcAft>
                        <a:tabLst>
                          <a:tab pos="1943100" algn="l"/>
                        </a:tabLst>
                      </a:pPr>
                      <a:r>
                        <a:rPr lang="en-US" sz="1400" b="1" dirty="0">
                          <a:effectLst/>
                          <a:latin typeface="Times New Roman" panose="02020603050405020304" pitchFamily="18" charset="0"/>
                          <a:ea typeface="Calibri" panose="020F0502020204030204" pitchFamily="34" charset="0"/>
                          <a:cs typeface="Arial" panose="020B0604020202020204" pitchFamily="34" charset="0"/>
                        </a:rPr>
                        <a:t>X3</a:t>
                      </a:r>
                      <a:r>
                        <a:rPr lang="en-US" sz="1400" dirty="0">
                          <a:effectLst/>
                          <a:latin typeface="Times New Roman" panose="02020603050405020304" pitchFamily="18" charset="0"/>
                          <a:ea typeface="Calibri" panose="020F0502020204030204" pitchFamily="34" charset="0"/>
                          <a:cs typeface="Arial" panose="020B0604020202020204" pitchFamily="34" charset="0"/>
                        </a:rPr>
                        <a:t>:Education Status</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28575" algn="ctr">
                        <a:lnSpc>
                          <a:spcPct val="150000"/>
                        </a:lnSpc>
                        <a:spcBef>
                          <a:spcPts val="1200"/>
                        </a:spcBef>
                        <a:spcAft>
                          <a:spcPts val="1000"/>
                        </a:spcAft>
                        <a:tabLst>
                          <a:tab pos="1943100" algn="l"/>
                        </a:tabLst>
                      </a:pPr>
                      <a:r>
                        <a:rPr lang="en-US" sz="14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Primary, Secondary, Tertiary, etc.</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a:effectLst/>
                          <a:latin typeface="Times New Roman" panose="02020603050405020304" pitchFamily="18" charset="0"/>
                          <a:ea typeface="Calibri" panose="020F0502020204030204" pitchFamily="34" charset="0"/>
                          <a:cs typeface="Arial" panose="020B0604020202020204" pitchFamily="34" charset="0"/>
                        </a:rPr>
                        <a:t>Category</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28575" algn="ctr">
                        <a:lnSpc>
                          <a:spcPct val="150000"/>
                        </a:lnSpc>
                        <a:spcBef>
                          <a:spcPts val="1200"/>
                        </a:spcBef>
                        <a:spcAft>
                          <a:spcPts val="1000"/>
                        </a:spcAft>
                        <a:tabLst>
                          <a:tab pos="1943100" algn="l"/>
                        </a:tabLst>
                      </a:pPr>
                      <a:r>
                        <a:rPr lang="en-US" sz="14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Ordinal</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56405323"/>
                  </a:ext>
                </a:extLst>
              </a:tr>
              <a:tr h="221159">
                <a:tc vMerge="1">
                  <a:txBody>
                    <a:bodyPr/>
                    <a:lstStyle/>
                    <a:p>
                      <a:endParaRPr lang="en-ZA"/>
                    </a:p>
                  </a:txBody>
                  <a:tcPr/>
                </a:tc>
                <a:tc>
                  <a:txBody>
                    <a:bodyPr/>
                    <a:lstStyle/>
                    <a:p>
                      <a:pPr marL="28575" algn="ctr">
                        <a:lnSpc>
                          <a:spcPct val="150000"/>
                        </a:lnSpc>
                        <a:spcBef>
                          <a:spcPts val="1200"/>
                        </a:spcBef>
                        <a:spcAft>
                          <a:spcPts val="1000"/>
                        </a:spcAft>
                        <a:tabLst>
                          <a:tab pos="1943100" algn="l"/>
                        </a:tabLst>
                      </a:pPr>
                      <a:r>
                        <a:rPr lang="en-US" sz="1400" b="1"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X4</a:t>
                      </a: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:Gender</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Male , Female</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Category</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Nominal</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254193474"/>
                  </a:ext>
                </a:extLst>
              </a:tr>
              <a:tr h="229058">
                <a:tc vMerge="1">
                  <a:txBody>
                    <a:bodyPr/>
                    <a:lstStyle/>
                    <a:p>
                      <a:endParaRPr lang="en-ZA"/>
                    </a:p>
                  </a:txBody>
                  <a:tcPr/>
                </a:tc>
                <a:tc>
                  <a:txBody>
                    <a:bodyPr/>
                    <a:lstStyle/>
                    <a:p>
                      <a:pPr marL="28575" algn="ctr">
                        <a:lnSpc>
                          <a:spcPct val="150000"/>
                        </a:lnSpc>
                        <a:spcBef>
                          <a:spcPts val="1200"/>
                        </a:spcBef>
                        <a:spcAft>
                          <a:spcPts val="1000"/>
                        </a:spcAft>
                        <a:tabLst>
                          <a:tab pos="1943100" algn="l"/>
                        </a:tabLst>
                      </a:pPr>
                      <a:r>
                        <a:rPr lang="en-US" sz="1400" b="1" dirty="0">
                          <a:effectLst/>
                          <a:latin typeface="Times New Roman" panose="02020603050405020304" pitchFamily="18" charset="0"/>
                          <a:ea typeface="Calibri" panose="020F0502020204030204" pitchFamily="34" charset="0"/>
                          <a:cs typeface="Arial" panose="020B0604020202020204" pitchFamily="34" charset="0"/>
                        </a:rPr>
                        <a:t>X5</a:t>
                      </a:r>
                      <a:r>
                        <a:rPr lang="en-US" sz="1400" dirty="0">
                          <a:effectLst/>
                          <a:latin typeface="Times New Roman" panose="02020603050405020304" pitchFamily="18" charset="0"/>
                          <a:ea typeface="Calibri" panose="020F0502020204030204" pitchFamily="34" charset="0"/>
                          <a:cs typeface="Arial" panose="020B0604020202020204" pitchFamily="34" charset="0"/>
                        </a:rPr>
                        <a:t>:Geography</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Urban, Rural</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dirty="0">
                          <a:effectLst/>
                          <a:latin typeface="Times New Roman" panose="02020603050405020304" pitchFamily="18" charset="0"/>
                          <a:ea typeface="Calibri" panose="020F0502020204030204" pitchFamily="34" charset="0"/>
                          <a:cs typeface="Arial" panose="020B0604020202020204" pitchFamily="34" charset="0"/>
                        </a:rPr>
                        <a:t>Category</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28575" algn="ctr">
                        <a:lnSpc>
                          <a:spcPct val="150000"/>
                        </a:lnSpc>
                        <a:spcBef>
                          <a:spcPts val="1200"/>
                        </a:spcBef>
                        <a:spcAft>
                          <a:spcPts val="1000"/>
                        </a:spcAft>
                        <a:tabLst>
                          <a:tab pos="1943100" algn="l"/>
                        </a:tabLst>
                      </a:pPr>
                      <a:r>
                        <a:rPr lang="en-US" sz="14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Nominal</a:t>
                      </a:r>
                      <a:endParaRPr lang="en-ZA" sz="140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018401466"/>
                  </a:ext>
                </a:extLst>
              </a:tr>
              <a:tr h="284348">
                <a:tc vMerge="1">
                  <a:txBody>
                    <a:bodyPr/>
                    <a:lstStyle/>
                    <a:p>
                      <a:endParaRPr lang="en-ZA"/>
                    </a:p>
                  </a:txBody>
                  <a:tcPr/>
                </a:tc>
                <a:tc>
                  <a:txBody>
                    <a:bodyPr/>
                    <a:lstStyle/>
                    <a:p>
                      <a:pPr marL="28575" algn="ctr">
                        <a:lnSpc>
                          <a:spcPct val="150000"/>
                        </a:lnSpc>
                        <a:spcBef>
                          <a:spcPts val="1200"/>
                        </a:spcBef>
                        <a:spcAft>
                          <a:spcPts val="1000"/>
                        </a:spcAft>
                        <a:tabLst>
                          <a:tab pos="1943100" algn="l"/>
                        </a:tabLst>
                      </a:pPr>
                      <a:r>
                        <a:rPr lang="en-US" sz="1400" b="1"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X6</a:t>
                      </a: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:Province</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Western Cape</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Category</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28575" algn="ctr">
                        <a:lnSpc>
                          <a:spcPct val="150000"/>
                        </a:lnSpc>
                        <a:spcBef>
                          <a:spcPts val="1200"/>
                        </a:spcBef>
                        <a:spcAft>
                          <a:spcPts val="1000"/>
                        </a:spcAft>
                        <a:tabLst>
                          <a:tab pos="1943100" algn="l"/>
                        </a:tabLst>
                      </a:pPr>
                      <a:r>
                        <a:rPr lang="en-US" sz="14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Nominal</a:t>
                      </a:r>
                      <a:endParaRPr lang="en-ZA" sz="1400" dirty="0">
                        <a:effectLst/>
                        <a:latin typeface="Times New Roman" panose="02020603050405020304" pitchFamily="18" charset="0"/>
                        <a:ea typeface="Calibri" panose="020F0502020204030204" pitchFamily="34" charset="0"/>
                        <a:cs typeface="Arial" panose="020B0604020202020204" pitchFamily="34" charset="0"/>
                      </a:endParaRPr>
                    </a:p>
                  </a:txBody>
                  <a:tcPr marL="56405" marR="56405"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431537803"/>
                  </a:ext>
                </a:extLst>
              </a:tr>
            </a:tbl>
          </a:graphicData>
        </a:graphic>
      </p:graphicFrame>
      <p:sp>
        <p:nvSpPr>
          <p:cNvPr id="4" name="Date Placeholder 3">
            <a:extLst>
              <a:ext uri="{FF2B5EF4-FFF2-40B4-BE49-F238E27FC236}">
                <a16:creationId xmlns:a16="http://schemas.microsoft.com/office/drawing/2014/main" id="{6F3EB8BE-B10D-059F-B957-F575F07C57C2}"/>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CB26A296-D4EA-630D-75C1-1BCEA2F4703E}"/>
              </a:ext>
            </a:extLst>
          </p:cNvPr>
          <p:cNvSpPr>
            <a:spLocks noGrp="1"/>
          </p:cNvSpPr>
          <p:nvPr>
            <p:ph type="ftr" sz="quarter" idx="11"/>
          </p:nvPr>
        </p:nvSpPr>
        <p:spPr>
          <a:xfrm>
            <a:off x="1600199" y="6247015"/>
            <a:ext cx="5901189" cy="320040"/>
          </a:xfrm>
        </p:spPr>
        <p:txBody>
          <a:bodyPr/>
          <a:lstStyle/>
          <a:p>
            <a:endParaRPr lang="en-ZA" dirty="0"/>
          </a:p>
          <a:p>
            <a:r>
              <a:rPr lang="en-ZA" dirty="0"/>
              <a:t>Department of Mathematics &amp; Physics</a:t>
            </a:r>
          </a:p>
        </p:txBody>
      </p:sp>
      <p:sp>
        <p:nvSpPr>
          <p:cNvPr id="6" name="Slide Number Placeholder 5">
            <a:extLst>
              <a:ext uri="{FF2B5EF4-FFF2-40B4-BE49-F238E27FC236}">
                <a16:creationId xmlns:a16="http://schemas.microsoft.com/office/drawing/2014/main" id="{69FE704E-07AC-EDBC-EA7A-CD6F030B487E}"/>
              </a:ext>
            </a:extLst>
          </p:cNvPr>
          <p:cNvSpPr>
            <a:spLocks noGrp="1"/>
          </p:cNvSpPr>
          <p:nvPr>
            <p:ph type="sldNum" sz="quarter" idx="12"/>
          </p:nvPr>
        </p:nvSpPr>
        <p:spPr/>
        <p:txBody>
          <a:bodyPr/>
          <a:lstStyle/>
          <a:p>
            <a:fld id="{FCDC5D13-0321-4383-81EA-F2073319DF27}" type="slidenum">
              <a:rPr lang="en-ZA" smtClean="0"/>
              <a:pPr/>
              <a:t>13</a:t>
            </a:fld>
            <a:endParaRPr lang="en-ZA" dirty="0"/>
          </a:p>
        </p:txBody>
      </p:sp>
      <p:sp>
        <p:nvSpPr>
          <p:cNvPr id="8" name="Content Placeholder 9">
            <a:extLst>
              <a:ext uri="{FF2B5EF4-FFF2-40B4-BE49-F238E27FC236}">
                <a16:creationId xmlns:a16="http://schemas.microsoft.com/office/drawing/2014/main" id="{4D9A5F95-943F-F87F-2481-7F85B7CC51A1}"/>
              </a:ext>
            </a:extLst>
          </p:cNvPr>
          <p:cNvSpPr txBox="1">
            <a:spLocks/>
          </p:cNvSpPr>
          <p:nvPr/>
        </p:nvSpPr>
        <p:spPr>
          <a:xfrm>
            <a:off x="1502867" y="1416114"/>
            <a:ext cx="5817913" cy="40526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Font typeface="Arial" panose="020B0604020202020204" pitchFamily="34" charset="0"/>
              <a:buNone/>
            </a:pPr>
            <a:r>
              <a:rPr lang="en-GB" b="1" dirty="0"/>
              <a:t>Table 1.1  </a:t>
            </a:r>
            <a:r>
              <a:rPr lang="en-GB" dirty="0"/>
              <a:t>Display summary of binary logistic regression:</a:t>
            </a:r>
          </a:p>
          <a:p>
            <a:endParaRPr lang="en-ZA" dirty="0"/>
          </a:p>
        </p:txBody>
      </p:sp>
    </p:spTree>
    <p:extLst>
      <p:ext uri="{BB962C8B-B14F-4D97-AF65-F5344CB8AC3E}">
        <p14:creationId xmlns:p14="http://schemas.microsoft.com/office/powerpoint/2010/main" val="3095985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21FE-63DF-D2DC-CA0B-B26F47662C80}"/>
              </a:ext>
            </a:extLst>
          </p:cNvPr>
          <p:cNvSpPr>
            <a:spLocks noGrp="1"/>
          </p:cNvSpPr>
          <p:nvPr>
            <p:ph type="title"/>
          </p:nvPr>
        </p:nvSpPr>
        <p:spPr>
          <a:xfrm>
            <a:off x="1503848" y="669578"/>
            <a:ext cx="8879503" cy="643128"/>
          </a:xfrm>
        </p:spPr>
        <p:txBody>
          <a:bodyPr>
            <a:normAutofit/>
          </a:bodyPr>
          <a:lstStyle/>
          <a:p>
            <a:r>
              <a:rPr lang="en-US" sz="1800" b="1" dirty="0">
                <a:effectLst/>
                <a:latin typeface="Times New Roman" panose="02020603050405020304" pitchFamily="18" charset="0"/>
                <a:ea typeface="Calibri" panose="020F0502020204030204" pitchFamily="34" charset="0"/>
              </a:rPr>
              <a:t>Binary Logistic Regression Model</a:t>
            </a:r>
            <a:endParaRPr lang="en-ZA"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773DBE-9631-B258-70DC-FF1237FC18BE}"/>
                  </a:ext>
                </a:extLst>
              </p:cNvPr>
              <p:cNvSpPr>
                <a:spLocks noGrp="1"/>
              </p:cNvSpPr>
              <p:nvPr>
                <p:ph idx="1"/>
              </p:nvPr>
            </p:nvSpPr>
            <p:spPr>
              <a:xfrm>
                <a:off x="1503849" y="1723001"/>
                <a:ext cx="9370710" cy="4360403"/>
              </a:xfrm>
            </p:spPr>
            <p:txBody>
              <a:bodyPr>
                <a:normAutofit/>
              </a:bodyPr>
              <a:lstStyle/>
              <a:p>
                <a:pPr marL="0" indent="0">
                  <a:buNone/>
                </a:pPr>
                <a:r>
                  <a:rPr lang="en-US" sz="1400" dirty="0"/>
                  <a:t>Binary regression estimates a relationship between one or more explanatory variables and a single output binary variable where:</a:t>
                </a:r>
              </a:p>
              <a:p>
                <a:pPr marL="0" indent="0">
                  <a:buNone/>
                </a:pPr>
                <a:r>
                  <a:rPr lang="en-US" sz="1400" dirty="0">
                    <a:effectLst/>
                    <a:latin typeface="Times New Roman" panose="02020603050405020304" pitchFamily="18" charset="0"/>
                    <a:ea typeface="Calibri" panose="020F0502020204030204" pitchFamily="34" charset="0"/>
                  </a:rPr>
                  <a:t>Logit(P ) = </a:t>
                </a:r>
                <a:r>
                  <a:rPr lang="en-US" sz="1400" b="1" dirty="0">
                    <a:effectLst/>
                    <a:latin typeface="Times New Roman" panose="02020603050405020304" pitchFamily="18" charset="0"/>
                    <a:ea typeface="Calibri" panose="020F0502020204030204" pitchFamily="34" charset="0"/>
                  </a:rPr>
                  <a:t>In</a:t>
                </a:r>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d>
                      <m:dPr>
                        <m:ctrlPr>
                          <a:rPr lang="en-ZA" sz="1400" b="1" i="1">
                            <a:effectLst/>
                            <a:latin typeface="Cambria Math" panose="02040503050406030204" pitchFamily="18" charset="0"/>
                            <a:ea typeface="MS Mincho" panose="02020609040205080304" pitchFamily="49" charset="-128"/>
                          </a:rPr>
                        </m:ctrlPr>
                      </m:dPr>
                      <m:e>
                        <m:f>
                          <m:fPr>
                            <m:ctrlPr>
                              <a:rPr lang="en-ZA" sz="1400" b="1" i="1">
                                <a:effectLst/>
                                <a:latin typeface="Cambria Math" panose="02040503050406030204" pitchFamily="18" charset="0"/>
                                <a:ea typeface="Calibri" panose="020F0502020204030204" pitchFamily="34" charset="0"/>
                              </a:rPr>
                            </m:ctrlPr>
                          </m:fPr>
                          <m:num>
                            <m:r>
                              <a:rPr lang="en-US" sz="1400" b="1" i="1">
                                <a:effectLst/>
                                <a:latin typeface="Cambria Math" panose="02040503050406030204" pitchFamily="18" charset="0"/>
                                <a:ea typeface="Calibri" panose="020F0502020204030204" pitchFamily="34" charset="0"/>
                              </a:rPr>
                              <m:t>𝑷</m:t>
                            </m:r>
                          </m:num>
                          <m:den>
                            <m:r>
                              <a:rPr lang="en-US" sz="1400" b="1" i="1">
                                <a:effectLst/>
                                <a:latin typeface="Cambria Math" panose="02040503050406030204" pitchFamily="18" charset="0"/>
                                <a:ea typeface="Calibri" panose="020F0502020204030204" pitchFamily="34" charset="0"/>
                              </a:rPr>
                              <m:t>𝟏</m:t>
                            </m:r>
                            <m:r>
                              <a:rPr lang="en-US" sz="1400" b="1" i="1">
                                <a:effectLst/>
                                <a:latin typeface="Cambria Math" panose="02040503050406030204" pitchFamily="18" charset="0"/>
                                <a:ea typeface="Calibri" panose="020F0502020204030204" pitchFamily="34" charset="0"/>
                              </a:rPr>
                              <m:t>−</m:t>
                            </m:r>
                            <m:r>
                              <a:rPr lang="en-US" sz="1400" b="1" i="1">
                                <a:effectLst/>
                                <a:latin typeface="Cambria Math" panose="02040503050406030204" pitchFamily="18" charset="0"/>
                                <a:ea typeface="Calibri" panose="020F0502020204030204" pitchFamily="34" charset="0"/>
                              </a:rPr>
                              <m:t>𝑷</m:t>
                            </m:r>
                          </m:den>
                        </m:f>
                      </m:e>
                    </m:d>
                  </m:oMath>
                </a14:m>
                <a:r>
                  <a:rPr lang="en-US" sz="1400" b="1" dirty="0">
                    <a:effectLst/>
                    <a:latin typeface="Times New Roman" panose="02020603050405020304" pitchFamily="18" charset="0"/>
                    <a:ea typeface="MS Mincho" panose="02020609040205080304" pitchFamily="49" charset="-128"/>
                  </a:rPr>
                  <a:t> = </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𝜷</m:t>
                        </m:r>
                      </m:e>
                      <m:sub>
                        <m:r>
                          <a:rPr lang="en-US" sz="1400" b="1" i="1">
                            <a:effectLst/>
                            <a:latin typeface="Cambria Math" panose="02040503050406030204" pitchFamily="18" charset="0"/>
                            <a:ea typeface="MS Mincho" panose="02020609040205080304" pitchFamily="49" charset="-128"/>
                          </a:rPr>
                          <m:t>𝟎</m:t>
                        </m:r>
                      </m:sub>
                    </m:sSub>
                  </m:oMath>
                </a14:m>
                <a:r>
                  <a:rPr lang="en-US" sz="1400" b="1" dirty="0">
                    <a:effectLst/>
                    <a:latin typeface="Times New Roman" panose="02020603050405020304" pitchFamily="18" charset="0"/>
                    <a:ea typeface="MS Mincho" panose="02020609040205080304" pitchFamily="49" charset="-128"/>
                  </a:rPr>
                  <a:t>+</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𝜷</m:t>
                        </m:r>
                      </m:e>
                      <m:sub>
                        <m:r>
                          <a:rPr lang="en-US" sz="1400" b="1" i="1">
                            <a:effectLst/>
                            <a:latin typeface="Cambria Math" panose="02040503050406030204" pitchFamily="18" charset="0"/>
                            <a:ea typeface="MS Mincho" panose="02020609040205080304" pitchFamily="49" charset="-128"/>
                          </a:rPr>
                          <m:t>𝟏</m:t>
                        </m:r>
                      </m:sub>
                    </m:sSub>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𝑿</m:t>
                        </m:r>
                      </m:e>
                      <m:sub>
                        <m:r>
                          <a:rPr lang="en-US" sz="1400" b="1" i="1">
                            <a:effectLst/>
                            <a:latin typeface="Cambria Math" panose="02040503050406030204" pitchFamily="18" charset="0"/>
                            <a:ea typeface="MS Mincho" panose="02020609040205080304" pitchFamily="49" charset="-128"/>
                          </a:rPr>
                          <m:t>𝟏</m:t>
                        </m:r>
                      </m:sub>
                    </m:sSub>
                  </m:oMath>
                </a14:m>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𝜷</m:t>
                        </m:r>
                      </m:e>
                      <m:sub>
                        <m:r>
                          <a:rPr lang="en-US" sz="1400" b="1" i="1">
                            <a:effectLst/>
                            <a:latin typeface="Cambria Math" panose="02040503050406030204" pitchFamily="18" charset="0"/>
                            <a:ea typeface="MS Mincho" panose="02020609040205080304" pitchFamily="49" charset="-128"/>
                          </a:rPr>
                          <m:t>𝟐</m:t>
                        </m:r>
                      </m:sub>
                    </m:sSub>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𝑿</m:t>
                        </m:r>
                      </m:e>
                      <m:sub>
                        <m:r>
                          <a:rPr lang="en-US" sz="1400" b="1" i="1">
                            <a:effectLst/>
                            <a:latin typeface="Cambria Math" panose="02040503050406030204" pitchFamily="18" charset="0"/>
                            <a:ea typeface="MS Mincho" panose="02020609040205080304" pitchFamily="49" charset="-128"/>
                          </a:rPr>
                          <m:t>𝟐</m:t>
                        </m:r>
                      </m:sub>
                    </m:sSub>
                  </m:oMath>
                </a14:m>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𝜷</m:t>
                        </m:r>
                      </m:e>
                      <m:sub>
                        <m:r>
                          <a:rPr lang="en-US" sz="1400" b="1" i="1">
                            <a:effectLst/>
                            <a:latin typeface="Cambria Math" panose="02040503050406030204" pitchFamily="18" charset="0"/>
                            <a:ea typeface="MS Mincho" panose="02020609040205080304" pitchFamily="49" charset="-128"/>
                          </a:rPr>
                          <m:t>𝟑</m:t>
                        </m:r>
                      </m:sub>
                    </m:sSub>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𝑿</m:t>
                        </m:r>
                      </m:e>
                      <m:sub>
                        <m:r>
                          <a:rPr lang="en-US" sz="1400" b="1" i="1">
                            <a:effectLst/>
                            <a:latin typeface="Cambria Math" panose="02040503050406030204" pitchFamily="18" charset="0"/>
                            <a:ea typeface="MS Mincho" panose="02020609040205080304" pitchFamily="49" charset="-128"/>
                          </a:rPr>
                          <m:t>𝟑</m:t>
                        </m:r>
                      </m:sub>
                    </m:sSub>
                  </m:oMath>
                </a14:m>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𝜷</m:t>
                        </m:r>
                      </m:e>
                      <m:sub>
                        <m:r>
                          <a:rPr lang="en-US" sz="1400" b="1" i="1">
                            <a:effectLst/>
                            <a:latin typeface="Cambria Math" panose="02040503050406030204" pitchFamily="18" charset="0"/>
                            <a:ea typeface="MS Mincho" panose="02020609040205080304" pitchFamily="49" charset="-128"/>
                          </a:rPr>
                          <m:t>𝟒</m:t>
                        </m:r>
                      </m:sub>
                    </m:sSub>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𝑿</m:t>
                        </m:r>
                      </m:e>
                      <m:sub>
                        <m:r>
                          <a:rPr lang="en-US" sz="1400" b="1" i="1">
                            <a:effectLst/>
                            <a:latin typeface="Cambria Math" panose="02040503050406030204" pitchFamily="18" charset="0"/>
                            <a:ea typeface="MS Mincho" panose="02020609040205080304" pitchFamily="49" charset="-128"/>
                          </a:rPr>
                          <m:t>𝟒</m:t>
                        </m:r>
                      </m:sub>
                    </m:sSub>
                  </m:oMath>
                </a14:m>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𝜷</m:t>
                        </m:r>
                      </m:e>
                      <m:sub>
                        <m:r>
                          <a:rPr lang="en-US" sz="1400" b="1" i="1">
                            <a:effectLst/>
                            <a:latin typeface="Cambria Math" panose="02040503050406030204" pitchFamily="18" charset="0"/>
                            <a:ea typeface="MS Mincho" panose="02020609040205080304" pitchFamily="49" charset="-128"/>
                          </a:rPr>
                          <m:t>𝟓</m:t>
                        </m:r>
                      </m:sub>
                    </m:sSub>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𝑿</m:t>
                        </m:r>
                      </m:e>
                      <m:sub>
                        <m:r>
                          <a:rPr lang="en-US" sz="1400" b="1" i="1">
                            <a:effectLst/>
                            <a:latin typeface="Cambria Math" panose="02040503050406030204" pitchFamily="18" charset="0"/>
                            <a:ea typeface="MS Mincho" panose="02020609040205080304" pitchFamily="49" charset="-128"/>
                          </a:rPr>
                          <m:t>𝟓</m:t>
                        </m:r>
                      </m:sub>
                    </m:sSub>
                  </m:oMath>
                </a14:m>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𝜷</m:t>
                        </m:r>
                      </m:e>
                      <m:sub>
                        <m:r>
                          <a:rPr lang="en-US" sz="1400" b="1" i="1">
                            <a:effectLst/>
                            <a:latin typeface="Cambria Math" panose="02040503050406030204" pitchFamily="18" charset="0"/>
                            <a:ea typeface="MS Mincho" panose="02020609040205080304" pitchFamily="49" charset="-128"/>
                          </a:rPr>
                          <m:t>𝟔</m:t>
                        </m:r>
                      </m:sub>
                    </m:sSub>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𝑿</m:t>
                        </m:r>
                      </m:e>
                      <m:sub>
                        <m:r>
                          <a:rPr lang="en-US" sz="1400" b="1" i="1">
                            <a:effectLst/>
                            <a:latin typeface="Cambria Math" panose="02040503050406030204" pitchFamily="18" charset="0"/>
                            <a:ea typeface="MS Mincho" panose="02020609040205080304" pitchFamily="49" charset="-128"/>
                          </a:rPr>
                          <m:t>𝟔</m:t>
                        </m:r>
                      </m:sub>
                    </m:sSub>
                  </m:oMath>
                </a14:m>
                <a:endParaRPr lang="en-ZA" sz="1400" b="1" dirty="0">
                  <a:effectLst/>
                  <a:latin typeface="Times New Roman" panose="02020603050405020304" pitchFamily="18" charset="0"/>
                  <a:ea typeface="Calibri" panose="020F0502020204030204" pitchFamily="34" charset="0"/>
                </a:endParaRPr>
              </a:p>
              <a:p>
                <a:r>
                  <a:rPr lang="en-US" sz="1400" b="1" dirty="0">
                    <a:solidFill>
                      <a:schemeClr val="tx1"/>
                    </a:solidFill>
                    <a:effectLst/>
                    <a:latin typeface="Times New Roman" panose="02020603050405020304" pitchFamily="18" charset="0"/>
                    <a:ea typeface="Calibri" panose="020F0502020204030204" pitchFamily="34" charset="0"/>
                  </a:rPr>
                  <a:t>P</a:t>
                </a:r>
                <a:r>
                  <a:rPr lang="en-US" sz="1400" dirty="0">
                    <a:solidFill>
                      <a:schemeClr val="tx1"/>
                    </a:solidFill>
                    <a:effectLst/>
                    <a:latin typeface="Times New Roman" panose="02020603050405020304" pitchFamily="18" charset="0"/>
                    <a:ea typeface="Calibri" panose="020F0502020204030204" pitchFamily="34" charset="0"/>
                  </a:rPr>
                  <a:t> is the overall probability </a:t>
                </a:r>
              </a:p>
              <a:p>
                <a14:m>
                  <m:oMath xmlns:m="http://schemas.openxmlformats.org/officeDocument/2006/math">
                    <m:sSub>
                      <m:sSubPr>
                        <m:ctrlPr>
                          <a:rPr lang="en-ZA" sz="1400" b="1" i="1" smtClean="0">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𝑿</m:t>
                        </m:r>
                      </m:e>
                      <m:sub>
                        <m:r>
                          <a:rPr lang="en-US" sz="1400" b="1" i="1">
                            <a:effectLst/>
                            <a:latin typeface="Cambria Math" panose="02040503050406030204" pitchFamily="18" charset="0"/>
                            <a:ea typeface="MS Mincho" panose="02020609040205080304" pitchFamily="49" charset="-128"/>
                          </a:rPr>
                          <m:t>𝟏</m:t>
                        </m:r>
                      </m:sub>
                    </m:sSub>
                  </m:oMath>
                </a14:m>
                <a:r>
                  <a:rPr lang="en-US" sz="1400" b="1" dirty="0">
                    <a:effectLst/>
                    <a:latin typeface="Times New Roman" panose="02020603050405020304" pitchFamily="18" charset="0"/>
                    <a:ea typeface="MS Mincho" panose="02020609040205080304" pitchFamily="49" charset="-128"/>
                  </a:rPr>
                  <a:t>,</a:t>
                </a:r>
                <a14:m>
                  <m:oMath xmlns:m="http://schemas.openxmlformats.org/officeDocument/2006/math">
                    <m:r>
                      <a:rPr lang="en-US" sz="1400" b="1" i="1">
                        <a:effectLst/>
                        <a:latin typeface="Cambria Math" panose="02040503050406030204" pitchFamily="18" charset="0"/>
                        <a:ea typeface="MS Mincho" panose="02020609040205080304" pitchFamily="49" charset="-128"/>
                      </a:rPr>
                      <m:t> </m:t>
                    </m:r>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𝑿</m:t>
                        </m:r>
                      </m:e>
                      <m:sub>
                        <m:r>
                          <a:rPr lang="en-US" sz="1400" b="1" i="1">
                            <a:effectLst/>
                            <a:latin typeface="Cambria Math" panose="02040503050406030204" pitchFamily="18" charset="0"/>
                            <a:ea typeface="MS Mincho" panose="02020609040205080304" pitchFamily="49" charset="-128"/>
                          </a:rPr>
                          <m:t>𝟐</m:t>
                        </m:r>
                      </m:sub>
                    </m:sSub>
                  </m:oMath>
                </a14:m>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r>
                      <a:rPr lang="en-US" sz="1400" b="1" i="1">
                        <a:effectLst/>
                        <a:latin typeface="Cambria Math" panose="02040503050406030204" pitchFamily="18" charset="0"/>
                        <a:ea typeface="MS Mincho" panose="02020609040205080304" pitchFamily="49" charset="-128"/>
                      </a:rPr>
                      <m:t> </m:t>
                    </m:r>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𝑿</m:t>
                        </m:r>
                      </m:e>
                      <m:sub>
                        <m:r>
                          <a:rPr lang="en-US" sz="1400" b="1" i="1">
                            <a:effectLst/>
                            <a:latin typeface="Cambria Math" panose="02040503050406030204" pitchFamily="18" charset="0"/>
                            <a:ea typeface="MS Mincho" panose="02020609040205080304" pitchFamily="49" charset="-128"/>
                          </a:rPr>
                          <m:t>𝟑</m:t>
                        </m:r>
                      </m:sub>
                    </m:sSub>
                  </m:oMath>
                </a14:m>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r>
                      <a:rPr lang="en-US" sz="1400" b="1" i="1">
                        <a:effectLst/>
                        <a:latin typeface="Cambria Math" panose="02040503050406030204" pitchFamily="18" charset="0"/>
                        <a:ea typeface="MS Mincho" panose="02020609040205080304" pitchFamily="49" charset="-128"/>
                      </a:rPr>
                      <m:t> </m:t>
                    </m:r>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𝑿</m:t>
                        </m:r>
                      </m:e>
                      <m:sub>
                        <m:r>
                          <a:rPr lang="en-US" sz="1400" b="1" i="1">
                            <a:effectLst/>
                            <a:latin typeface="Cambria Math" panose="02040503050406030204" pitchFamily="18" charset="0"/>
                            <a:ea typeface="MS Mincho" panose="02020609040205080304" pitchFamily="49" charset="-128"/>
                          </a:rPr>
                          <m:t>𝟒</m:t>
                        </m:r>
                      </m:sub>
                    </m:sSub>
                  </m:oMath>
                </a14:m>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r>
                      <a:rPr lang="en-US" sz="1400" b="1" i="1">
                        <a:effectLst/>
                        <a:latin typeface="Cambria Math" panose="02040503050406030204" pitchFamily="18" charset="0"/>
                        <a:ea typeface="MS Mincho" panose="02020609040205080304" pitchFamily="49" charset="-128"/>
                      </a:rPr>
                      <m:t> </m:t>
                    </m:r>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𝑿</m:t>
                        </m:r>
                      </m:e>
                      <m:sub>
                        <m:r>
                          <a:rPr lang="en-US" sz="1400" b="1" i="1">
                            <a:effectLst/>
                            <a:latin typeface="Cambria Math" panose="02040503050406030204" pitchFamily="18" charset="0"/>
                            <a:ea typeface="MS Mincho" panose="02020609040205080304" pitchFamily="49" charset="-128"/>
                          </a:rPr>
                          <m:t>𝟓</m:t>
                        </m:r>
                      </m:sub>
                    </m:sSub>
                  </m:oMath>
                </a14:m>
                <a:r>
                  <a:rPr lang="en-US" sz="1400" b="1" dirty="0">
                    <a:effectLst/>
                    <a:latin typeface="Times New Roman" panose="02020603050405020304" pitchFamily="18" charset="0"/>
                    <a:ea typeface="MS Mincho" panose="02020609040205080304" pitchFamily="49" charset="-128"/>
                  </a:rPr>
                  <a:t>,</a:t>
                </a:r>
                <a14:m>
                  <m:oMath xmlns:m="http://schemas.openxmlformats.org/officeDocument/2006/math">
                    <m:r>
                      <a:rPr lang="en-US" sz="1400" b="1" i="1">
                        <a:effectLst/>
                        <a:latin typeface="Cambria Math" panose="02040503050406030204" pitchFamily="18" charset="0"/>
                        <a:ea typeface="MS Mincho" panose="02020609040205080304" pitchFamily="49" charset="-128"/>
                      </a:rPr>
                      <m:t> </m:t>
                    </m:r>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rPr>
                          <m:t>𝑿</m:t>
                        </m:r>
                      </m:e>
                      <m:sub>
                        <m:r>
                          <a:rPr lang="en-US" sz="1400" b="1" i="1">
                            <a:effectLst/>
                            <a:latin typeface="Cambria Math" panose="02040503050406030204" pitchFamily="18" charset="0"/>
                            <a:ea typeface="MS Mincho" panose="02020609040205080304" pitchFamily="49" charset="-128"/>
                          </a:rPr>
                          <m:t>𝟔</m:t>
                        </m:r>
                      </m:sub>
                    </m:sSub>
                  </m:oMath>
                </a14:m>
                <a:r>
                  <a:rPr lang="en-US" sz="1400" b="1" dirty="0">
                    <a:effectLst/>
                    <a:latin typeface="Times New Roman" panose="02020603050405020304" pitchFamily="18" charset="0"/>
                    <a:ea typeface="MS Mincho" panose="02020609040205080304" pitchFamily="49" charset="-128"/>
                  </a:rPr>
                  <a:t> </a:t>
                </a:r>
                <a:r>
                  <a:rPr lang="en-US" sz="1400" dirty="0">
                    <a:effectLst/>
                    <a:latin typeface="Times New Roman" panose="02020603050405020304" pitchFamily="18" charset="0"/>
                    <a:ea typeface="Calibri" panose="020F0502020204030204" pitchFamily="34" charset="0"/>
                  </a:rPr>
                  <a:t>are the independent variables derived from QLFS Quarterly 4: 2023</a:t>
                </a:r>
                <a:endParaRPr lang="en-ZA" sz="1400" dirty="0">
                  <a:effectLst/>
                  <a:latin typeface="Times New Roman" panose="02020603050405020304" pitchFamily="18" charset="0"/>
                  <a:ea typeface="Calibri" panose="020F0502020204030204" pitchFamily="34" charset="0"/>
                </a:endParaRPr>
              </a:p>
              <a:p>
                <a14:m>
                  <m:oMath xmlns:m="http://schemas.openxmlformats.org/officeDocument/2006/math">
                    <m:sSub>
                      <m:sSubPr>
                        <m:ctrlPr>
                          <a:rPr lang="en-ZA" sz="1400" b="1" i="1" smtClean="0">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𝜷</m:t>
                        </m:r>
                      </m:e>
                      <m:sub>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𝟎</m:t>
                        </m:r>
                      </m:sub>
                    </m:sSub>
                  </m:oMath>
                </a14:m>
                <a:r>
                  <a:rPr lang="en-US" sz="1400" b="1" dirty="0">
                    <a:effectLst/>
                    <a:latin typeface="Times New Roman" panose="02020603050405020304" pitchFamily="18" charset="0"/>
                    <a:ea typeface="Calibri" panose="020F0502020204030204" pitchFamily="34" charset="0"/>
                  </a:rPr>
                  <a:t> </a:t>
                </a:r>
                <a:r>
                  <a:rPr lang="en-US" sz="1400" dirty="0">
                    <a:effectLst/>
                    <a:latin typeface="Times New Roman" panose="02020603050405020304" pitchFamily="18" charset="0"/>
                    <a:ea typeface="Calibri" panose="020F0502020204030204" pitchFamily="34" charset="0"/>
                  </a:rPr>
                  <a:t>is the intercept, and </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𝜷</m:t>
                        </m:r>
                      </m:e>
                      <m:sub>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𝟎</m:t>
                        </m:r>
                      </m:sub>
                    </m:sSub>
                  </m:oMath>
                </a14:m>
                <a:r>
                  <a:rPr lang="en-US" sz="1400" b="1" dirty="0">
                    <a:effectLst/>
                    <a:latin typeface="Times New Roman" panose="02020603050405020304" pitchFamily="18" charset="0"/>
                    <a:ea typeface="MS Mincho" panose="02020609040205080304" pitchFamily="49" charset="-128"/>
                  </a:rPr>
                  <a:t>+</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𝜷</m:t>
                        </m:r>
                      </m:e>
                      <m:sub>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𝟏</m:t>
                        </m:r>
                      </m:sub>
                    </m:sSub>
                  </m:oMath>
                </a14:m>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𝜷</m:t>
                        </m:r>
                      </m:e>
                      <m:sub>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𝟐</m:t>
                        </m:r>
                      </m:sub>
                    </m:sSub>
                  </m:oMath>
                </a14:m>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𝜷</m:t>
                        </m:r>
                      </m:e>
                      <m:sub>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𝟑</m:t>
                        </m:r>
                      </m:sub>
                    </m:sSub>
                  </m:oMath>
                </a14:m>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𝜷</m:t>
                        </m:r>
                      </m:e>
                      <m:sub>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𝟒</m:t>
                        </m:r>
                      </m:sub>
                    </m:sSub>
                  </m:oMath>
                </a14:m>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𝜷</m:t>
                        </m:r>
                      </m:e>
                      <m:sub>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𝟓</m:t>
                        </m:r>
                      </m:sub>
                    </m:sSub>
                  </m:oMath>
                </a14:m>
                <a:r>
                  <a:rPr lang="en-US" sz="1400" b="1" dirty="0">
                    <a:effectLst/>
                    <a:latin typeface="Times New Roman" panose="02020603050405020304" pitchFamily="18" charset="0"/>
                    <a:ea typeface="MS Mincho" panose="02020609040205080304" pitchFamily="49" charset="-128"/>
                  </a:rPr>
                  <a:t> +</a:t>
                </a:r>
                <a14:m>
                  <m:oMath xmlns:m="http://schemas.openxmlformats.org/officeDocument/2006/math">
                    <m:sSub>
                      <m:sSubPr>
                        <m:ctrlPr>
                          <a:rPr lang="en-ZA" sz="1400" b="1" i="1">
                            <a:effectLst/>
                            <a:latin typeface="Cambria Math" panose="02040503050406030204" pitchFamily="18" charset="0"/>
                            <a:ea typeface="MS Mincho" panose="02020609040205080304" pitchFamily="49" charset="-128"/>
                          </a:rPr>
                        </m:ctrlPr>
                      </m:sSubPr>
                      <m:e>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𝜷</m:t>
                        </m:r>
                      </m:e>
                      <m:sub>
                        <m:r>
                          <a:rPr lang="en-US" sz="1400" b="1" i="1">
                            <a:effectLst/>
                            <a:latin typeface="Cambria Math" panose="02040503050406030204" pitchFamily="18" charset="0"/>
                            <a:ea typeface="MS Mincho" panose="02020609040205080304" pitchFamily="49" charset="-128"/>
                            <a:cs typeface="Times New Roman" panose="02020603050405020304" pitchFamily="18" charset="0"/>
                          </a:rPr>
                          <m:t>𝟔</m:t>
                        </m:r>
                      </m:sub>
                    </m:sSub>
                  </m:oMath>
                </a14:m>
                <a:r>
                  <a:rPr lang="en-US" sz="1400" b="1" dirty="0">
                    <a:effectLst/>
                    <a:latin typeface="Times New Roman" panose="02020603050405020304" pitchFamily="18" charset="0"/>
                    <a:ea typeface="Calibri" panose="020F0502020204030204" pitchFamily="34" charset="0"/>
                  </a:rPr>
                  <a:t> </a:t>
                </a:r>
                <a:r>
                  <a:rPr lang="en-US" sz="1400" dirty="0">
                    <a:effectLst/>
                    <a:latin typeface="Times New Roman" panose="02020603050405020304" pitchFamily="18" charset="0"/>
                    <a:ea typeface="Calibri" panose="020F0502020204030204" pitchFamily="34" charset="0"/>
                  </a:rPr>
                  <a:t>are the coefficients of the independent variables</a:t>
                </a:r>
              </a:p>
              <a:p>
                <a:pPr marL="0" indent="0">
                  <a:buNone/>
                </a:pPr>
                <a:endParaRPr lang="en-US" sz="1400" dirty="0">
                  <a:solidFill>
                    <a:schemeClr val="tx1"/>
                  </a:solidFill>
                  <a:latin typeface="Times New Roman" panose="02020603050405020304" pitchFamily="18" charset="0"/>
                </a:endParaRPr>
              </a:p>
              <a:p>
                <a:pPr marL="0" indent="0">
                  <a:buNone/>
                </a:pPr>
                <a:r>
                  <a:rPr lang="en-US" sz="1400" dirty="0">
                    <a:solidFill>
                      <a:schemeClr val="tx1"/>
                    </a:solidFill>
                    <a:latin typeface="Times New Roman" panose="02020603050405020304" pitchFamily="18" charset="0"/>
                  </a:rPr>
                  <a:t>Assumption:</a:t>
                </a:r>
              </a:p>
              <a:p>
                <a:r>
                  <a:rPr lang="en-US" sz="1400" b="1" dirty="0"/>
                  <a:t>Binary Outcome</a:t>
                </a:r>
                <a:r>
                  <a:rPr lang="en-US" sz="1400" dirty="0"/>
                  <a:t>: The dependent variable must be binary, meaning it has only two possible outcomes ( 0 and 1)</a:t>
                </a:r>
              </a:p>
              <a:p>
                <a:r>
                  <a:rPr lang="en-US" sz="1400" b="1" dirty="0"/>
                  <a:t>Large Sample Size</a:t>
                </a:r>
                <a:r>
                  <a:rPr lang="en-US" sz="1400" dirty="0"/>
                  <a:t>: A larger dataset helps produce more stable and accurate results.</a:t>
                </a:r>
              </a:p>
              <a:p>
                <a:r>
                  <a:rPr lang="en-US" sz="1400" b="1" dirty="0"/>
                  <a:t>No Strong Outliers</a:t>
                </a:r>
                <a:r>
                  <a:rPr lang="en-US" sz="1400" dirty="0"/>
                  <a:t>: Extreme values in predictors can affect the model’s accuracy</a:t>
                </a:r>
              </a:p>
              <a:p>
                <a:r>
                  <a:rPr lang="en-US" sz="1400" b="1" dirty="0"/>
                  <a:t>Independent Observations</a:t>
                </a:r>
                <a:r>
                  <a:rPr lang="en-US" sz="1400" dirty="0"/>
                  <a:t>: Each data point should be unrelated to the others</a:t>
                </a:r>
                <a:endParaRPr lang="en-ZA" sz="1400" dirty="0">
                  <a:solidFill>
                    <a:schemeClr val="tx1"/>
                  </a:solidFill>
                </a:endParaRPr>
              </a:p>
            </p:txBody>
          </p:sp>
        </mc:Choice>
        <mc:Fallback xmlns="">
          <p:sp>
            <p:nvSpPr>
              <p:cNvPr id="3" name="Content Placeholder 2">
                <a:extLst>
                  <a:ext uri="{FF2B5EF4-FFF2-40B4-BE49-F238E27FC236}">
                    <a16:creationId xmlns:a16="http://schemas.microsoft.com/office/drawing/2014/main" id="{BC773DBE-9631-B258-70DC-FF1237FC18BE}"/>
                  </a:ext>
                </a:extLst>
              </p:cNvPr>
              <p:cNvSpPr>
                <a:spLocks noGrp="1" noRot="1" noChangeAspect="1" noMove="1" noResize="1" noEditPoints="1" noAdjustHandles="1" noChangeArrowheads="1" noChangeShapeType="1" noTextEdit="1"/>
              </p:cNvSpPr>
              <p:nvPr>
                <p:ph idx="1"/>
              </p:nvPr>
            </p:nvSpPr>
            <p:spPr>
              <a:xfrm>
                <a:off x="1503849" y="1723001"/>
                <a:ext cx="9370710" cy="4360403"/>
              </a:xfrm>
              <a:blipFill>
                <a:blip r:embed="rId2"/>
                <a:stretch>
                  <a:fillRect l="-195" t="-280"/>
                </a:stretch>
              </a:blipFill>
            </p:spPr>
            <p:txBody>
              <a:bodyPr/>
              <a:lstStyle/>
              <a:p>
                <a:r>
                  <a:rPr lang="en-ZA">
                    <a:noFill/>
                  </a:rPr>
                  <a:t> </a:t>
                </a:r>
              </a:p>
            </p:txBody>
          </p:sp>
        </mc:Fallback>
      </mc:AlternateContent>
      <p:sp>
        <p:nvSpPr>
          <p:cNvPr id="4" name="Date Placeholder 3">
            <a:extLst>
              <a:ext uri="{FF2B5EF4-FFF2-40B4-BE49-F238E27FC236}">
                <a16:creationId xmlns:a16="http://schemas.microsoft.com/office/drawing/2014/main" id="{CC293729-AB81-DFD6-D670-C52097E8A2B8}"/>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B1CFAD0D-028D-4DFE-059E-55815F015449}"/>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AE2E799D-4167-4C01-95ED-E79B8EE52345}"/>
              </a:ext>
            </a:extLst>
          </p:cNvPr>
          <p:cNvSpPr>
            <a:spLocks noGrp="1"/>
          </p:cNvSpPr>
          <p:nvPr>
            <p:ph type="sldNum" sz="quarter" idx="12"/>
          </p:nvPr>
        </p:nvSpPr>
        <p:spPr/>
        <p:txBody>
          <a:bodyPr/>
          <a:lstStyle/>
          <a:p>
            <a:fld id="{FCDC5D13-0321-4383-81EA-F2073319DF27}" type="slidenum">
              <a:rPr lang="en-ZA" smtClean="0"/>
              <a:pPr/>
              <a:t>14</a:t>
            </a:fld>
            <a:endParaRPr lang="en-ZA" dirty="0"/>
          </a:p>
        </p:txBody>
      </p:sp>
    </p:spTree>
    <p:extLst>
      <p:ext uri="{BB962C8B-B14F-4D97-AF65-F5344CB8AC3E}">
        <p14:creationId xmlns:p14="http://schemas.microsoft.com/office/powerpoint/2010/main" val="3964734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FFC9634-3DDF-470B-8F18-5B104CF97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077E501-B521-4B06-96AB-DC473865D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0BEB11-03B0-B555-1A18-8D7D5682A957}"/>
              </a:ext>
            </a:extLst>
          </p:cNvPr>
          <p:cNvSpPr>
            <a:spLocks noGrp="1"/>
          </p:cNvSpPr>
          <p:nvPr>
            <p:ph type="title"/>
          </p:nvPr>
        </p:nvSpPr>
        <p:spPr>
          <a:xfrm>
            <a:off x="643467" y="2681103"/>
            <a:ext cx="3363974" cy="1495794"/>
          </a:xfrm>
          <a:noFill/>
          <a:ln>
            <a:solidFill>
              <a:schemeClr val="bg1"/>
            </a:solidFill>
          </a:ln>
        </p:spPr>
        <p:txBody>
          <a:bodyPr wrap="square">
            <a:normAutofit/>
          </a:bodyPr>
          <a:lstStyle/>
          <a:p>
            <a:r>
              <a:rPr lang="en-US">
                <a:solidFill>
                  <a:schemeClr val="bg1"/>
                </a:solidFill>
              </a:rPr>
              <a:t>Data analysis</a:t>
            </a:r>
            <a:endParaRPr lang="en-ZA">
              <a:solidFill>
                <a:schemeClr val="bg1"/>
              </a:solidFill>
            </a:endParaRPr>
          </a:p>
        </p:txBody>
      </p:sp>
      <p:sp>
        <p:nvSpPr>
          <p:cNvPr id="4" name="Date Placeholder 3">
            <a:extLst>
              <a:ext uri="{FF2B5EF4-FFF2-40B4-BE49-F238E27FC236}">
                <a16:creationId xmlns:a16="http://schemas.microsoft.com/office/drawing/2014/main" id="{9F3EA848-61FF-C8AD-CA3C-9048C244A834}"/>
              </a:ext>
            </a:extLst>
          </p:cNvPr>
          <p:cNvSpPr>
            <a:spLocks noGrp="1"/>
          </p:cNvSpPr>
          <p:nvPr>
            <p:ph type="dt" sz="half" idx="10"/>
          </p:nvPr>
        </p:nvSpPr>
        <p:spPr>
          <a:xfrm>
            <a:off x="643467" y="6238816"/>
            <a:ext cx="2753746" cy="323968"/>
          </a:xfrm>
          <a:noFill/>
        </p:spPr>
        <p:txBody>
          <a:bodyPr>
            <a:normAutofit/>
          </a:bodyPr>
          <a:lstStyle/>
          <a:p>
            <a:pPr algn="l">
              <a:spcAft>
                <a:spcPts val="600"/>
              </a:spcAft>
            </a:pPr>
            <a:fld id="{2AD394A7-1302-450B-95EB-FFC37E100C94}" type="datetime3">
              <a:rPr lang="en-ZA" smtClean="0">
                <a:solidFill>
                  <a:schemeClr val="bg1">
                    <a:alpha val="70000"/>
                  </a:schemeClr>
                </a:solidFill>
              </a:rPr>
              <a:pPr algn="l">
                <a:spcAft>
                  <a:spcPts val="600"/>
                </a:spcAft>
              </a:pPr>
              <a:t>5 March 2026</a:t>
            </a:fld>
            <a:endParaRPr lang="en-ZA">
              <a:solidFill>
                <a:schemeClr val="bg1">
                  <a:alpha val="70000"/>
                </a:schemeClr>
              </a:solidFill>
            </a:endParaRPr>
          </a:p>
        </p:txBody>
      </p:sp>
      <p:sp>
        <p:nvSpPr>
          <p:cNvPr id="5" name="Footer Placeholder 4">
            <a:extLst>
              <a:ext uri="{FF2B5EF4-FFF2-40B4-BE49-F238E27FC236}">
                <a16:creationId xmlns:a16="http://schemas.microsoft.com/office/drawing/2014/main" id="{7C2B4975-69DD-D118-1DC6-D1D760DC7ED4}"/>
              </a:ext>
            </a:extLst>
          </p:cNvPr>
          <p:cNvSpPr>
            <a:spLocks noGrp="1"/>
          </p:cNvSpPr>
          <p:nvPr>
            <p:ph type="ftr" sz="quarter" idx="11"/>
          </p:nvPr>
        </p:nvSpPr>
        <p:spPr>
          <a:xfrm>
            <a:off x="5779007" y="6236208"/>
            <a:ext cx="4776478" cy="320040"/>
          </a:xfrm>
        </p:spPr>
        <p:txBody>
          <a:bodyPr>
            <a:normAutofit/>
          </a:bodyPr>
          <a:lstStyle/>
          <a:p>
            <a:pPr algn="r">
              <a:lnSpc>
                <a:spcPct val="90000"/>
              </a:lnSpc>
              <a:spcAft>
                <a:spcPts val="600"/>
              </a:spcAft>
            </a:pPr>
            <a:endParaRPr lang="en-ZA" sz="500"/>
          </a:p>
          <a:p>
            <a:pPr algn="r">
              <a:lnSpc>
                <a:spcPct val="90000"/>
              </a:lnSpc>
              <a:spcAft>
                <a:spcPts val="600"/>
              </a:spcAft>
            </a:pPr>
            <a:r>
              <a:rPr lang="en-ZA" sz="500"/>
              <a:t>Department of Mathematics &amp; Physics</a:t>
            </a:r>
            <a:endParaRPr lang="en-ZA" sz="500" dirty="0"/>
          </a:p>
        </p:txBody>
      </p:sp>
      <p:sp>
        <p:nvSpPr>
          <p:cNvPr id="6" name="Slide Number Placeholder 5">
            <a:extLst>
              <a:ext uri="{FF2B5EF4-FFF2-40B4-BE49-F238E27FC236}">
                <a16:creationId xmlns:a16="http://schemas.microsoft.com/office/drawing/2014/main" id="{3402EC0B-3FDB-A4DB-D751-BB72EEACA324}"/>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FCDC5D13-0321-4383-81EA-F2073319DF27}" type="slidenum">
              <a:rPr lang="en-ZA" smtClean="0"/>
              <a:pPr>
                <a:lnSpc>
                  <a:spcPct val="90000"/>
                </a:lnSpc>
                <a:spcAft>
                  <a:spcPts val="600"/>
                </a:spcAft>
              </a:pPr>
              <a:t>15</a:t>
            </a:fld>
            <a:endParaRPr lang="en-ZA"/>
          </a:p>
        </p:txBody>
      </p:sp>
      <p:graphicFrame>
        <p:nvGraphicFramePr>
          <p:cNvPr id="8" name="Content Placeholder 2">
            <a:extLst>
              <a:ext uri="{FF2B5EF4-FFF2-40B4-BE49-F238E27FC236}">
                <a16:creationId xmlns:a16="http://schemas.microsoft.com/office/drawing/2014/main" id="{AEDD7923-3477-EF36-8389-2EA2D1DC8AE2}"/>
              </a:ext>
            </a:extLst>
          </p:cNvPr>
          <p:cNvGraphicFramePr>
            <a:graphicFrameLocks noGrp="1"/>
          </p:cNvGraphicFramePr>
          <p:nvPr>
            <p:ph idx="1"/>
            <p:extLst>
              <p:ext uri="{D42A27DB-BD31-4B8C-83A1-F6EECF244321}">
                <p14:modId xmlns:p14="http://schemas.microsoft.com/office/powerpoint/2010/main" val="119309470"/>
              </p:ext>
            </p:extLst>
          </p:nvPr>
        </p:nvGraphicFramePr>
        <p:xfrm>
          <a:off x="5444067" y="880533"/>
          <a:ext cx="6493933" cy="51575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4169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410" y="301753"/>
            <a:ext cx="10343213" cy="837500"/>
          </a:xfrm>
        </p:spPr>
        <p:txBody>
          <a:bodyPr>
            <a:normAutofit/>
          </a:bodyPr>
          <a:lstStyle/>
          <a:p>
            <a:r>
              <a:rPr lang="en-ZA" dirty="0"/>
              <a:t>Results &amp; Discussion</a:t>
            </a:r>
          </a:p>
        </p:txBody>
      </p:sp>
      <p:sp>
        <p:nvSpPr>
          <p:cNvPr id="4" name="Date Placeholder 3"/>
          <p:cNvSpPr>
            <a:spLocks noGrp="1"/>
          </p:cNvSpPr>
          <p:nvPr>
            <p:ph type="dt" sz="half" idx="10"/>
          </p:nvPr>
        </p:nvSpPr>
        <p:spPr/>
        <p:txBody>
          <a:bodyPr/>
          <a:lstStyle/>
          <a:p>
            <a:fld id="{2AD394A7-1302-450B-95EB-FFC37E100C94}" type="datetime3">
              <a:rPr lang="en-ZA" smtClean="0"/>
              <a:t>5 March 2026</a:t>
            </a:fld>
            <a:endParaRPr lang="en-ZA" dirty="0"/>
          </a:p>
        </p:txBody>
      </p:sp>
      <p:sp>
        <p:nvSpPr>
          <p:cNvPr id="6" name="Footer Placeholder 5"/>
          <p:cNvSpPr>
            <a:spLocks noGrp="1"/>
          </p:cNvSpPr>
          <p:nvPr>
            <p:ph type="ftr" sz="quarter" idx="11"/>
          </p:nvPr>
        </p:nvSpPr>
        <p:spPr/>
        <p:txBody>
          <a:bodyPr/>
          <a:lstStyle/>
          <a:p>
            <a:endParaRPr lang="en-ZA"/>
          </a:p>
          <a:p>
            <a:r>
              <a:rPr lang="en-ZA"/>
              <a:t>Department of Mathematics &amp; Physics</a:t>
            </a:r>
            <a:endParaRPr lang="en-ZA" dirty="0"/>
          </a:p>
        </p:txBody>
      </p:sp>
      <p:sp>
        <p:nvSpPr>
          <p:cNvPr id="5" name="Slide Number Placeholder 4"/>
          <p:cNvSpPr>
            <a:spLocks noGrp="1"/>
          </p:cNvSpPr>
          <p:nvPr>
            <p:ph type="sldNum" sz="quarter" idx="12"/>
          </p:nvPr>
        </p:nvSpPr>
        <p:spPr/>
        <p:txBody>
          <a:bodyPr/>
          <a:lstStyle/>
          <a:p>
            <a:fld id="{FCDC5D13-0321-4383-81EA-F2073319DF27}" type="slidenum">
              <a:rPr lang="en-ZA" smtClean="0"/>
              <a:pPr/>
              <a:t>16</a:t>
            </a:fld>
            <a:endParaRPr lang="en-ZA" dirty="0"/>
          </a:p>
        </p:txBody>
      </p:sp>
      <p:pic>
        <p:nvPicPr>
          <p:cNvPr id="7" name="Picture 6">
            <a:extLst>
              <a:ext uri="{FF2B5EF4-FFF2-40B4-BE49-F238E27FC236}">
                <a16:creationId xmlns:a16="http://schemas.microsoft.com/office/drawing/2014/main" id="{87F6E540-9252-6EEA-A8E0-0ADE03D7356F}"/>
              </a:ext>
            </a:extLst>
          </p:cNvPr>
          <p:cNvPicPr>
            <a:picLocks noChangeAspect="1"/>
          </p:cNvPicPr>
          <p:nvPr/>
        </p:nvPicPr>
        <p:blipFill>
          <a:blip r:embed="rId3"/>
          <a:stretch>
            <a:fillRect/>
          </a:stretch>
        </p:blipFill>
        <p:spPr>
          <a:xfrm>
            <a:off x="899408" y="2010169"/>
            <a:ext cx="9408373" cy="4229081"/>
          </a:xfrm>
          <a:prstGeom prst="rect">
            <a:avLst/>
          </a:prstGeom>
        </p:spPr>
      </p:pic>
      <p:sp>
        <p:nvSpPr>
          <p:cNvPr id="11" name="Content Placeholder 9">
            <a:extLst>
              <a:ext uri="{FF2B5EF4-FFF2-40B4-BE49-F238E27FC236}">
                <a16:creationId xmlns:a16="http://schemas.microsoft.com/office/drawing/2014/main" id="{4D9A5F95-943F-F87F-2481-7F85B7CC51A1}"/>
              </a:ext>
            </a:extLst>
          </p:cNvPr>
          <p:cNvSpPr>
            <a:spLocks noGrp="1"/>
          </p:cNvSpPr>
          <p:nvPr>
            <p:ph idx="1"/>
          </p:nvPr>
        </p:nvSpPr>
        <p:spPr>
          <a:xfrm>
            <a:off x="899409" y="1440941"/>
            <a:ext cx="5817913" cy="405267"/>
          </a:xfrm>
        </p:spPr>
        <p:txBody>
          <a:bodyPr/>
          <a:lstStyle/>
          <a:p>
            <a:pPr marL="0" indent="0">
              <a:buNone/>
            </a:pPr>
            <a:r>
              <a:rPr lang="en-GB" b="1" dirty="0"/>
              <a:t>Table 1.2  </a:t>
            </a:r>
            <a:r>
              <a:rPr lang="en-GB" dirty="0"/>
              <a:t>Display summary of binary logistic regression:</a:t>
            </a:r>
          </a:p>
          <a:p>
            <a:endParaRPr lang="en-ZA" dirty="0"/>
          </a:p>
        </p:txBody>
      </p:sp>
    </p:spTree>
    <p:extLst>
      <p:ext uri="{BB962C8B-B14F-4D97-AF65-F5344CB8AC3E}">
        <p14:creationId xmlns:p14="http://schemas.microsoft.com/office/powerpoint/2010/main" val="3716475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p:cNvSpPr>
            <a:spLocks noGrp="1"/>
          </p:cNvSpPr>
          <p:nvPr>
            <p:ph type="sldNum" sz="quarter" idx="12"/>
          </p:nvPr>
        </p:nvSpPr>
        <p:spPr/>
        <p:txBody>
          <a:bodyPr/>
          <a:lstStyle/>
          <a:p>
            <a:fld id="{FCDC5D13-0321-4383-81EA-F2073319DF27}" type="slidenum">
              <a:rPr lang="en-ZA" smtClean="0"/>
              <a:pPr/>
              <a:t>17</a:t>
            </a:fld>
            <a:endParaRPr lang="en-ZA" dirty="0"/>
          </a:p>
        </p:txBody>
      </p:sp>
      <mc:AlternateContent xmlns:mc="http://schemas.openxmlformats.org/markup-compatibility/2006" xmlns:a14="http://schemas.microsoft.com/office/drawing/2010/main">
        <mc:Choice Requires="a14">
          <p:graphicFrame>
            <p:nvGraphicFramePr>
              <p:cNvPr id="14" name="Content Placeholder 13"/>
              <p:cNvGraphicFramePr>
                <a:graphicFrameLocks noGrp="1"/>
              </p:cNvGraphicFramePr>
              <p:nvPr>
                <p:ph idx="1"/>
                <p:extLst>
                  <p:ext uri="{D42A27DB-BD31-4B8C-83A1-F6EECF244321}">
                    <p14:modId xmlns:p14="http://schemas.microsoft.com/office/powerpoint/2010/main" val="438886701"/>
                  </p:ext>
                </p:extLst>
              </p:nvPr>
            </p:nvGraphicFramePr>
            <p:xfrm>
              <a:off x="1128791" y="453614"/>
              <a:ext cx="10206746" cy="5489204"/>
            </p:xfrm>
            <a:graphic>
              <a:graphicData uri="http://schemas.openxmlformats.org/drawingml/2006/table">
                <a:tbl>
                  <a:tblPr firstRow="1" bandRow="1">
                    <a:tableStyleId>{21E4AEA4-8DFA-4A89-87EB-49C32662AFE0}</a:tableStyleId>
                  </a:tblPr>
                  <a:tblGrid>
                    <a:gridCol w="2155775">
                      <a:extLst>
                        <a:ext uri="{9D8B030D-6E8A-4147-A177-3AD203B41FA5}">
                          <a16:colId xmlns:a16="http://schemas.microsoft.com/office/drawing/2014/main" val="3487389296"/>
                        </a:ext>
                      </a:extLst>
                    </a:gridCol>
                    <a:gridCol w="8050971">
                      <a:extLst>
                        <a:ext uri="{9D8B030D-6E8A-4147-A177-3AD203B41FA5}">
                          <a16:colId xmlns:a16="http://schemas.microsoft.com/office/drawing/2014/main" val="3264637277"/>
                        </a:ext>
                      </a:extLst>
                    </a:gridCol>
                  </a:tblGrid>
                  <a:tr h="875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Intercept estimate: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 </a:t>
                          </a:r>
                          <a14:m>
                            <m:oMath xmlns:m="http://schemas.openxmlformats.org/officeDocument/2006/math">
                              <m:sSub>
                                <m:sSubPr>
                                  <m:ctrlPr>
                                    <a:rPr kumimoji="0" lang="en-US" sz="12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𝛽</m:t>
                                  </m:r>
                                </m:e>
                                <m:sub>
                                  <m:r>
                                    <a:rPr kumimoji="0" lang="en-US" sz="12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oMath>
                          </a14:m>
                          <a:r>
                            <a:rPr kumimoji="0" lang="en-US" sz="1200" b="0" i="0" u="none" strike="noStrike" kern="1200" cap="none" spc="0" normalizeH="0" baseline="0" noProof="0" dirty="0">
                              <a:ln>
                                <a:noFill/>
                              </a:ln>
                              <a:solidFill>
                                <a:srgbClr val="000000"/>
                              </a:solidFill>
                              <a:effectLst/>
                              <a:uLnTx/>
                              <a:uFillTx/>
                              <a:latin typeface="+mn-lt"/>
                              <a:ea typeface="+mn-ea"/>
                              <a:cs typeface="+mn-cs"/>
                            </a:rPr>
                            <a:t>= 7.22247</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mn-lt"/>
                              <a:ea typeface="+mn-ea"/>
                              <a:cs typeface="+mn-cs"/>
                            </a:rPr>
                            <a:t>The estimated log odds of employment status to economic growth in the informal economy is expected to increase where the dependent variable (0= unemployed and 1= employed)</a:t>
                          </a:r>
                        </a:p>
                      </a:txBody>
                      <a:tcPr anchor="ctr"/>
                    </a:tc>
                    <a:extLst>
                      <a:ext uri="{0D108BD9-81ED-4DB2-BD59-A6C34878D82A}">
                        <a16:rowId xmlns:a16="http://schemas.microsoft.com/office/drawing/2014/main" val="3828031686"/>
                      </a:ext>
                    </a:extLst>
                  </a:tr>
                  <a:tr h="851977">
                    <a:tc>
                      <a:txBody>
                        <a:bodyPr/>
                        <a:lstStyle/>
                        <a:p>
                          <a:r>
                            <a:rPr kumimoji="0" lang="en-US" sz="1200" b="0" i="0" u="none" strike="noStrike" kern="1200" cap="none" spc="0" normalizeH="0" baseline="0" noProof="0" dirty="0">
                              <a:ln>
                                <a:noFill/>
                              </a:ln>
                              <a:solidFill>
                                <a:srgbClr val="000000"/>
                              </a:solidFill>
                              <a:effectLst/>
                              <a:uLnTx/>
                              <a:uFillTx/>
                              <a:latin typeface="+mn-lt"/>
                              <a:ea typeface="+mn-ea"/>
                              <a:cs typeface="+mn-cs"/>
                            </a:rPr>
                            <a:t>Informal employment:</a:t>
                          </a:r>
                          <a:endParaRPr kumimoji="0" lang="en-US" sz="1200" b="0" i="1" u="none" strike="noStrike" kern="1200" cap="none" spc="0" normalizeH="0" baseline="0" noProof="0" dirty="0">
                            <a:ln>
                              <a:noFill/>
                            </a:ln>
                            <a:solidFill>
                              <a:srgbClr val="000000"/>
                            </a:solidFill>
                            <a:effectLst/>
                            <a:uLnTx/>
                            <a:uFillTx/>
                            <a:latin typeface="+mn-lt"/>
                            <a:ea typeface="+mn-ea"/>
                            <a:cs typeface="+mn-cs"/>
                          </a:endParaRPr>
                        </a:p>
                        <a:p>
                          <a14:m>
                            <m:oMath xmlns:m="http://schemas.openxmlformats.org/officeDocument/2006/math">
                              <m:sSub>
                                <m:sSubPr>
                                  <m:ctrlPr>
                                    <a:rPr kumimoji="0" lang="en-US" sz="12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𝛽</m:t>
                                  </m:r>
                                </m:e>
                                <m:sub>
                                  <m:r>
                                    <a:rPr kumimoji="0" lang="en-US" sz="12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ub>
                              </m:sSub>
                            </m:oMath>
                          </a14:m>
                          <a:r>
                            <a:rPr kumimoji="0" lang="en-US" sz="1200" b="0" i="0" u="none" strike="noStrike" kern="1200" cap="none" spc="0" normalizeH="0" baseline="0" noProof="0" dirty="0">
                              <a:ln>
                                <a:noFill/>
                              </a:ln>
                              <a:solidFill>
                                <a:srgbClr val="000000"/>
                              </a:solidFill>
                              <a:effectLst/>
                              <a:uLnTx/>
                              <a:uFillTx/>
                              <a:latin typeface="+mn-lt"/>
                              <a:ea typeface="+mn-ea"/>
                              <a:cs typeface="+mn-cs"/>
                            </a:rPr>
                            <a:t>=0.99746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mn-lt"/>
                              <a:ea typeface="+mn-ea"/>
                              <a:cs typeface="+mn-cs"/>
                            </a:rPr>
                            <a:t>The coefficient being closed to 1 indicate that the informal employment has a positive impact to informal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mn-lt"/>
                              <a:ea typeface="+mn-ea"/>
                              <a:cs typeface="+mn-cs"/>
                            </a:rPr>
                            <a:t>economy and economic growth and this show that  as informal employment increase also economic growth.</a:t>
                          </a:r>
                        </a:p>
                      </a:txBody>
                      <a:tcPr anchor="ctr"/>
                    </a:tc>
                    <a:extLst>
                      <a:ext uri="{0D108BD9-81ED-4DB2-BD59-A6C34878D82A}">
                        <a16:rowId xmlns:a16="http://schemas.microsoft.com/office/drawing/2014/main" val="140046585"/>
                      </a:ext>
                    </a:extLst>
                  </a:tr>
                  <a:tr h="5721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Gender</a:t>
                          </a:r>
                          <a:r>
                            <a:rPr kumimoji="0" lang="en-US" sz="1200" b="1" i="0" u="none" strike="noStrike" kern="1200" cap="none" spc="0" normalizeH="0" baseline="0" noProof="0" dirty="0">
                              <a:ln>
                                <a:noFill/>
                              </a:ln>
                              <a:solidFill>
                                <a:srgbClr val="000000"/>
                              </a:solidFill>
                              <a:effectLst/>
                              <a:uLnTx/>
                              <a:uFillTx/>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2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2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𝛽</m:t>
                                  </m:r>
                                </m:e>
                                <m:sub>
                                  <m:r>
                                    <a:rPr kumimoji="0" lang="en-US" sz="12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b>
                              </m:sSub>
                              <m:r>
                                <a:rPr kumimoji="0" lang="en-US" sz="12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a14:m>
                          <a:r>
                            <a:rPr kumimoji="0" lang="en-US" sz="1200" b="1" i="0" u="none" strike="noStrike" kern="1200" cap="none" spc="0" normalizeH="0" baseline="0" noProof="0" dirty="0">
                              <a:ln>
                                <a:noFill/>
                              </a:ln>
                              <a:solidFill>
                                <a:srgbClr val="000000"/>
                              </a:solidFill>
                              <a:effectLst/>
                              <a:uLnTx/>
                              <a:uFillTx/>
                              <a:latin typeface="+mn-lt"/>
                              <a:ea typeface="+mn-ea"/>
                              <a:cs typeface="+mn-cs"/>
                            </a:rPr>
                            <a:t> </a:t>
                          </a:r>
                          <a14:m>
                            <m:oMath xmlns:m="http://schemas.openxmlformats.org/officeDocument/2006/math">
                              <m:r>
                                <a:rPr kumimoji="0" lang="en-US" sz="12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0.995326</m:t>
                              </m:r>
                            </m:oMath>
                          </a14:m>
                          <a:r>
                            <a:rPr kumimoji="0" lang="en-US" sz="1200" b="1" i="0" u="none" strike="noStrike" kern="1200" cap="none" spc="0" normalizeH="0" baseline="0" noProof="0" dirty="0">
                              <a:ln>
                                <a:noFill/>
                              </a:ln>
                              <a:solidFill>
                                <a:srgbClr val="000000"/>
                              </a:solidFill>
                              <a:effectLst/>
                              <a:uLnTx/>
                              <a:uFillTx/>
                              <a:latin typeface="+mn-lt"/>
                              <a:ea typeface="+mn-ea"/>
                              <a:cs typeface="+mn-cs"/>
                            </a:rPr>
                            <a:t> </a:t>
                          </a:r>
                          <a:endParaRPr kumimoji="0" lang="en-ZA" sz="1200" b="1" i="0" u="none" strike="noStrike" kern="1200" cap="none" spc="0" normalizeH="0" baseline="0" noProof="0" dirty="0">
                            <a:ln>
                              <a:noFill/>
                            </a:ln>
                            <a:solidFill>
                              <a:srgbClr val="000000"/>
                            </a:solidFill>
                            <a:effectLst/>
                            <a:uLnTx/>
                            <a:uFillTx/>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mn-lt"/>
                              <a:ea typeface="+mn-ea"/>
                              <a:cs typeface="+mn-cs"/>
                            </a:rPr>
                            <a:t>This coefficient suggest that the is a strong negative to gender between females' productivity</a:t>
                          </a:r>
                          <a:endParaRPr kumimoji="0" lang="en-GB" sz="1300" b="0" i="0" u="none" strike="noStrike" kern="1200" cap="none" spc="0" normalizeH="0" baseline="0" noProof="0" dirty="0">
                            <a:ln>
                              <a:noFill/>
                            </a:ln>
                            <a:solidFill>
                              <a:srgbClr val="000000"/>
                            </a:solidFill>
                            <a:effectLst/>
                            <a:uLnTx/>
                            <a:uFillTx/>
                            <a:latin typeface="+mn-lt"/>
                            <a:ea typeface="+mn-ea"/>
                            <a:cs typeface="+mn-cs"/>
                          </a:endParaRPr>
                        </a:p>
                      </a:txBody>
                      <a:tcPr anchor="ctr"/>
                    </a:tc>
                    <a:extLst>
                      <a:ext uri="{0D108BD9-81ED-4DB2-BD59-A6C34878D82A}">
                        <a16:rowId xmlns:a16="http://schemas.microsoft.com/office/drawing/2014/main" val="82416478"/>
                      </a:ext>
                    </a:extLst>
                  </a:tr>
                  <a:tr h="753649">
                    <a:tc>
                      <a:txBody>
                        <a:bodyPr/>
                        <a:lstStyle/>
                        <a:p>
                          <a:r>
                            <a:rPr lang="en-US" sz="1200" kern="1200" dirty="0">
                              <a:solidFill>
                                <a:schemeClr val="tx1"/>
                              </a:solidFill>
                              <a:effectLst/>
                              <a:latin typeface="+mn-lt"/>
                              <a:ea typeface="+mn-ea"/>
                              <a:cs typeface="+mn-cs"/>
                            </a:rPr>
                            <a:t>Age group</a:t>
                          </a:r>
                        </a:p>
                        <a:p>
                          <a14:m>
                            <m:oMath xmlns:m="http://schemas.openxmlformats.org/officeDocument/2006/math">
                              <m:sSub>
                                <m:sSubPr>
                                  <m:ctrlPr>
                                    <a:rPr lang="en-US" sz="1200" i="1" kern="1200" smtClean="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𝛽</m:t>
                                  </m:r>
                                </m:e>
                                <m:sub>
                                  <m:r>
                                    <a:rPr lang="en-US" sz="1200" i="1" kern="1200">
                                      <a:solidFill>
                                        <a:schemeClr val="tx1"/>
                                      </a:solidFill>
                                      <a:effectLst/>
                                      <a:latin typeface="Cambria Math" panose="02040503050406030204" pitchFamily="18" charset="0"/>
                                      <a:ea typeface="+mn-ea"/>
                                      <a:cs typeface="+mn-cs"/>
                                    </a:rPr>
                                    <m:t>3</m:t>
                                  </m:r>
                                </m:sub>
                              </m:sSub>
                              <m:r>
                                <a:rPr lang="en-US" sz="1200" i="1" kern="1200">
                                  <a:solidFill>
                                    <a:schemeClr val="tx1"/>
                                  </a:solidFill>
                                  <a:effectLst/>
                                  <a:latin typeface="Cambria Math" panose="02040503050406030204" pitchFamily="18" charset="0"/>
                                  <a:ea typeface="+mn-ea"/>
                                  <a:cs typeface="+mn-cs"/>
                                </a:rPr>
                                <m:t>=1.00194</m:t>
                              </m:r>
                            </m:oMath>
                          </a14:m>
                          <a:r>
                            <a:rPr lang="en-US" sz="1200" kern="1200" dirty="0">
                              <a:solidFill>
                                <a:schemeClr val="tx1"/>
                              </a:solidFill>
                              <a:effectLst/>
                              <a:latin typeface="+mn-lt"/>
                              <a:ea typeface="+mn-ea"/>
                              <a:cs typeface="+mn-cs"/>
                            </a:rPr>
                            <a:t>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mn-lt"/>
                              <a:ea typeface="+mn-ea"/>
                              <a:cs typeface="+mn-cs"/>
                            </a:rPr>
                            <a:t>This result concludes that the increase by age group employment, the is a slightly increase of the economy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mn-lt"/>
                              <a:ea typeface="+mn-ea"/>
                              <a:cs typeface="+mn-cs"/>
                            </a:rPr>
                            <a:t>by 0.194% in the Central Business District</a:t>
                          </a:r>
                          <a:r>
                            <a:rPr kumimoji="0" lang="en-US" sz="1400" b="0" i="0" u="none" strike="noStrike" kern="1200" cap="none" spc="0" normalizeH="0" baseline="0" noProof="0" dirty="0">
                              <a:ln>
                                <a:noFill/>
                              </a:ln>
                              <a:solidFill>
                                <a:srgbClr val="000000"/>
                              </a:solidFill>
                              <a:effectLst/>
                              <a:uLnTx/>
                              <a:uFillTx/>
                              <a:latin typeface="+mn-lt"/>
                              <a:ea typeface="+mn-ea"/>
                              <a:cs typeface="+mn-cs"/>
                            </a:rPr>
                            <a:t>.</a:t>
                          </a:r>
                        </a:p>
                        <a:p>
                          <a:endParaRPr lang="en-US" sz="1200" dirty="0"/>
                        </a:p>
                      </a:txBody>
                      <a:tcPr anchor="ctr"/>
                    </a:tc>
                    <a:extLst>
                      <a:ext uri="{0D108BD9-81ED-4DB2-BD59-A6C34878D82A}">
                        <a16:rowId xmlns:a16="http://schemas.microsoft.com/office/drawing/2014/main" val="3319649230"/>
                      </a:ext>
                    </a:extLst>
                  </a:tr>
                  <a:tr h="753900">
                    <a:tc>
                      <a:txBody>
                        <a:bodyPr/>
                        <a:lstStyle/>
                        <a:p>
                          <a:r>
                            <a:rPr lang="en-US" sz="1200" kern="1200" dirty="0">
                              <a:solidFill>
                                <a:schemeClr val="tx1"/>
                              </a:solidFill>
                              <a:effectLst/>
                              <a:latin typeface="+mn-lt"/>
                              <a:ea typeface="+mn-ea"/>
                              <a:cs typeface="+mn-cs"/>
                            </a:rPr>
                            <a:t>Education Status</a:t>
                          </a:r>
                        </a:p>
                        <a:p>
                          <a:pPr/>
                          <a14:m>
                            <m:oMathPara xmlns:m="http://schemas.openxmlformats.org/officeDocument/2006/math">
                              <m:oMathParaPr>
                                <m:jc m:val="left"/>
                              </m:oMathParaPr>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𝛽</m:t>
                                    </m:r>
                                  </m:e>
                                  <m:sub>
                                    <m:r>
                                      <a:rPr lang="en-US" sz="1200" i="1" kern="1200">
                                        <a:solidFill>
                                          <a:schemeClr val="tx1"/>
                                        </a:solidFill>
                                        <a:effectLst/>
                                        <a:latin typeface="Cambria Math" panose="02040503050406030204" pitchFamily="18" charset="0"/>
                                        <a:ea typeface="+mn-ea"/>
                                        <a:cs typeface="+mn-cs"/>
                                      </a:rPr>
                                      <m:t>4</m:t>
                                    </m:r>
                                  </m:sub>
                                </m:sSub>
                                <m:r>
                                  <a:rPr lang="en-US" sz="1200" i="1" kern="1200">
                                    <a:solidFill>
                                      <a:schemeClr val="tx1"/>
                                    </a:solidFill>
                                    <a:effectLst/>
                                    <a:latin typeface="Cambria Math" panose="02040503050406030204" pitchFamily="18" charset="0"/>
                                    <a:ea typeface="+mn-ea"/>
                                    <a:cs typeface="+mn-cs"/>
                                  </a:rPr>
                                  <m:t>=</m:t>
                                </m:r>
                                <m:r>
                                  <a:rPr lang="en-US" sz="1200" b="0" i="1" kern="1200" smtClean="0">
                                    <a:solidFill>
                                      <a:schemeClr val="tx1"/>
                                    </a:solidFill>
                                    <a:effectLst/>
                                    <a:latin typeface="Cambria Math" panose="02040503050406030204" pitchFamily="18" charset="0"/>
                                    <a:ea typeface="+mn-ea"/>
                                    <a:cs typeface="+mn-cs"/>
                                  </a:rPr>
                                  <m:t>1</m:t>
                                </m:r>
                                <m:r>
                                  <a:rPr lang="en-US" sz="1200" i="1" kern="1200">
                                    <a:solidFill>
                                      <a:schemeClr val="tx1"/>
                                    </a:solidFill>
                                    <a:effectLst/>
                                    <a:latin typeface="Cambria Math" panose="02040503050406030204" pitchFamily="18" charset="0"/>
                                    <a:ea typeface="+mn-ea"/>
                                    <a:cs typeface="+mn-cs"/>
                                  </a:rPr>
                                  <m:t>.</m:t>
                                </m:r>
                                <m:r>
                                  <a:rPr lang="en-US" sz="1200" b="0" i="1" kern="1200" smtClean="0">
                                    <a:solidFill>
                                      <a:schemeClr val="tx1"/>
                                    </a:solidFill>
                                    <a:effectLst/>
                                    <a:latin typeface="Cambria Math" panose="02040503050406030204" pitchFamily="18" charset="0"/>
                                    <a:ea typeface="+mn-ea"/>
                                    <a:cs typeface="+mn-cs"/>
                                  </a:rPr>
                                  <m:t>0</m:t>
                                </m:r>
                                <m:r>
                                  <a:rPr lang="en-US" sz="1200" i="1" kern="1200">
                                    <a:solidFill>
                                      <a:schemeClr val="tx1"/>
                                    </a:solidFill>
                                    <a:effectLst/>
                                    <a:latin typeface="Cambria Math" panose="02040503050406030204" pitchFamily="18" charset="0"/>
                                    <a:ea typeface="+mn-ea"/>
                                    <a:cs typeface="+mn-cs"/>
                                  </a:rPr>
                                  <m:t>9933</m:t>
                                </m:r>
                              </m:oMath>
                            </m:oMathPara>
                          </a14:m>
                          <a:endParaRPr lang="en-US" sz="1200" kern="1200" dirty="0">
                            <a:solidFill>
                              <a:schemeClr val="tx1"/>
                            </a:solidFill>
                            <a:effectLst/>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kern="1200" dirty="0">
                              <a:solidFill>
                                <a:schemeClr val="tx1"/>
                              </a:solidFill>
                              <a:effectLst/>
                              <a:latin typeface="+mn-lt"/>
                              <a:ea typeface="+mn-ea"/>
                              <a:cs typeface="+mn-cs"/>
                            </a:rPr>
                            <a:t>The</a:t>
                          </a:r>
                          <a:r>
                            <a:rPr lang="en-US" sz="1300" b="0" kern="1200" baseline="0" dirty="0">
                              <a:solidFill>
                                <a:schemeClr val="tx1"/>
                              </a:solidFill>
                              <a:effectLst/>
                              <a:latin typeface="+mn-lt"/>
                              <a:ea typeface="+mn-ea"/>
                              <a:cs typeface="+mn-cs"/>
                            </a:rPr>
                            <a:t> is s</a:t>
                          </a:r>
                          <a:r>
                            <a:rPr lang="en-US" sz="1300" b="0" kern="1200" dirty="0">
                              <a:solidFill>
                                <a:schemeClr val="tx1"/>
                              </a:solidFill>
                              <a:effectLst/>
                              <a:latin typeface="+mn-lt"/>
                              <a:ea typeface="+mn-ea"/>
                              <a:cs typeface="+mn-cs"/>
                            </a:rPr>
                            <a:t>lightly negative correlation in education attainment and production, this</a:t>
                          </a:r>
                          <a:r>
                            <a:rPr lang="en-US" sz="1300" b="0" kern="1200" baseline="0" dirty="0">
                              <a:solidFill>
                                <a:schemeClr val="tx1"/>
                              </a:solidFill>
                              <a:effectLst/>
                              <a:latin typeface="+mn-lt"/>
                              <a:ea typeface="+mn-ea"/>
                              <a:cs typeface="+mn-cs"/>
                            </a:rPr>
                            <a:t> </a:t>
                          </a:r>
                          <a:r>
                            <a:rPr lang="en-US" sz="1300" kern="1200" dirty="0">
                              <a:solidFill>
                                <a:schemeClr val="tx1"/>
                              </a:solidFill>
                              <a:effectLst/>
                              <a:latin typeface="+mn-lt"/>
                              <a:ea typeface="+mn-ea"/>
                              <a:cs typeface="+mn-cs"/>
                            </a:rPr>
                            <a:t>indicate that an increase in education level is associated with a decrease in employment status by 0.067%</a:t>
                          </a:r>
                          <a:endParaRPr lang="en-US" sz="1300" dirty="0"/>
                        </a:p>
                        <a:p>
                          <a:endParaRPr lang="en-US" sz="1300" dirty="0"/>
                        </a:p>
                      </a:txBody>
                      <a:tcPr anchor="ctr"/>
                    </a:tc>
                    <a:extLst>
                      <a:ext uri="{0D108BD9-81ED-4DB2-BD59-A6C34878D82A}">
                        <a16:rowId xmlns:a16="http://schemas.microsoft.com/office/drawing/2014/main" val="2310455582"/>
                      </a:ext>
                    </a:extLst>
                  </a:tr>
                  <a:tr h="658075">
                    <a:tc>
                      <a:txBody>
                        <a:bodyPr/>
                        <a:lstStyle/>
                        <a:p>
                          <a:r>
                            <a:rPr lang="en-US" sz="1200" kern="1200" dirty="0">
                              <a:solidFill>
                                <a:schemeClr val="tx1"/>
                              </a:solidFill>
                              <a:effectLst/>
                              <a:latin typeface="+mn-lt"/>
                              <a:ea typeface="+mn-ea"/>
                              <a:cs typeface="+mn-cs"/>
                            </a:rPr>
                            <a:t>Geography type</a:t>
                          </a:r>
                        </a:p>
                        <a:p>
                          <a:r>
                            <a:rPr lang="en-US" sz="1200" kern="1200" dirty="0">
                              <a:solidFill>
                                <a:schemeClr val="tx1"/>
                              </a:solidFill>
                              <a:effectLst/>
                              <a:latin typeface="+mn-lt"/>
                              <a:ea typeface="+mn-ea"/>
                              <a:cs typeface="+mn-cs"/>
                            </a:rPr>
                            <a:t>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𝛽</m:t>
                                  </m:r>
                                </m:e>
                                <m:sub>
                                  <m:r>
                                    <a:rPr lang="en-US" sz="1200" i="1" kern="1200">
                                      <a:solidFill>
                                        <a:schemeClr val="tx1"/>
                                      </a:solidFill>
                                      <a:effectLst/>
                                      <a:latin typeface="Cambria Math" panose="02040503050406030204" pitchFamily="18" charset="0"/>
                                      <a:ea typeface="+mn-ea"/>
                                      <a:cs typeface="+mn-cs"/>
                                    </a:rPr>
                                    <m:t>4</m:t>
                                  </m:r>
                                </m:sub>
                              </m:sSub>
                              <m:r>
                                <a:rPr lang="en-US" sz="1200" i="1" kern="1200">
                                  <a:solidFill>
                                    <a:schemeClr val="tx1"/>
                                  </a:solidFill>
                                  <a:effectLst/>
                                  <a:latin typeface="Cambria Math" panose="02040503050406030204" pitchFamily="18" charset="0"/>
                                  <a:ea typeface="+mn-ea"/>
                                  <a:cs typeface="+mn-cs"/>
                                </a:rPr>
                                <m:t>=0.99412</m:t>
                              </m:r>
                            </m:oMath>
                          </a14:m>
                          <a:endParaRPr lang="en-US" sz="1200" kern="1200" dirty="0">
                            <a:solidFill>
                              <a:schemeClr val="tx1"/>
                            </a:solidFill>
                            <a:effectLst/>
                            <a:latin typeface="+mn-lt"/>
                            <a:ea typeface="+mn-ea"/>
                            <a:cs typeface="+mn-cs"/>
                          </a:endParaRPr>
                        </a:p>
                        <a:p>
                          <a:endParaRPr lang="en-US" sz="1200" dirty="0">
                            <a:latin typeface="+mn-lt"/>
                          </a:endParaRPr>
                        </a:p>
                      </a:txBody>
                      <a:tcPr anchor="ctr"/>
                    </a:tc>
                    <a:tc>
                      <a:txBody>
                        <a:bodyPr/>
                        <a:lstStyle/>
                        <a:p>
                          <a:r>
                            <a:rPr lang="en-US" sz="1300" kern="1200" dirty="0">
                              <a:solidFill>
                                <a:schemeClr val="tx1"/>
                              </a:solidFill>
                              <a:effectLst/>
                              <a:latin typeface="+mn-lt"/>
                              <a:ea typeface="+mn-ea"/>
                              <a:cs typeface="+mn-cs"/>
                            </a:rPr>
                            <a:t>geographic type is less than 1 and this result conclude that for a unit increase in the geographic area of</a:t>
                          </a:r>
                          <a:r>
                            <a:rPr lang="en-US" sz="1300" kern="1200" baseline="0" dirty="0">
                              <a:solidFill>
                                <a:schemeClr val="tx1"/>
                              </a:solidFill>
                              <a:effectLst/>
                              <a:latin typeface="+mn-lt"/>
                              <a:ea typeface="+mn-ea"/>
                              <a:cs typeface="+mn-cs"/>
                            </a:rPr>
                            <a:t> </a:t>
                          </a:r>
                          <a:r>
                            <a:rPr lang="en-US" sz="1300" kern="1200" dirty="0">
                              <a:solidFill>
                                <a:schemeClr val="tx1"/>
                              </a:solidFill>
                              <a:effectLst/>
                              <a:latin typeface="+mn-lt"/>
                              <a:ea typeface="+mn-ea"/>
                              <a:cs typeface="+mn-cs"/>
                            </a:rPr>
                            <a:t>rural or urban</a:t>
                          </a:r>
                          <a:endParaRPr lang="en-US" sz="1300" b="0" kern="1200" dirty="0">
                            <a:solidFill>
                              <a:schemeClr val="tx1"/>
                            </a:solidFill>
                            <a:effectLst/>
                            <a:latin typeface="+mn-lt"/>
                            <a:ea typeface="+mn-ea"/>
                            <a:cs typeface="+mn-cs"/>
                          </a:endParaRPr>
                        </a:p>
                        <a:p>
                          <a:endParaRPr lang="en-US" sz="1300" dirty="0"/>
                        </a:p>
                      </a:txBody>
                      <a:tcPr anchor="ctr"/>
                    </a:tc>
                    <a:extLst>
                      <a:ext uri="{0D108BD9-81ED-4DB2-BD59-A6C34878D82A}">
                        <a16:rowId xmlns:a16="http://schemas.microsoft.com/office/drawing/2014/main" val="3560097960"/>
                      </a:ext>
                    </a:extLst>
                  </a:tr>
                  <a:tr h="764092">
                    <a:tc>
                      <a:txBody>
                        <a:bodyPr/>
                        <a:lstStyle/>
                        <a:p>
                          <a:r>
                            <a:rPr lang="en-US" sz="1300" kern="1200" dirty="0">
                              <a:solidFill>
                                <a:schemeClr val="tx1"/>
                              </a:solidFill>
                              <a:effectLst/>
                              <a:latin typeface="+mn-lt"/>
                              <a:ea typeface="+mn-ea"/>
                              <a:cs typeface="+mn-cs"/>
                            </a:rPr>
                            <a:t>Province</a:t>
                          </a:r>
                        </a:p>
                        <a:p>
                          <a:pPr/>
                          <a14:m>
                            <m:oMathPara xmlns:m="http://schemas.openxmlformats.org/officeDocument/2006/math">
                              <m:oMathParaPr>
                                <m:jc m:val="left"/>
                              </m:oMathParaPr>
                              <m:oMath xmlns:m="http://schemas.openxmlformats.org/officeDocument/2006/math">
                                <m:sSub>
                                  <m:sSubPr>
                                    <m:ctrlPr>
                                      <a:rPr lang="en-US" sz="1300" i="1" kern="1200">
                                        <a:solidFill>
                                          <a:schemeClr val="tx1"/>
                                        </a:solidFill>
                                        <a:effectLst/>
                                        <a:latin typeface="Cambria Math" panose="02040503050406030204" pitchFamily="18" charset="0"/>
                                        <a:ea typeface="+mn-ea"/>
                                        <a:cs typeface="+mn-cs"/>
                                      </a:rPr>
                                    </m:ctrlPr>
                                  </m:sSubPr>
                                  <m:e>
                                    <m:r>
                                      <a:rPr lang="en-US" sz="1300" i="1" kern="1200">
                                        <a:solidFill>
                                          <a:schemeClr val="tx1"/>
                                        </a:solidFill>
                                        <a:effectLst/>
                                        <a:latin typeface="Cambria Math" panose="02040503050406030204" pitchFamily="18" charset="0"/>
                                        <a:ea typeface="+mn-ea"/>
                                        <a:cs typeface="+mn-cs"/>
                                      </a:rPr>
                                      <m:t>𝛽</m:t>
                                    </m:r>
                                  </m:e>
                                  <m:sub>
                                    <m:r>
                                      <a:rPr lang="en-US" sz="1300" i="1" kern="1200">
                                        <a:solidFill>
                                          <a:schemeClr val="tx1"/>
                                        </a:solidFill>
                                        <a:effectLst/>
                                        <a:latin typeface="Cambria Math" panose="02040503050406030204" pitchFamily="18" charset="0"/>
                                        <a:ea typeface="+mn-ea"/>
                                        <a:cs typeface="+mn-cs"/>
                                      </a:rPr>
                                      <m:t>3</m:t>
                                    </m:r>
                                  </m:sub>
                                </m:sSub>
                                <m:r>
                                  <a:rPr lang="en-US" sz="1300" b="0" i="1" kern="1200" smtClean="0">
                                    <a:solidFill>
                                      <a:schemeClr val="tx1"/>
                                    </a:solidFill>
                                    <a:effectLst/>
                                    <a:latin typeface="Cambria Math" panose="02040503050406030204" pitchFamily="18" charset="0"/>
                                    <a:ea typeface="+mn-ea"/>
                                    <a:cs typeface="+mn-cs"/>
                                  </a:rPr>
                                  <m:t>=</m:t>
                                </m:r>
                                <m:r>
                                  <a:rPr lang="en-US" sz="1300" i="1" kern="1200">
                                    <a:solidFill>
                                      <a:schemeClr val="tx1"/>
                                    </a:solidFill>
                                    <a:effectLst/>
                                    <a:latin typeface="Cambria Math" panose="02040503050406030204" pitchFamily="18" charset="0"/>
                                    <a:ea typeface="+mn-ea"/>
                                    <a:cs typeface="+mn-cs"/>
                                  </a:rPr>
                                  <m:t>1.00205</m:t>
                                </m:r>
                              </m:oMath>
                            </m:oMathPara>
                          </a14:m>
                          <a:endParaRPr lang="en-US" sz="1300" dirty="0">
                            <a:latin typeface="+mn-lt"/>
                          </a:endParaRPr>
                        </a:p>
                        <a:p>
                          <a:endParaRPr lang="en-US" sz="13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This result indicate that province is greater than 1 and it emphasize that the is a positive increase to productivity by (1.00205-1=0.0025)  0.2%.</a:t>
                          </a:r>
                        </a:p>
                        <a:p>
                          <a:endParaRPr lang="en-US" sz="1200" dirty="0"/>
                        </a:p>
                      </a:txBody>
                      <a:tcPr anchor="ctr"/>
                    </a:tc>
                    <a:extLst>
                      <a:ext uri="{0D108BD9-81ED-4DB2-BD59-A6C34878D82A}">
                        <a16:rowId xmlns:a16="http://schemas.microsoft.com/office/drawing/2014/main" val="185736718"/>
                      </a:ext>
                    </a:extLst>
                  </a:tr>
                </a:tbl>
              </a:graphicData>
            </a:graphic>
          </p:graphicFrame>
        </mc:Choice>
        <mc:Fallback xmlns="">
          <p:graphicFrame>
            <p:nvGraphicFramePr>
              <p:cNvPr id="14" name="Content Placeholder 13"/>
              <p:cNvGraphicFramePr>
                <a:graphicFrameLocks noGrp="1"/>
              </p:cNvGraphicFramePr>
              <p:nvPr>
                <p:ph idx="1"/>
                <p:extLst>
                  <p:ext uri="{D42A27DB-BD31-4B8C-83A1-F6EECF244321}">
                    <p14:modId xmlns:p14="http://schemas.microsoft.com/office/powerpoint/2010/main" val="438886701"/>
                  </p:ext>
                </p:extLst>
              </p:nvPr>
            </p:nvGraphicFramePr>
            <p:xfrm>
              <a:off x="1128791" y="453614"/>
              <a:ext cx="10206746" cy="5489204"/>
            </p:xfrm>
            <a:graphic>
              <a:graphicData uri="http://schemas.openxmlformats.org/drawingml/2006/table">
                <a:tbl>
                  <a:tblPr firstRow="1" bandRow="1">
                    <a:tableStyleId>{21E4AEA4-8DFA-4A89-87EB-49C32662AFE0}</a:tableStyleId>
                  </a:tblPr>
                  <a:tblGrid>
                    <a:gridCol w="2155775">
                      <a:extLst>
                        <a:ext uri="{9D8B030D-6E8A-4147-A177-3AD203B41FA5}">
                          <a16:colId xmlns:a16="http://schemas.microsoft.com/office/drawing/2014/main" val="3487389296"/>
                        </a:ext>
                      </a:extLst>
                    </a:gridCol>
                    <a:gridCol w="8050971">
                      <a:extLst>
                        <a:ext uri="{9D8B030D-6E8A-4147-A177-3AD203B41FA5}">
                          <a16:colId xmlns:a16="http://schemas.microsoft.com/office/drawing/2014/main" val="3264637277"/>
                        </a:ext>
                      </a:extLst>
                    </a:gridCol>
                  </a:tblGrid>
                  <a:tr h="875031">
                    <a:tc>
                      <a:txBody>
                        <a:bodyPr/>
                        <a:lstStyle/>
                        <a:p>
                          <a:endParaRPr lang="en-US"/>
                        </a:p>
                      </a:txBody>
                      <a:tcPr anchor="ctr">
                        <a:blipFill>
                          <a:blip r:embed="rId2"/>
                          <a:stretch>
                            <a:fillRect l="-282" t="-694" r="-374294" b="-527083"/>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mn-lt"/>
                              <a:ea typeface="+mn-ea"/>
                              <a:cs typeface="+mn-cs"/>
                            </a:rPr>
                            <a:t>The estimated log odds of employment status to economic growth in the informal economy is expected to increase where the dependent variable (0= unemployed and 1= employed)</a:t>
                          </a:r>
                        </a:p>
                      </a:txBody>
                      <a:tcPr anchor="ctr"/>
                    </a:tc>
                    <a:extLst>
                      <a:ext uri="{0D108BD9-81ED-4DB2-BD59-A6C34878D82A}">
                        <a16:rowId xmlns:a16="http://schemas.microsoft.com/office/drawing/2014/main" val="3828031686"/>
                      </a:ext>
                    </a:extLst>
                  </a:tr>
                  <a:tr h="851977">
                    <a:tc>
                      <a:txBody>
                        <a:bodyPr/>
                        <a:lstStyle/>
                        <a:p>
                          <a:endParaRPr lang="en-US"/>
                        </a:p>
                      </a:txBody>
                      <a:tcPr>
                        <a:blipFill>
                          <a:blip r:embed="rId2"/>
                          <a:stretch>
                            <a:fillRect l="-282" t="-104317" r="-374294" b="-446043"/>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mn-lt"/>
                              <a:ea typeface="+mn-ea"/>
                              <a:cs typeface="+mn-cs"/>
                            </a:rPr>
                            <a:t>The coefficient being closed to 1 indicate that the informal employment has a positive impact to informal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mn-lt"/>
                              <a:ea typeface="+mn-ea"/>
                              <a:cs typeface="+mn-cs"/>
                            </a:rPr>
                            <a:t>economy and economic growth and this show that  as informal employment increase also economic growth.</a:t>
                          </a:r>
                        </a:p>
                      </a:txBody>
                      <a:tcPr anchor="ctr"/>
                    </a:tc>
                    <a:extLst>
                      <a:ext uri="{0D108BD9-81ED-4DB2-BD59-A6C34878D82A}">
                        <a16:rowId xmlns:a16="http://schemas.microsoft.com/office/drawing/2014/main" val="140046585"/>
                      </a:ext>
                    </a:extLst>
                  </a:tr>
                  <a:tr h="572189">
                    <a:tc>
                      <a:txBody>
                        <a:bodyPr/>
                        <a:lstStyle/>
                        <a:p>
                          <a:endParaRPr lang="en-US"/>
                        </a:p>
                      </a:txBody>
                      <a:tcPr anchor="ctr">
                        <a:blipFill>
                          <a:blip r:embed="rId2"/>
                          <a:stretch>
                            <a:fillRect l="-282" t="-302128" r="-374294" b="-559574"/>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mn-lt"/>
                              <a:ea typeface="+mn-ea"/>
                              <a:cs typeface="+mn-cs"/>
                            </a:rPr>
                            <a:t>This coefficient suggest that the is a strong negative to gender between females' productivity</a:t>
                          </a:r>
                          <a:endParaRPr kumimoji="0" lang="en-GB" sz="1300" b="0" i="0" u="none" strike="noStrike" kern="1200" cap="none" spc="0" normalizeH="0" baseline="0" noProof="0" dirty="0">
                            <a:ln>
                              <a:noFill/>
                            </a:ln>
                            <a:solidFill>
                              <a:srgbClr val="000000"/>
                            </a:solidFill>
                            <a:effectLst/>
                            <a:uLnTx/>
                            <a:uFillTx/>
                            <a:latin typeface="+mn-lt"/>
                            <a:ea typeface="+mn-ea"/>
                            <a:cs typeface="+mn-cs"/>
                          </a:endParaRPr>
                        </a:p>
                      </a:txBody>
                      <a:tcPr anchor="ctr"/>
                    </a:tc>
                    <a:extLst>
                      <a:ext uri="{0D108BD9-81ED-4DB2-BD59-A6C34878D82A}">
                        <a16:rowId xmlns:a16="http://schemas.microsoft.com/office/drawing/2014/main" val="82416478"/>
                      </a:ext>
                    </a:extLst>
                  </a:tr>
                  <a:tr h="883920">
                    <a:tc>
                      <a:txBody>
                        <a:bodyPr/>
                        <a:lstStyle/>
                        <a:p>
                          <a:endParaRPr lang="en-US"/>
                        </a:p>
                      </a:txBody>
                      <a:tcPr anchor="ctr">
                        <a:blipFill>
                          <a:blip r:embed="rId2"/>
                          <a:stretch>
                            <a:fillRect l="-282" t="-260690" r="-374294" b="-262759"/>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mn-lt"/>
                              <a:ea typeface="+mn-ea"/>
                              <a:cs typeface="+mn-cs"/>
                            </a:rPr>
                            <a:t>This result concludes that the increase by age group employment, the is a slightly increase of the economy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mn-lt"/>
                              <a:ea typeface="+mn-ea"/>
                              <a:cs typeface="+mn-cs"/>
                            </a:rPr>
                            <a:t>by 0.194% in the Central Business District</a:t>
                          </a:r>
                          <a:r>
                            <a:rPr kumimoji="0" lang="en-US" sz="1400" b="0" i="0" u="none" strike="noStrike" kern="1200" cap="none" spc="0" normalizeH="0" baseline="0" noProof="0" dirty="0">
                              <a:ln>
                                <a:noFill/>
                              </a:ln>
                              <a:solidFill>
                                <a:srgbClr val="000000"/>
                              </a:solidFill>
                              <a:effectLst/>
                              <a:uLnTx/>
                              <a:uFillTx/>
                              <a:latin typeface="+mn-lt"/>
                              <a:ea typeface="+mn-ea"/>
                              <a:cs typeface="+mn-cs"/>
                            </a:rPr>
                            <a:t>.</a:t>
                          </a:r>
                        </a:p>
                        <a:p>
                          <a:endParaRPr lang="en-US" sz="1200" dirty="0"/>
                        </a:p>
                      </a:txBody>
                      <a:tcPr anchor="ctr"/>
                    </a:tc>
                    <a:extLst>
                      <a:ext uri="{0D108BD9-81ED-4DB2-BD59-A6C34878D82A}">
                        <a16:rowId xmlns:a16="http://schemas.microsoft.com/office/drawing/2014/main" val="3319649230"/>
                      </a:ext>
                    </a:extLst>
                  </a:tr>
                  <a:tr h="883920">
                    <a:tc>
                      <a:txBody>
                        <a:bodyPr/>
                        <a:lstStyle/>
                        <a:p>
                          <a:endParaRPr lang="en-US"/>
                        </a:p>
                      </a:txBody>
                      <a:tcPr anchor="ctr">
                        <a:blipFill>
                          <a:blip r:embed="rId2"/>
                          <a:stretch>
                            <a:fillRect l="-282" t="-358219" r="-374294" b="-160959"/>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kern="1200" dirty="0">
                              <a:solidFill>
                                <a:schemeClr val="tx1"/>
                              </a:solidFill>
                              <a:effectLst/>
                              <a:latin typeface="+mn-lt"/>
                              <a:ea typeface="+mn-ea"/>
                              <a:cs typeface="+mn-cs"/>
                            </a:rPr>
                            <a:t>The</a:t>
                          </a:r>
                          <a:r>
                            <a:rPr lang="en-US" sz="1300" b="0" kern="1200" baseline="0" dirty="0">
                              <a:solidFill>
                                <a:schemeClr val="tx1"/>
                              </a:solidFill>
                              <a:effectLst/>
                              <a:latin typeface="+mn-lt"/>
                              <a:ea typeface="+mn-ea"/>
                              <a:cs typeface="+mn-cs"/>
                            </a:rPr>
                            <a:t> is s</a:t>
                          </a:r>
                          <a:r>
                            <a:rPr lang="en-US" sz="1300" b="0" kern="1200" dirty="0">
                              <a:solidFill>
                                <a:schemeClr val="tx1"/>
                              </a:solidFill>
                              <a:effectLst/>
                              <a:latin typeface="+mn-lt"/>
                              <a:ea typeface="+mn-ea"/>
                              <a:cs typeface="+mn-cs"/>
                            </a:rPr>
                            <a:t>lightly negative correlation in education attainment and production, this</a:t>
                          </a:r>
                          <a:r>
                            <a:rPr lang="en-US" sz="1300" b="0" kern="1200" baseline="0" dirty="0">
                              <a:solidFill>
                                <a:schemeClr val="tx1"/>
                              </a:solidFill>
                              <a:effectLst/>
                              <a:latin typeface="+mn-lt"/>
                              <a:ea typeface="+mn-ea"/>
                              <a:cs typeface="+mn-cs"/>
                            </a:rPr>
                            <a:t> </a:t>
                          </a:r>
                          <a:r>
                            <a:rPr lang="en-US" sz="1300" kern="1200" dirty="0">
                              <a:solidFill>
                                <a:schemeClr val="tx1"/>
                              </a:solidFill>
                              <a:effectLst/>
                              <a:latin typeface="+mn-lt"/>
                              <a:ea typeface="+mn-ea"/>
                              <a:cs typeface="+mn-cs"/>
                            </a:rPr>
                            <a:t>indicate that an increase in education level is associated with a decrease in employment status by 0.067%</a:t>
                          </a:r>
                          <a:endParaRPr lang="en-US" sz="1300" dirty="0"/>
                        </a:p>
                        <a:p>
                          <a:endParaRPr lang="en-US" sz="1300" dirty="0"/>
                        </a:p>
                      </a:txBody>
                      <a:tcPr anchor="ctr"/>
                    </a:tc>
                    <a:extLst>
                      <a:ext uri="{0D108BD9-81ED-4DB2-BD59-A6C34878D82A}">
                        <a16:rowId xmlns:a16="http://schemas.microsoft.com/office/drawing/2014/main" val="2310455582"/>
                      </a:ext>
                    </a:extLst>
                  </a:tr>
                  <a:tr h="658075">
                    <a:tc>
                      <a:txBody>
                        <a:bodyPr/>
                        <a:lstStyle/>
                        <a:p>
                          <a:endParaRPr lang="en-US"/>
                        </a:p>
                      </a:txBody>
                      <a:tcPr anchor="ctr">
                        <a:blipFill>
                          <a:blip r:embed="rId2"/>
                          <a:stretch>
                            <a:fillRect l="-282" t="-619444" r="-374294" b="-117593"/>
                          </a:stretch>
                        </a:blipFill>
                      </a:tcPr>
                    </a:tc>
                    <a:tc>
                      <a:txBody>
                        <a:bodyPr/>
                        <a:lstStyle/>
                        <a:p>
                          <a:r>
                            <a:rPr lang="en-US" sz="1300" kern="1200" dirty="0">
                              <a:solidFill>
                                <a:schemeClr val="tx1"/>
                              </a:solidFill>
                              <a:effectLst/>
                              <a:latin typeface="+mn-lt"/>
                              <a:ea typeface="+mn-ea"/>
                              <a:cs typeface="+mn-cs"/>
                            </a:rPr>
                            <a:t>geographic type is less than 1 and this result conclude that for a unit increase in the geographic area of</a:t>
                          </a:r>
                          <a:r>
                            <a:rPr lang="en-US" sz="1300" kern="1200" baseline="0" dirty="0">
                              <a:solidFill>
                                <a:schemeClr val="tx1"/>
                              </a:solidFill>
                              <a:effectLst/>
                              <a:latin typeface="+mn-lt"/>
                              <a:ea typeface="+mn-ea"/>
                              <a:cs typeface="+mn-cs"/>
                            </a:rPr>
                            <a:t> </a:t>
                          </a:r>
                          <a:r>
                            <a:rPr lang="en-US" sz="1300" kern="1200" dirty="0">
                              <a:solidFill>
                                <a:schemeClr val="tx1"/>
                              </a:solidFill>
                              <a:effectLst/>
                              <a:latin typeface="+mn-lt"/>
                              <a:ea typeface="+mn-ea"/>
                              <a:cs typeface="+mn-cs"/>
                            </a:rPr>
                            <a:t>rural or urban</a:t>
                          </a:r>
                          <a:endParaRPr lang="en-US" sz="1300" b="0" kern="1200" dirty="0">
                            <a:solidFill>
                              <a:schemeClr val="tx1"/>
                            </a:solidFill>
                            <a:effectLst/>
                            <a:latin typeface="+mn-lt"/>
                            <a:ea typeface="+mn-ea"/>
                            <a:cs typeface="+mn-cs"/>
                          </a:endParaRPr>
                        </a:p>
                        <a:p>
                          <a:endParaRPr lang="en-US" sz="1300" dirty="0"/>
                        </a:p>
                      </a:txBody>
                      <a:tcPr anchor="ctr"/>
                    </a:tc>
                    <a:extLst>
                      <a:ext uri="{0D108BD9-81ED-4DB2-BD59-A6C34878D82A}">
                        <a16:rowId xmlns:a16="http://schemas.microsoft.com/office/drawing/2014/main" val="3560097960"/>
                      </a:ext>
                    </a:extLst>
                  </a:tr>
                  <a:tr h="764092">
                    <a:tc>
                      <a:txBody>
                        <a:bodyPr/>
                        <a:lstStyle/>
                        <a:p>
                          <a:endParaRPr lang="en-US"/>
                        </a:p>
                      </a:txBody>
                      <a:tcPr anchor="ctr">
                        <a:blipFill>
                          <a:blip r:embed="rId2"/>
                          <a:stretch>
                            <a:fillRect l="-282" t="-621600" r="-374294" b="-160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This result indicate that province is greater than 1 and it emphasize that the is a positive increase to productivity by (1.00205-1=0.0025)  0.2%.</a:t>
                          </a:r>
                        </a:p>
                        <a:p>
                          <a:endParaRPr lang="en-US" sz="1200" dirty="0"/>
                        </a:p>
                      </a:txBody>
                      <a:tcPr anchor="ctr"/>
                    </a:tc>
                    <a:extLst>
                      <a:ext uri="{0D108BD9-81ED-4DB2-BD59-A6C34878D82A}">
                        <a16:rowId xmlns:a16="http://schemas.microsoft.com/office/drawing/2014/main" val="185736718"/>
                      </a:ext>
                    </a:extLst>
                  </a:tr>
                </a:tbl>
              </a:graphicData>
            </a:graphic>
          </p:graphicFrame>
        </mc:Fallback>
      </mc:AlternateContent>
    </p:spTree>
    <p:extLst>
      <p:ext uri="{BB962C8B-B14F-4D97-AF65-F5344CB8AC3E}">
        <p14:creationId xmlns:p14="http://schemas.microsoft.com/office/powerpoint/2010/main" val="595138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sz="half" idx="1"/>
            <p:extLst>
              <p:ext uri="{D42A27DB-BD31-4B8C-83A1-F6EECF244321}">
                <p14:modId xmlns:p14="http://schemas.microsoft.com/office/powerpoint/2010/main" val="3256989280"/>
              </p:ext>
            </p:extLst>
          </p:nvPr>
        </p:nvGraphicFramePr>
        <p:xfrm>
          <a:off x="1428279" y="1194010"/>
          <a:ext cx="8615007" cy="4330175"/>
        </p:xfrm>
        <a:graphic>
          <a:graphicData uri="http://schemas.openxmlformats.org/drawingml/2006/table">
            <a:tbl>
              <a:tblPr/>
              <a:tblGrid>
                <a:gridCol w="3318372">
                  <a:extLst>
                    <a:ext uri="{9D8B030D-6E8A-4147-A177-3AD203B41FA5}">
                      <a16:colId xmlns:a16="http://schemas.microsoft.com/office/drawing/2014/main" val="1344199841"/>
                    </a:ext>
                  </a:extLst>
                </a:gridCol>
                <a:gridCol w="3158836">
                  <a:extLst>
                    <a:ext uri="{9D8B030D-6E8A-4147-A177-3AD203B41FA5}">
                      <a16:colId xmlns:a16="http://schemas.microsoft.com/office/drawing/2014/main" val="2620114269"/>
                    </a:ext>
                  </a:extLst>
                </a:gridCol>
                <a:gridCol w="2137799">
                  <a:extLst>
                    <a:ext uri="{9D8B030D-6E8A-4147-A177-3AD203B41FA5}">
                      <a16:colId xmlns:a16="http://schemas.microsoft.com/office/drawing/2014/main" val="3567184705"/>
                    </a:ext>
                  </a:extLst>
                </a:gridCol>
              </a:tblGrid>
              <a:tr h="475665">
                <a:tc gridSpan="3">
                  <a:txBody>
                    <a:bodyPr/>
                    <a:lstStyle/>
                    <a:p>
                      <a:pPr marL="0" marR="0" algn="just">
                        <a:lnSpc>
                          <a:spcPct val="150000"/>
                        </a:lnSpc>
                        <a:spcBef>
                          <a:spcPts val="0"/>
                        </a:spcBef>
                        <a:spcAft>
                          <a:spcPts val="0"/>
                        </a:spcAft>
                        <a:tabLst>
                          <a:tab pos="1943100" algn="l"/>
                        </a:tabLst>
                      </a:pPr>
                      <a:r>
                        <a:rPr lang="en-US" sz="1400" dirty="0">
                          <a:solidFill>
                            <a:srgbClr val="000000"/>
                          </a:solidFill>
                          <a:effectLst/>
                          <a:latin typeface="+mn-lt"/>
                          <a:ea typeface="Times New Roman" panose="02020603050405020304" pitchFamily="18" charset="0"/>
                          <a:cs typeface="Arial" panose="020B0604020202020204" pitchFamily="34" charset="0"/>
                        </a:rPr>
                        <a:t>Coefficient:                                                   Odds Ratio                                                95% CL</a:t>
                      </a:r>
                      <a:endParaRPr lang="en-US" sz="1400" dirty="0">
                        <a:effectLst/>
                        <a:latin typeface="+mn-lt"/>
                        <a:ea typeface="Calibri" panose="020F0502020204030204" pitchFamily="34" charset="0"/>
                        <a:cs typeface="Arial" panose="020B0604020202020204" pitchFamily="34" charset="0"/>
                      </a:endParaRPr>
                    </a:p>
                  </a:txBody>
                  <a:tcPr marL="56960" marR="569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140436"/>
                  </a:ext>
                </a:extLst>
              </a:tr>
              <a:tr h="557674">
                <a:tc>
                  <a:txBody>
                    <a:bodyPr/>
                    <a:lstStyle/>
                    <a:p>
                      <a:pPr marL="9525" marR="0" algn="just">
                        <a:lnSpc>
                          <a:spcPct val="150000"/>
                        </a:lnSpc>
                        <a:spcBef>
                          <a:spcPts val="0"/>
                        </a:spcBef>
                        <a:spcAft>
                          <a:spcPts val="1000"/>
                        </a:spcAft>
                        <a:tabLst>
                          <a:tab pos="1943100" algn="l"/>
                        </a:tabLst>
                      </a:pPr>
                      <a:r>
                        <a:rPr lang="en-US" sz="1400" dirty="0">
                          <a:solidFill>
                            <a:srgbClr val="000000"/>
                          </a:solidFill>
                          <a:effectLst/>
                          <a:latin typeface="+mn-lt"/>
                          <a:ea typeface="Times New Roman" panose="02020603050405020304" pitchFamily="18" charset="0"/>
                          <a:cs typeface="Arial" panose="020B0604020202020204" pitchFamily="34" charset="0"/>
                        </a:rPr>
                        <a:t>Intercept</a:t>
                      </a:r>
                      <a:endParaRPr lang="en-US" sz="1400" dirty="0">
                        <a:effectLst/>
                        <a:latin typeface="+mn-lt"/>
                        <a:ea typeface="Calibri" panose="020F0502020204030204" pitchFamily="34" charset="0"/>
                        <a:cs typeface="Arial" panose="020B0604020202020204" pitchFamily="34" charset="0"/>
                      </a:endParaRPr>
                    </a:p>
                  </a:txBody>
                  <a:tcPr marL="56960" marR="56960" marT="0" marB="0">
                    <a:lnL w="1270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marL="9525" marR="0" algn="just">
                        <a:lnSpc>
                          <a:spcPct val="150000"/>
                        </a:lnSpc>
                        <a:spcBef>
                          <a:spcPts val="0"/>
                        </a:spcBef>
                        <a:spcAft>
                          <a:spcPts val="0"/>
                        </a:spcAft>
                        <a:tabLst>
                          <a:tab pos="1943100" algn="l"/>
                        </a:tabLst>
                      </a:pPr>
                      <a:r>
                        <a:rPr lang="en-US" sz="1400" dirty="0">
                          <a:solidFill>
                            <a:srgbClr val="000000"/>
                          </a:solidFill>
                          <a:effectLst/>
                          <a:latin typeface="+mn-lt"/>
                          <a:ea typeface="Times New Roman" panose="02020603050405020304" pitchFamily="18" charset="0"/>
                          <a:cs typeface="Arial" panose="020B0604020202020204" pitchFamily="34" charset="0"/>
                        </a:rPr>
                        <a:t>3.447452e+11</a:t>
                      </a:r>
                      <a:endParaRPr lang="en-US" sz="1400" dirty="0">
                        <a:effectLst/>
                        <a:latin typeface="+mn-lt"/>
                        <a:ea typeface="Calibri" panose="020F0502020204030204" pitchFamily="34" charset="0"/>
                        <a:cs typeface="Arial" panose="020B0604020202020204" pitchFamily="34" charset="0"/>
                      </a:endParaRPr>
                    </a:p>
                  </a:txBody>
                  <a:tcPr marL="56960" marR="56960" marT="0" marB="0">
                    <a:lnL>
                      <a:noFill/>
                    </a:lnL>
                    <a:lnR>
                      <a:noFill/>
                    </a:lnR>
                    <a:lnT>
                      <a:noFill/>
                    </a:lnT>
                    <a:lnB>
                      <a:noFill/>
                    </a:lnB>
                  </a:tcPr>
                </a:tc>
                <a:tc>
                  <a:txBody>
                    <a:bodyPr/>
                    <a:lstStyle/>
                    <a:p>
                      <a:pPr marL="0" marR="0" algn="l">
                        <a:lnSpc>
                          <a:spcPct val="115000"/>
                        </a:lnSpc>
                        <a:spcBef>
                          <a:spcPts val="0"/>
                        </a:spcBef>
                        <a:spcAft>
                          <a:spcPts val="0"/>
                        </a:spcAft>
                      </a:pPr>
                      <a:r>
                        <a:rPr lang="en-US" sz="1400" dirty="0">
                          <a:effectLst/>
                          <a:latin typeface="+mn-lt"/>
                          <a:ea typeface="Calibri" panose="020F0502020204030204" pitchFamily="34" charset="0"/>
                          <a:cs typeface="Arial" panose="020B0604020202020204" pitchFamily="34" charset="0"/>
                        </a:rPr>
                        <a:t>           -</a:t>
                      </a:r>
                    </a:p>
                  </a:txBody>
                  <a:tcPr marL="56960" marR="56960" marT="0" marB="0">
                    <a:lnL>
                      <a:noFill/>
                    </a:lnL>
                    <a:lnR w="1270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042664286"/>
                  </a:ext>
                </a:extLst>
              </a:tr>
              <a:tr h="656089">
                <a:tc>
                  <a:txBody>
                    <a:bodyPr/>
                    <a:lstStyle/>
                    <a:p>
                      <a:pPr marL="9525" marR="0" algn="just">
                        <a:lnSpc>
                          <a:spcPct val="150000"/>
                        </a:lnSpc>
                        <a:spcBef>
                          <a:spcPts val="0"/>
                        </a:spcBef>
                        <a:spcAft>
                          <a:spcPts val="1000"/>
                        </a:spcAft>
                        <a:tabLst>
                          <a:tab pos="1943100" algn="l"/>
                        </a:tabLst>
                      </a:pPr>
                      <a:r>
                        <a:rPr lang="en-US" sz="1400">
                          <a:solidFill>
                            <a:srgbClr val="000000"/>
                          </a:solidFill>
                          <a:effectLst/>
                          <a:latin typeface="+mn-lt"/>
                          <a:ea typeface="Times New Roman" panose="02020603050405020304" pitchFamily="18" charset="0"/>
                          <a:cs typeface="Arial" panose="020B0604020202020204" pitchFamily="34" charset="0"/>
                        </a:rPr>
                        <a:t>Informal Employment</a:t>
                      </a:r>
                      <a:endParaRPr lang="en-US" sz="1400">
                        <a:effectLst/>
                        <a:latin typeface="+mn-lt"/>
                        <a:ea typeface="Calibri" panose="020F0502020204030204" pitchFamily="34" charset="0"/>
                        <a:cs typeface="Arial" panose="020B0604020202020204" pitchFamily="34" charset="0"/>
                      </a:endParaRPr>
                    </a:p>
                  </a:txBody>
                  <a:tcPr marL="56960" marR="56960" marT="0" marB="0">
                    <a:lnL w="1270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marL="9525" marR="0" algn="just">
                        <a:lnSpc>
                          <a:spcPct val="150000"/>
                        </a:lnSpc>
                        <a:spcBef>
                          <a:spcPts val="0"/>
                        </a:spcBef>
                        <a:spcAft>
                          <a:spcPts val="0"/>
                        </a:spcAft>
                        <a:tabLst>
                          <a:tab pos="1943100" algn="l"/>
                        </a:tabLst>
                      </a:pPr>
                      <a:r>
                        <a:rPr lang="en-US" sz="1400" dirty="0">
                          <a:solidFill>
                            <a:srgbClr val="000000"/>
                          </a:solidFill>
                          <a:effectLst/>
                          <a:latin typeface="+mn-lt"/>
                          <a:ea typeface="Times New Roman" panose="02020603050405020304" pitchFamily="18" charset="0"/>
                          <a:cs typeface="Arial" panose="020B0604020202020204" pitchFamily="34" charset="0"/>
                        </a:rPr>
                        <a:t>0.99746</a:t>
                      </a:r>
                      <a:endParaRPr lang="en-US" sz="1400" dirty="0">
                        <a:effectLst/>
                        <a:latin typeface="+mn-lt"/>
                        <a:ea typeface="Calibri" panose="020F0502020204030204" pitchFamily="34" charset="0"/>
                        <a:cs typeface="Arial" panose="020B0604020202020204" pitchFamily="34" charset="0"/>
                      </a:endParaRPr>
                    </a:p>
                  </a:txBody>
                  <a:tcPr marL="56960" marR="56960" marT="0" marB="0">
                    <a:lnL>
                      <a:noFill/>
                    </a:lnL>
                    <a:lnR>
                      <a:noFill/>
                    </a:lnR>
                    <a:lnT>
                      <a:noFill/>
                    </a:lnT>
                    <a:lnB>
                      <a:noFill/>
                    </a:lnB>
                    <a:solidFill>
                      <a:srgbClr val="F2F2F2"/>
                    </a:solidFill>
                  </a:tcPr>
                </a:tc>
                <a:tc>
                  <a:txBody>
                    <a:bodyPr/>
                    <a:lstStyle/>
                    <a:p>
                      <a:pPr marL="0" marR="0" algn="l">
                        <a:lnSpc>
                          <a:spcPct val="115000"/>
                        </a:lnSpc>
                        <a:spcBef>
                          <a:spcPts val="0"/>
                        </a:spcBef>
                        <a:spcAft>
                          <a:spcPts val="0"/>
                        </a:spcAft>
                      </a:pPr>
                      <a:r>
                        <a:rPr lang="en-US" sz="1400" dirty="0">
                          <a:effectLst/>
                          <a:latin typeface="+mn-lt"/>
                          <a:ea typeface="Calibri" panose="020F0502020204030204" pitchFamily="34" charset="0"/>
                          <a:cs typeface="Arial" panose="020B0604020202020204" pitchFamily="34" charset="0"/>
                        </a:rPr>
                        <a:t>( 0.345, 0.61 )                </a:t>
                      </a:r>
                    </a:p>
                  </a:txBody>
                  <a:tcPr marL="56960" marR="56960" marT="0" marB="0">
                    <a:lnL>
                      <a:noFill/>
                    </a:lnL>
                    <a:lnR w="1270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64036977"/>
                  </a:ext>
                </a:extLst>
              </a:tr>
              <a:tr h="541271">
                <a:tc>
                  <a:txBody>
                    <a:bodyPr/>
                    <a:lstStyle/>
                    <a:p>
                      <a:pPr marL="9525" marR="0" algn="just">
                        <a:lnSpc>
                          <a:spcPct val="150000"/>
                        </a:lnSpc>
                        <a:spcBef>
                          <a:spcPts val="0"/>
                        </a:spcBef>
                        <a:spcAft>
                          <a:spcPts val="1000"/>
                        </a:spcAft>
                        <a:tabLst>
                          <a:tab pos="1943100" algn="l"/>
                        </a:tabLst>
                      </a:pPr>
                      <a:r>
                        <a:rPr lang="en-US" sz="1400" dirty="0">
                          <a:solidFill>
                            <a:srgbClr val="000000"/>
                          </a:solidFill>
                          <a:effectLst/>
                          <a:latin typeface="+mn-lt"/>
                          <a:ea typeface="Times New Roman" panose="02020603050405020304" pitchFamily="18" charset="0"/>
                          <a:cs typeface="Arial" panose="020B0604020202020204" pitchFamily="34" charset="0"/>
                        </a:rPr>
                        <a:t>Gender</a:t>
                      </a:r>
                      <a:endParaRPr lang="en-US" sz="1400" dirty="0">
                        <a:effectLst/>
                        <a:latin typeface="+mn-lt"/>
                        <a:ea typeface="Calibri" panose="020F0502020204030204" pitchFamily="34" charset="0"/>
                        <a:cs typeface="Arial" panose="020B0604020202020204" pitchFamily="34" charset="0"/>
                      </a:endParaRPr>
                    </a:p>
                  </a:txBody>
                  <a:tcPr marL="56960" marR="56960" marT="0" marB="0">
                    <a:lnL w="1270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marL="9525" marR="0" algn="just">
                        <a:lnSpc>
                          <a:spcPct val="150000"/>
                        </a:lnSpc>
                        <a:spcBef>
                          <a:spcPts val="0"/>
                        </a:spcBef>
                        <a:spcAft>
                          <a:spcPts val="0"/>
                        </a:spcAft>
                        <a:tabLst>
                          <a:tab pos="1943100" algn="l"/>
                        </a:tabLst>
                      </a:pPr>
                      <a:r>
                        <a:rPr lang="en-US" sz="1400" dirty="0">
                          <a:solidFill>
                            <a:srgbClr val="000000"/>
                          </a:solidFill>
                          <a:effectLst/>
                          <a:latin typeface="+mn-lt"/>
                          <a:ea typeface="Times New Roman" panose="02020603050405020304" pitchFamily="18" charset="0"/>
                          <a:cs typeface="Arial" panose="020B0604020202020204" pitchFamily="34" charset="0"/>
                        </a:rPr>
                        <a:t>0.995377</a:t>
                      </a:r>
                      <a:endParaRPr lang="en-US" sz="1400" dirty="0">
                        <a:effectLst/>
                        <a:latin typeface="+mn-lt"/>
                        <a:ea typeface="Calibri" panose="020F0502020204030204" pitchFamily="34" charset="0"/>
                        <a:cs typeface="Arial" panose="020B0604020202020204" pitchFamily="34" charset="0"/>
                      </a:endParaRPr>
                    </a:p>
                  </a:txBody>
                  <a:tcPr marL="56960" marR="56960" marT="0" marB="0">
                    <a:lnL>
                      <a:noFill/>
                    </a:lnL>
                    <a:lnR>
                      <a:noFill/>
                    </a:lnR>
                    <a:lnT>
                      <a:noFill/>
                    </a:lnT>
                    <a:lnB>
                      <a:noFill/>
                    </a:lnB>
                  </a:tcPr>
                </a:tc>
                <a:tc>
                  <a:txBody>
                    <a:bodyPr/>
                    <a:lstStyle/>
                    <a:p>
                      <a:pPr marL="0" marR="0" algn="l">
                        <a:lnSpc>
                          <a:spcPct val="115000"/>
                        </a:lnSpc>
                        <a:spcBef>
                          <a:spcPts val="0"/>
                        </a:spcBef>
                        <a:spcAft>
                          <a:spcPts val="0"/>
                        </a:spcAft>
                        <a:tabLst>
                          <a:tab pos="1139190" algn="r"/>
                        </a:tabLst>
                      </a:pPr>
                      <a:r>
                        <a:rPr lang="en-US" sz="1400" dirty="0">
                          <a:effectLst/>
                          <a:latin typeface="+mn-lt"/>
                          <a:ea typeface="Calibri" panose="020F0502020204030204" pitchFamily="34" charset="0"/>
                          <a:cs typeface="Arial" panose="020B0604020202020204" pitchFamily="34" charset="0"/>
                        </a:rPr>
                        <a:t>( 1.05,  1.40  )                        </a:t>
                      </a:r>
                    </a:p>
                  </a:txBody>
                  <a:tcPr marL="56960" marR="56960" marT="0" marB="0">
                    <a:lnL>
                      <a:noFill/>
                    </a:lnL>
                    <a:lnR w="1270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486046461"/>
                  </a:ext>
                </a:extLst>
              </a:tr>
              <a:tr h="574073">
                <a:tc>
                  <a:txBody>
                    <a:bodyPr/>
                    <a:lstStyle/>
                    <a:p>
                      <a:pPr marL="9525" marR="0" algn="just">
                        <a:lnSpc>
                          <a:spcPct val="150000"/>
                        </a:lnSpc>
                        <a:spcBef>
                          <a:spcPts val="0"/>
                        </a:spcBef>
                        <a:spcAft>
                          <a:spcPts val="1000"/>
                        </a:spcAft>
                        <a:tabLst>
                          <a:tab pos="1943100" algn="l"/>
                        </a:tabLst>
                      </a:pPr>
                      <a:r>
                        <a:rPr lang="en-US" sz="1400">
                          <a:solidFill>
                            <a:srgbClr val="000000"/>
                          </a:solidFill>
                          <a:effectLst/>
                          <a:latin typeface="+mn-lt"/>
                          <a:ea typeface="Times New Roman" panose="02020603050405020304" pitchFamily="18" charset="0"/>
                          <a:cs typeface="Arial" panose="020B0604020202020204" pitchFamily="34" charset="0"/>
                        </a:rPr>
                        <a:t>Age group</a:t>
                      </a:r>
                      <a:endParaRPr lang="en-US" sz="1400">
                        <a:effectLst/>
                        <a:latin typeface="+mn-lt"/>
                        <a:ea typeface="Calibri" panose="020F0502020204030204" pitchFamily="34" charset="0"/>
                        <a:cs typeface="Arial" panose="020B0604020202020204" pitchFamily="34" charset="0"/>
                      </a:endParaRPr>
                    </a:p>
                  </a:txBody>
                  <a:tcPr marL="56960" marR="56960" marT="0" marB="0">
                    <a:lnL w="1270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marL="9525" marR="0" algn="just">
                        <a:lnSpc>
                          <a:spcPct val="150000"/>
                        </a:lnSpc>
                        <a:spcBef>
                          <a:spcPts val="0"/>
                        </a:spcBef>
                        <a:spcAft>
                          <a:spcPts val="0"/>
                        </a:spcAft>
                        <a:tabLst>
                          <a:tab pos="1943100" algn="l"/>
                        </a:tabLst>
                      </a:pPr>
                      <a:r>
                        <a:rPr lang="en-US" sz="1400" dirty="0">
                          <a:solidFill>
                            <a:srgbClr val="000000"/>
                          </a:solidFill>
                          <a:effectLst/>
                          <a:latin typeface="+mn-lt"/>
                          <a:ea typeface="Times New Roman" panose="02020603050405020304" pitchFamily="18" charset="0"/>
                          <a:cs typeface="Arial" panose="020B0604020202020204" pitchFamily="34" charset="0"/>
                        </a:rPr>
                        <a:t>1.0019435</a:t>
                      </a:r>
                      <a:endParaRPr lang="en-US" sz="1400" dirty="0">
                        <a:effectLst/>
                        <a:latin typeface="+mn-lt"/>
                        <a:ea typeface="Calibri" panose="020F0502020204030204" pitchFamily="34" charset="0"/>
                        <a:cs typeface="Arial" panose="020B0604020202020204" pitchFamily="34" charset="0"/>
                      </a:endParaRPr>
                    </a:p>
                  </a:txBody>
                  <a:tcPr marL="56960" marR="56960" marT="0" marB="0">
                    <a:lnL>
                      <a:noFill/>
                    </a:lnL>
                    <a:lnR>
                      <a:noFill/>
                    </a:lnR>
                    <a:lnT>
                      <a:noFill/>
                    </a:lnT>
                    <a:lnB>
                      <a:noFill/>
                    </a:lnB>
                    <a:solidFill>
                      <a:srgbClr val="F2F2F2"/>
                    </a:solidFill>
                  </a:tcPr>
                </a:tc>
                <a:tc>
                  <a:txBody>
                    <a:bodyPr/>
                    <a:lstStyle/>
                    <a:p>
                      <a:pPr marL="0" marR="0" algn="l">
                        <a:lnSpc>
                          <a:spcPct val="115000"/>
                        </a:lnSpc>
                        <a:spcBef>
                          <a:spcPts val="0"/>
                        </a:spcBef>
                        <a:spcAft>
                          <a:spcPts val="0"/>
                        </a:spcAft>
                      </a:pPr>
                      <a:r>
                        <a:rPr lang="en-US" sz="1400">
                          <a:effectLst/>
                          <a:latin typeface="+mn-lt"/>
                          <a:ea typeface="Calibri" panose="020F0502020204030204" pitchFamily="34" charset="0"/>
                          <a:cs typeface="Arial" panose="020B0604020202020204" pitchFamily="34" charset="0"/>
                        </a:rPr>
                        <a:t>(0.62,    2.60 )</a:t>
                      </a:r>
                    </a:p>
                  </a:txBody>
                  <a:tcPr marL="56960" marR="56960" marT="0" marB="0">
                    <a:lnL>
                      <a:noFill/>
                    </a:lnL>
                    <a:lnR w="1270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167207108"/>
                  </a:ext>
                </a:extLst>
              </a:tr>
              <a:tr h="475665">
                <a:tc>
                  <a:txBody>
                    <a:bodyPr/>
                    <a:lstStyle/>
                    <a:p>
                      <a:pPr marL="9525" marR="0" algn="just">
                        <a:lnSpc>
                          <a:spcPct val="150000"/>
                        </a:lnSpc>
                        <a:spcBef>
                          <a:spcPts val="0"/>
                        </a:spcBef>
                        <a:spcAft>
                          <a:spcPts val="1000"/>
                        </a:spcAft>
                        <a:tabLst>
                          <a:tab pos="1943100" algn="l"/>
                        </a:tabLst>
                      </a:pPr>
                      <a:r>
                        <a:rPr lang="en-US" sz="1400">
                          <a:solidFill>
                            <a:srgbClr val="000000"/>
                          </a:solidFill>
                          <a:effectLst/>
                          <a:latin typeface="+mn-lt"/>
                          <a:ea typeface="Times New Roman" panose="02020603050405020304" pitchFamily="18" charset="0"/>
                          <a:cs typeface="Arial" panose="020B0604020202020204" pitchFamily="34" charset="0"/>
                        </a:rPr>
                        <a:t>Education_Status</a:t>
                      </a:r>
                      <a:endParaRPr lang="en-US" sz="1400">
                        <a:effectLst/>
                        <a:latin typeface="+mn-lt"/>
                        <a:ea typeface="Calibri" panose="020F0502020204030204" pitchFamily="34" charset="0"/>
                        <a:cs typeface="Arial" panose="020B0604020202020204" pitchFamily="34" charset="0"/>
                      </a:endParaRPr>
                    </a:p>
                  </a:txBody>
                  <a:tcPr marL="56960" marR="56960" marT="0" marB="0">
                    <a:lnL w="1270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marL="9525" marR="0" algn="just">
                        <a:lnSpc>
                          <a:spcPct val="150000"/>
                        </a:lnSpc>
                        <a:spcBef>
                          <a:spcPts val="0"/>
                        </a:spcBef>
                        <a:spcAft>
                          <a:spcPts val="0"/>
                        </a:spcAft>
                        <a:tabLst>
                          <a:tab pos="1943100" algn="l"/>
                        </a:tabLst>
                      </a:pPr>
                      <a:r>
                        <a:rPr lang="en-US" sz="1400" dirty="0">
                          <a:solidFill>
                            <a:srgbClr val="000000"/>
                          </a:solidFill>
                          <a:effectLst/>
                          <a:latin typeface="+mn-lt"/>
                          <a:ea typeface="Times New Roman" panose="02020603050405020304" pitchFamily="18" charset="0"/>
                          <a:cs typeface="Arial" panose="020B0604020202020204" pitchFamily="34" charset="0"/>
                        </a:rPr>
                        <a:t>1.093383</a:t>
                      </a:r>
                      <a:endParaRPr lang="en-US" sz="1400" dirty="0">
                        <a:effectLst/>
                        <a:latin typeface="+mn-lt"/>
                        <a:ea typeface="Calibri" panose="020F0502020204030204" pitchFamily="34" charset="0"/>
                        <a:cs typeface="Arial" panose="020B0604020202020204" pitchFamily="34" charset="0"/>
                      </a:endParaRPr>
                    </a:p>
                  </a:txBody>
                  <a:tcPr marL="56960" marR="56960" marT="0" marB="0">
                    <a:lnL>
                      <a:noFill/>
                    </a:lnL>
                    <a:lnR>
                      <a:noFill/>
                    </a:lnR>
                    <a:lnT>
                      <a:noFill/>
                    </a:lnT>
                    <a:lnB>
                      <a:noFill/>
                    </a:lnB>
                  </a:tcPr>
                </a:tc>
                <a:tc>
                  <a:txBody>
                    <a:bodyPr/>
                    <a:lstStyle/>
                    <a:p>
                      <a:pPr marL="0" marR="0" algn="l">
                        <a:lnSpc>
                          <a:spcPct val="115000"/>
                        </a:lnSpc>
                        <a:spcBef>
                          <a:spcPts val="0"/>
                        </a:spcBef>
                        <a:spcAft>
                          <a:spcPts val="0"/>
                        </a:spcAft>
                      </a:pPr>
                      <a:r>
                        <a:rPr lang="en-US" sz="1400">
                          <a:effectLst/>
                          <a:latin typeface="+mn-lt"/>
                          <a:ea typeface="Calibri" panose="020F0502020204030204" pitchFamily="34" charset="0"/>
                          <a:cs typeface="Arial" panose="020B0604020202020204" pitchFamily="34" charset="0"/>
                        </a:rPr>
                        <a:t>( 1.90,  3.15  )</a:t>
                      </a:r>
                    </a:p>
                  </a:txBody>
                  <a:tcPr marL="56960" marR="56960" marT="0" marB="0">
                    <a:lnL>
                      <a:noFill/>
                    </a:lnL>
                    <a:lnR w="1270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653839702"/>
                  </a:ext>
                </a:extLst>
              </a:tr>
              <a:tr h="541271">
                <a:tc>
                  <a:txBody>
                    <a:bodyPr/>
                    <a:lstStyle/>
                    <a:p>
                      <a:pPr marL="9525" marR="0" algn="just">
                        <a:lnSpc>
                          <a:spcPct val="150000"/>
                        </a:lnSpc>
                        <a:spcBef>
                          <a:spcPts val="0"/>
                        </a:spcBef>
                        <a:spcAft>
                          <a:spcPts val="1000"/>
                        </a:spcAft>
                        <a:tabLst>
                          <a:tab pos="1943100" algn="l"/>
                        </a:tabLst>
                      </a:pPr>
                      <a:r>
                        <a:rPr lang="en-US" sz="1400">
                          <a:solidFill>
                            <a:srgbClr val="000000"/>
                          </a:solidFill>
                          <a:effectLst/>
                          <a:latin typeface="+mn-lt"/>
                          <a:ea typeface="Times New Roman" panose="02020603050405020304" pitchFamily="18" charset="0"/>
                          <a:cs typeface="Arial" panose="020B0604020202020204" pitchFamily="34" charset="0"/>
                        </a:rPr>
                        <a:t>Geography type</a:t>
                      </a:r>
                      <a:endParaRPr lang="en-US" sz="1400">
                        <a:effectLst/>
                        <a:latin typeface="+mn-lt"/>
                        <a:ea typeface="Calibri" panose="020F0502020204030204" pitchFamily="34" charset="0"/>
                        <a:cs typeface="Arial" panose="020B0604020202020204" pitchFamily="34" charset="0"/>
                      </a:endParaRPr>
                    </a:p>
                  </a:txBody>
                  <a:tcPr marL="56960" marR="56960" marT="0" marB="0">
                    <a:lnL w="1270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marL="9525" marR="0" algn="just">
                        <a:lnSpc>
                          <a:spcPct val="150000"/>
                        </a:lnSpc>
                        <a:spcBef>
                          <a:spcPts val="0"/>
                        </a:spcBef>
                        <a:spcAft>
                          <a:spcPts val="0"/>
                        </a:spcAft>
                        <a:tabLst>
                          <a:tab pos="1943100" algn="l"/>
                        </a:tabLst>
                      </a:pPr>
                      <a:r>
                        <a:rPr lang="en-US" sz="1400">
                          <a:solidFill>
                            <a:srgbClr val="000000"/>
                          </a:solidFill>
                          <a:effectLst/>
                          <a:latin typeface="+mn-lt"/>
                          <a:ea typeface="Times New Roman" panose="02020603050405020304" pitchFamily="18" charset="0"/>
                          <a:cs typeface="Arial" panose="020B0604020202020204" pitchFamily="34" charset="0"/>
                        </a:rPr>
                        <a:t>0.9941277</a:t>
                      </a:r>
                      <a:endParaRPr lang="en-US" sz="1400">
                        <a:effectLst/>
                        <a:latin typeface="+mn-lt"/>
                        <a:ea typeface="Calibri" panose="020F0502020204030204" pitchFamily="34" charset="0"/>
                        <a:cs typeface="Arial" panose="020B0604020202020204" pitchFamily="34" charset="0"/>
                      </a:endParaRPr>
                    </a:p>
                  </a:txBody>
                  <a:tcPr marL="56960" marR="56960" marT="0" marB="0">
                    <a:lnL>
                      <a:noFill/>
                    </a:lnL>
                    <a:lnR>
                      <a:noFill/>
                    </a:lnR>
                    <a:lnT>
                      <a:noFill/>
                    </a:lnT>
                    <a:lnB>
                      <a:noFill/>
                    </a:lnB>
                    <a:solidFill>
                      <a:srgbClr val="F2F2F2"/>
                    </a:solidFill>
                  </a:tcPr>
                </a:tc>
                <a:tc>
                  <a:txBody>
                    <a:bodyPr/>
                    <a:lstStyle/>
                    <a:p>
                      <a:pPr marL="0" marR="0" algn="l">
                        <a:lnSpc>
                          <a:spcPct val="115000"/>
                        </a:lnSpc>
                        <a:spcBef>
                          <a:spcPts val="0"/>
                        </a:spcBef>
                        <a:spcAft>
                          <a:spcPts val="0"/>
                        </a:spcAft>
                      </a:pPr>
                      <a:r>
                        <a:rPr lang="en-US" sz="1400">
                          <a:effectLst/>
                          <a:latin typeface="+mn-lt"/>
                          <a:ea typeface="Calibri" panose="020F0502020204030204" pitchFamily="34" charset="0"/>
                          <a:cs typeface="Arial" panose="020B0604020202020204" pitchFamily="34" charset="0"/>
                        </a:rPr>
                        <a:t>( 0.97,   2.23 )</a:t>
                      </a:r>
                    </a:p>
                  </a:txBody>
                  <a:tcPr marL="56960" marR="56960" marT="0" marB="0">
                    <a:lnL>
                      <a:noFill/>
                    </a:lnL>
                    <a:lnR w="1270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4224267705"/>
                  </a:ext>
                </a:extLst>
              </a:tr>
              <a:tr h="508467">
                <a:tc>
                  <a:txBody>
                    <a:bodyPr/>
                    <a:lstStyle/>
                    <a:p>
                      <a:pPr marL="9525" marR="0" algn="just">
                        <a:lnSpc>
                          <a:spcPct val="150000"/>
                        </a:lnSpc>
                        <a:spcBef>
                          <a:spcPts val="0"/>
                        </a:spcBef>
                        <a:spcAft>
                          <a:spcPts val="1000"/>
                        </a:spcAft>
                        <a:tabLst>
                          <a:tab pos="1943100" algn="l"/>
                        </a:tabLst>
                      </a:pPr>
                      <a:r>
                        <a:rPr lang="en-US" sz="1400">
                          <a:solidFill>
                            <a:srgbClr val="000000"/>
                          </a:solidFill>
                          <a:effectLst/>
                          <a:latin typeface="+mn-lt"/>
                          <a:ea typeface="Times New Roman" panose="02020603050405020304" pitchFamily="18" charset="0"/>
                          <a:cs typeface="Arial" panose="020B0604020202020204" pitchFamily="34" charset="0"/>
                        </a:rPr>
                        <a:t>Province</a:t>
                      </a:r>
                      <a:endParaRPr lang="en-US" sz="1400">
                        <a:effectLst/>
                        <a:latin typeface="+mn-lt"/>
                        <a:ea typeface="Calibri" panose="020F0502020204030204" pitchFamily="34" charset="0"/>
                        <a:cs typeface="Arial" panose="020B0604020202020204" pitchFamily="34" charset="0"/>
                      </a:endParaRPr>
                    </a:p>
                  </a:txBody>
                  <a:tcPr marL="56960" marR="5696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2F2F2"/>
                    </a:solidFill>
                  </a:tcPr>
                </a:tc>
                <a:tc>
                  <a:txBody>
                    <a:bodyPr/>
                    <a:lstStyle/>
                    <a:p>
                      <a:pPr marL="9525" marR="0" algn="just">
                        <a:lnSpc>
                          <a:spcPct val="150000"/>
                        </a:lnSpc>
                        <a:spcBef>
                          <a:spcPts val="0"/>
                        </a:spcBef>
                        <a:spcAft>
                          <a:spcPts val="0"/>
                        </a:spcAft>
                        <a:tabLst>
                          <a:tab pos="1943100" algn="l"/>
                        </a:tabLst>
                      </a:pPr>
                      <a:r>
                        <a:rPr lang="en-US" sz="1400">
                          <a:solidFill>
                            <a:srgbClr val="000000"/>
                          </a:solidFill>
                          <a:effectLst/>
                          <a:latin typeface="+mn-lt"/>
                          <a:ea typeface="Times New Roman" panose="02020603050405020304" pitchFamily="18" charset="0"/>
                          <a:cs typeface="Arial" panose="020B0604020202020204" pitchFamily="34" charset="0"/>
                        </a:rPr>
                        <a:t>1.202056</a:t>
                      </a:r>
                      <a:endParaRPr lang="en-US" sz="1400">
                        <a:effectLst/>
                        <a:latin typeface="+mn-lt"/>
                        <a:ea typeface="Calibri" panose="020F0502020204030204" pitchFamily="34" charset="0"/>
                        <a:cs typeface="Arial" panose="020B0604020202020204" pitchFamily="34" charset="0"/>
                      </a:endParaRPr>
                    </a:p>
                  </a:txBody>
                  <a:tcPr marL="56960" marR="5696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400" dirty="0">
                          <a:effectLst/>
                          <a:latin typeface="+mn-lt"/>
                          <a:ea typeface="Calibri" panose="020F0502020204030204" pitchFamily="34" charset="0"/>
                          <a:cs typeface="Arial" panose="020B0604020202020204" pitchFamily="34" charset="0"/>
                        </a:rPr>
                        <a:t>(1.22,   5.36 )</a:t>
                      </a:r>
                    </a:p>
                  </a:txBody>
                  <a:tcPr marL="56960" marR="5696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364643675"/>
                  </a:ext>
                </a:extLst>
              </a:tr>
            </a:tbl>
          </a:graphicData>
        </a:graphic>
      </p:graphicFrame>
      <p:sp>
        <p:nvSpPr>
          <p:cNvPr id="5" name="Date Placeholder 4"/>
          <p:cNvSpPr>
            <a:spLocks noGrp="1"/>
          </p:cNvSpPr>
          <p:nvPr>
            <p:ph type="dt" sz="half" idx="10"/>
          </p:nvPr>
        </p:nvSpPr>
        <p:spPr/>
        <p:txBody>
          <a:bodyPr/>
          <a:lstStyle/>
          <a:p>
            <a:fld id="{11E5B0A7-0E05-4A59-9704-66249F2DB4B6}" type="datetime3">
              <a:rPr lang="en-ZA" smtClean="0"/>
              <a:t>5 March 2026</a:t>
            </a:fld>
            <a:endParaRPr lang="en-ZA" dirty="0"/>
          </a:p>
        </p:txBody>
      </p:sp>
      <p:sp>
        <p:nvSpPr>
          <p:cNvPr id="6" name="Footer Placeholder 5"/>
          <p:cNvSpPr>
            <a:spLocks noGrp="1"/>
          </p:cNvSpPr>
          <p:nvPr>
            <p:ph type="ftr" sz="quarter" idx="11"/>
          </p:nvPr>
        </p:nvSpPr>
        <p:spPr/>
        <p:txBody>
          <a:bodyPr/>
          <a:lstStyle/>
          <a:p>
            <a:endParaRPr lang="en-ZA"/>
          </a:p>
          <a:p>
            <a:r>
              <a:rPr lang="en-ZA"/>
              <a:t>Department of Mathematics &amp; Physics</a:t>
            </a:r>
            <a:endParaRPr lang="en-ZA" dirty="0"/>
          </a:p>
        </p:txBody>
      </p:sp>
      <p:sp>
        <p:nvSpPr>
          <p:cNvPr id="7" name="Slide Number Placeholder 6"/>
          <p:cNvSpPr>
            <a:spLocks noGrp="1"/>
          </p:cNvSpPr>
          <p:nvPr>
            <p:ph type="sldNum" sz="quarter" idx="12"/>
          </p:nvPr>
        </p:nvSpPr>
        <p:spPr/>
        <p:txBody>
          <a:bodyPr/>
          <a:lstStyle/>
          <a:p>
            <a:fld id="{FCDC5D13-0321-4383-81EA-F2073319DF27}" type="slidenum">
              <a:rPr lang="en-ZA" smtClean="0"/>
              <a:pPr/>
              <a:t>18</a:t>
            </a:fld>
            <a:endParaRPr lang="en-ZA" dirty="0"/>
          </a:p>
        </p:txBody>
      </p:sp>
      <p:sp>
        <p:nvSpPr>
          <p:cNvPr id="9" name="Rectangle 8"/>
          <p:cNvSpPr/>
          <p:nvPr/>
        </p:nvSpPr>
        <p:spPr>
          <a:xfrm>
            <a:off x="1307367" y="533241"/>
            <a:ext cx="5798532" cy="369332"/>
          </a:xfrm>
          <a:prstGeom prst="rect">
            <a:avLst/>
          </a:prstGeom>
        </p:spPr>
        <p:txBody>
          <a:bodyPr wrap="square">
            <a:spAutoFit/>
          </a:bodyPr>
          <a:lstStyle/>
          <a:p>
            <a:r>
              <a:rPr lang="en-US" sz="1600" b="1" i="1"/>
              <a:t>Table 1.3 </a:t>
            </a:r>
            <a:r>
              <a:rPr lang="en-US"/>
              <a:t>Display of Odd Ratio from logistic coefficient </a:t>
            </a:r>
            <a:endParaRPr lang="en-US" dirty="0"/>
          </a:p>
        </p:txBody>
      </p:sp>
    </p:spTree>
    <p:extLst>
      <p:ext uri="{BB962C8B-B14F-4D97-AF65-F5344CB8AC3E}">
        <p14:creationId xmlns:p14="http://schemas.microsoft.com/office/powerpoint/2010/main" val="57793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F563D0-5C16-C68A-0376-A8240D378EB0}"/>
              </a:ext>
            </a:extLst>
          </p:cNvPr>
          <p:cNvSpPr>
            <a:spLocks noGrp="1"/>
          </p:cNvSpPr>
          <p:nvPr>
            <p:ph type="dt" sz="half" idx="10"/>
          </p:nvPr>
        </p:nvSpPr>
        <p:spPr/>
        <p:txBody>
          <a:bodyPr/>
          <a:lstStyle/>
          <a:p>
            <a:fld id="{5065A318-0514-4A73-AF9E-6FD7E8DE28C5}" type="datetime3">
              <a:rPr lang="en-ZA" smtClean="0"/>
              <a:t>5 March 2026</a:t>
            </a:fld>
            <a:endParaRPr lang="en-ZA" dirty="0"/>
          </a:p>
        </p:txBody>
      </p:sp>
      <p:sp>
        <p:nvSpPr>
          <p:cNvPr id="3" name="Footer Placeholder 2">
            <a:extLst>
              <a:ext uri="{FF2B5EF4-FFF2-40B4-BE49-F238E27FC236}">
                <a16:creationId xmlns:a16="http://schemas.microsoft.com/office/drawing/2014/main" id="{B7B0480F-6B1C-9E65-D948-ADED5D59A610}"/>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4" name="Slide Number Placeholder 3">
            <a:extLst>
              <a:ext uri="{FF2B5EF4-FFF2-40B4-BE49-F238E27FC236}">
                <a16:creationId xmlns:a16="http://schemas.microsoft.com/office/drawing/2014/main" id="{F0FC2429-8977-BBE0-0187-240F1134900A}"/>
              </a:ext>
            </a:extLst>
          </p:cNvPr>
          <p:cNvSpPr>
            <a:spLocks noGrp="1"/>
          </p:cNvSpPr>
          <p:nvPr>
            <p:ph type="sldNum" sz="quarter" idx="12"/>
          </p:nvPr>
        </p:nvSpPr>
        <p:spPr/>
        <p:txBody>
          <a:bodyPr/>
          <a:lstStyle/>
          <a:p>
            <a:fld id="{FCDC5D13-0321-4383-81EA-F2073319DF27}" type="slidenum">
              <a:rPr lang="en-ZA" smtClean="0"/>
              <a:pPr/>
              <a:t>19</a:t>
            </a:fld>
            <a:endParaRPr lang="en-ZA" dirty="0"/>
          </a:p>
        </p:txBody>
      </p:sp>
      <p:sp>
        <p:nvSpPr>
          <p:cNvPr id="5" name="Rectangle 4">
            <a:extLst>
              <a:ext uri="{FF2B5EF4-FFF2-40B4-BE49-F238E27FC236}">
                <a16:creationId xmlns:a16="http://schemas.microsoft.com/office/drawing/2014/main" id="{53DE91CE-2DD3-80FF-FFEB-CD7FB74C86DC}"/>
              </a:ext>
            </a:extLst>
          </p:cNvPr>
          <p:cNvSpPr/>
          <p:nvPr/>
        </p:nvSpPr>
        <p:spPr>
          <a:xfrm>
            <a:off x="1307367" y="533241"/>
            <a:ext cx="5798532" cy="338554"/>
          </a:xfrm>
          <a:prstGeom prst="rect">
            <a:avLst/>
          </a:prstGeom>
        </p:spPr>
        <p:txBody>
          <a:bodyPr wrap="square">
            <a:spAutoFit/>
          </a:bodyPr>
          <a:lstStyle/>
          <a:p>
            <a:r>
              <a:rPr lang="en-US" sz="1600" b="1" i="1" dirty="0"/>
              <a:t>Table 1.4 Informal employment descriptive statistics</a:t>
            </a:r>
            <a:endParaRPr lang="en-US" dirty="0"/>
          </a:p>
        </p:txBody>
      </p:sp>
      <p:graphicFrame>
        <p:nvGraphicFramePr>
          <p:cNvPr id="6" name="Table 5">
            <a:extLst>
              <a:ext uri="{FF2B5EF4-FFF2-40B4-BE49-F238E27FC236}">
                <a16:creationId xmlns:a16="http://schemas.microsoft.com/office/drawing/2014/main" id="{29F0EF59-4969-8F68-3EA7-D75110BAA4D9}"/>
              </a:ext>
            </a:extLst>
          </p:cNvPr>
          <p:cNvGraphicFramePr>
            <a:graphicFrameLocks noGrp="1"/>
          </p:cNvGraphicFramePr>
          <p:nvPr>
            <p:extLst>
              <p:ext uri="{D42A27DB-BD31-4B8C-83A1-F6EECF244321}">
                <p14:modId xmlns:p14="http://schemas.microsoft.com/office/powerpoint/2010/main" val="3962643"/>
              </p:ext>
            </p:extLst>
          </p:nvPr>
        </p:nvGraphicFramePr>
        <p:xfrm>
          <a:off x="1366634" y="1017385"/>
          <a:ext cx="8285365" cy="3817081"/>
        </p:xfrm>
        <a:graphic>
          <a:graphicData uri="http://schemas.openxmlformats.org/drawingml/2006/table">
            <a:tbl>
              <a:tblPr firstRow="1" bandRow="1">
                <a:tableStyleId>{16D9F66E-5EB9-4882-86FB-DCBF35E3C3E4}</a:tableStyleId>
              </a:tblPr>
              <a:tblGrid>
                <a:gridCol w="2010927">
                  <a:extLst>
                    <a:ext uri="{9D8B030D-6E8A-4147-A177-3AD203B41FA5}">
                      <a16:colId xmlns:a16="http://schemas.microsoft.com/office/drawing/2014/main" val="1502406333"/>
                    </a:ext>
                  </a:extLst>
                </a:gridCol>
                <a:gridCol w="2459718">
                  <a:extLst>
                    <a:ext uri="{9D8B030D-6E8A-4147-A177-3AD203B41FA5}">
                      <a16:colId xmlns:a16="http://schemas.microsoft.com/office/drawing/2014/main" val="3726716115"/>
                    </a:ext>
                  </a:extLst>
                </a:gridCol>
                <a:gridCol w="1743379">
                  <a:extLst>
                    <a:ext uri="{9D8B030D-6E8A-4147-A177-3AD203B41FA5}">
                      <a16:colId xmlns:a16="http://schemas.microsoft.com/office/drawing/2014/main" val="1583127835"/>
                    </a:ext>
                  </a:extLst>
                </a:gridCol>
                <a:gridCol w="2071341">
                  <a:extLst>
                    <a:ext uri="{9D8B030D-6E8A-4147-A177-3AD203B41FA5}">
                      <a16:colId xmlns:a16="http://schemas.microsoft.com/office/drawing/2014/main" val="2182394872"/>
                    </a:ext>
                  </a:extLst>
                </a:gridCol>
              </a:tblGrid>
              <a:tr h="860055">
                <a:tc>
                  <a:txBody>
                    <a:bodyPr/>
                    <a:lstStyle/>
                    <a:p>
                      <a:pPr algn="ctr"/>
                      <a:r>
                        <a:rPr lang="en-US" b="0" dirty="0"/>
                        <a:t>Value</a:t>
                      </a:r>
                      <a:endParaRPr lang="en-ZA" b="0" dirty="0"/>
                    </a:p>
                  </a:txBody>
                  <a:tcPr anchor="ctr">
                    <a:lnB w="12700" cap="flat" cmpd="sng" algn="ctr">
                      <a:solidFill>
                        <a:schemeClr val="tx1"/>
                      </a:solidFill>
                      <a:prstDash val="solid"/>
                      <a:round/>
                      <a:headEnd type="none" w="med" len="med"/>
                      <a:tailEnd type="none" w="med" len="med"/>
                    </a:lnB>
                  </a:tcPr>
                </a:tc>
                <a:tc>
                  <a:txBody>
                    <a:bodyPr/>
                    <a:lstStyle/>
                    <a:p>
                      <a:pPr algn="ctr"/>
                      <a:r>
                        <a:rPr lang="en-US" b="0" dirty="0"/>
                        <a:t>Label</a:t>
                      </a:r>
                      <a:endParaRPr lang="en-ZA" b="0" dirty="0"/>
                    </a:p>
                  </a:txBody>
                  <a:tcPr anchor="ctr">
                    <a:lnB w="12700" cap="flat" cmpd="sng" algn="ctr">
                      <a:solidFill>
                        <a:schemeClr val="tx1"/>
                      </a:solidFill>
                      <a:prstDash val="solid"/>
                      <a:round/>
                      <a:headEnd type="none" w="med" len="med"/>
                      <a:tailEnd type="none" w="med" len="med"/>
                    </a:lnB>
                  </a:tcPr>
                </a:tc>
                <a:tc>
                  <a:txBody>
                    <a:bodyPr/>
                    <a:lstStyle/>
                    <a:p>
                      <a:pPr algn="ctr"/>
                      <a:r>
                        <a:rPr lang="en-US" b="0" dirty="0"/>
                        <a:t>n</a:t>
                      </a:r>
                      <a:endParaRPr lang="en-ZA" b="0" dirty="0"/>
                    </a:p>
                  </a:txBody>
                  <a:tcPr anchor="ctr">
                    <a:lnB w="12700" cap="flat" cmpd="sng" algn="ctr">
                      <a:solidFill>
                        <a:schemeClr val="tx1"/>
                      </a:solidFill>
                      <a:prstDash val="solid"/>
                      <a:round/>
                      <a:headEnd type="none" w="med" len="med"/>
                      <a:tailEnd type="none" w="med" len="med"/>
                    </a:lnB>
                  </a:tcPr>
                </a:tc>
                <a:tc>
                  <a:txBody>
                    <a:bodyPr/>
                    <a:lstStyle/>
                    <a:p>
                      <a:r>
                        <a:rPr lang="en-US" sz="2000" b="0" dirty="0"/>
                        <a:t>Percentage %</a:t>
                      </a:r>
                      <a:endParaRPr lang="en-ZA" sz="2000" b="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6752549"/>
                  </a:ext>
                </a:extLst>
              </a:tr>
              <a:tr h="1369232">
                <a:tc>
                  <a:txBody>
                    <a:bodyPr/>
                    <a:lstStyle/>
                    <a:p>
                      <a:pPr algn="ctr"/>
                      <a:r>
                        <a:rPr lang="en-US" dirty="0"/>
                        <a:t>0</a:t>
                      </a:r>
                      <a:endParaRPr lang="en-ZA" dirty="0"/>
                    </a:p>
                  </a:txBody>
                  <a:tcPr anchor="ctr">
                    <a:lnT w="12700" cap="flat" cmpd="sng" algn="ctr">
                      <a:solidFill>
                        <a:schemeClr val="tx1"/>
                      </a:solidFill>
                      <a:prstDash val="solid"/>
                      <a:round/>
                      <a:headEnd type="none" w="med" len="med"/>
                      <a:tailEnd type="none" w="med" len="med"/>
                    </a:lnT>
                  </a:tcPr>
                </a:tc>
                <a:tc>
                  <a:txBody>
                    <a:bodyPr/>
                    <a:lstStyle/>
                    <a:p>
                      <a:r>
                        <a:rPr lang="en-US" dirty="0"/>
                        <a:t>Informal employment</a:t>
                      </a:r>
                      <a:endParaRPr lang="en-ZA" dirty="0"/>
                    </a:p>
                  </a:txBody>
                  <a:tcPr anchor="ctr">
                    <a:lnT w="12700" cap="flat" cmpd="sng" algn="ctr">
                      <a:solidFill>
                        <a:schemeClr val="tx1"/>
                      </a:solidFill>
                      <a:prstDash val="solid"/>
                      <a:round/>
                      <a:headEnd type="none" w="med" len="med"/>
                      <a:tailEnd type="none" w="med" len="med"/>
                    </a:lnT>
                  </a:tcPr>
                </a:tc>
                <a:tc>
                  <a:txBody>
                    <a:bodyPr/>
                    <a:lstStyle/>
                    <a:p>
                      <a:pPr algn="ctr"/>
                      <a:r>
                        <a:rPr lang="en-US" dirty="0"/>
                        <a:t>5181</a:t>
                      </a:r>
                      <a:endParaRPr lang="en-ZA" dirty="0"/>
                    </a:p>
                  </a:txBody>
                  <a:tcPr anchor="ctr">
                    <a:lnT w="12700" cap="flat" cmpd="sng" algn="ctr">
                      <a:solidFill>
                        <a:schemeClr val="tx1"/>
                      </a:solidFill>
                      <a:prstDash val="solid"/>
                      <a:round/>
                      <a:headEnd type="none" w="med" len="med"/>
                      <a:tailEnd type="none" w="med" len="med"/>
                    </a:lnT>
                  </a:tcPr>
                </a:tc>
                <a:tc>
                  <a:txBody>
                    <a:bodyPr/>
                    <a:lstStyle/>
                    <a:p>
                      <a:pPr algn="ctr"/>
                      <a:r>
                        <a:rPr lang="en-US" dirty="0"/>
                        <a:t>31,12</a:t>
                      </a:r>
                      <a:endParaRPr lang="en-ZA"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178505705"/>
                  </a:ext>
                </a:extLst>
              </a:tr>
              <a:tr h="793897">
                <a:tc>
                  <a:txBody>
                    <a:bodyPr/>
                    <a:lstStyle/>
                    <a:p>
                      <a:pPr algn="ctr"/>
                      <a:r>
                        <a:rPr lang="en-US" dirty="0"/>
                        <a:t>1</a:t>
                      </a:r>
                      <a:endParaRPr lang="en-ZA" dirty="0"/>
                    </a:p>
                  </a:txBody>
                  <a:tcPr anchor="ctr"/>
                </a:tc>
                <a:tc>
                  <a:txBody>
                    <a:bodyPr/>
                    <a:lstStyle/>
                    <a:p>
                      <a:r>
                        <a:rPr lang="en-US" dirty="0"/>
                        <a:t>Formal employment</a:t>
                      </a:r>
                      <a:endParaRPr lang="en-ZA" dirty="0"/>
                    </a:p>
                  </a:txBody>
                  <a:tcPr/>
                </a:tc>
                <a:tc>
                  <a:txBody>
                    <a:bodyPr/>
                    <a:lstStyle/>
                    <a:p>
                      <a:pPr algn="ctr"/>
                      <a:r>
                        <a:rPr lang="en-US" dirty="0"/>
                        <a:t>11468</a:t>
                      </a:r>
                      <a:endParaRPr lang="en-ZA" dirty="0"/>
                    </a:p>
                  </a:txBody>
                  <a:tcPr anchor="ctr"/>
                </a:tc>
                <a:tc>
                  <a:txBody>
                    <a:bodyPr/>
                    <a:lstStyle/>
                    <a:p>
                      <a:pPr algn="ctr"/>
                      <a:r>
                        <a:rPr lang="en-US" dirty="0"/>
                        <a:t>68,88</a:t>
                      </a:r>
                      <a:endParaRPr lang="en-ZA" dirty="0"/>
                    </a:p>
                  </a:txBody>
                  <a:tcPr anchor="ctr"/>
                </a:tc>
                <a:extLst>
                  <a:ext uri="{0D108BD9-81ED-4DB2-BD59-A6C34878D82A}">
                    <a16:rowId xmlns:a16="http://schemas.microsoft.com/office/drawing/2014/main" val="3087196862"/>
                  </a:ext>
                </a:extLst>
              </a:tr>
              <a:tr h="793897">
                <a:tc>
                  <a:txBody>
                    <a:bodyPr/>
                    <a:lstStyle/>
                    <a:p>
                      <a:pPr algn="ctr"/>
                      <a:r>
                        <a:rPr lang="en-US" dirty="0"/>
                        <a:t>Total</a:t>
                      </a:r>
                      <a:endParaRPr lang="en-ZA" dirty="0"/>
                    </a:p>
                  </a:txBody>
                  <a:tcPr/>
                </a:tc>
                <a:tc>
                  <a:txBody>
                    <a:bodyPr/>
                    <a:lstStyle/>
                    <a:p>
                      <a:r>
                        <a:rPr lang="en-US" dirty="0"/>
                        <a:t>Employed</a:t>
                      </a:r>
                      <a:endParaRPr lang="en-ZA" dirty="0"/>
                    </a:p>
                  </a:txBody>
                  <a:tcPr/>
                </a:tc>
                <a:tc>
                  <a:txBody>
                    <a:bodyPr/>
                    <a:lstStyle/>
                    <a:p>
                      <a:pPr algn="ctr"/>
                      <a:r>
                        <a:rPr lang="en-US" dirty="0"/>
                        <a:t>16649</a:t>
                      </a:r>
                      <a:endParaRPr lang="en-ZA" dirty="0"/>
                    </a:p>
                  </a:txBody>
                  <a:tcPr anchor="ctr"/>
                </a:tc>
                <a:tc>
                  <a:txBody>
                    <a:bodyPr/>
                    <a:lstStyle/>
                    <a:p>
                      <a:pPr algn="ctr"/>
                      <a:r>
                        <a:rPr lang="en-US" dirty="0"/>
                        <a:t>100</a:t>
                      </a:r>
                      <a:endParaRPr lang="en-ZA" dirty="0"/>
                    </a:p>
                  </a:txBody>
                  <a:tcPr anchor="ctr"/>
                </a:tc>
                <a:extLst>
                  <a:ext uri="{0D108BD9-81ED-4DB2-BD59-A6C34878D82A}">
                    <a16:rowId xmlns:a16="http://schemas.microsoft.com/office/drawing/2014/main" val="270277832"/>
                  </a:ext>
                </a:extLst>
              </a:tr>
            </a:tbl>
          </a:graphicData>
        </a:graphic>
      </p:graphicFrame>
    </p:spTree>
    <p:extLst>
      <p:ext uri="{BB962C8B-B14F-4D97-AF65-F5344CB8AC3E}">
        <p14:creationId xmlns:p14="http://schemas.microsoft.com/office/powerpoint/2010/main" val="1336643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5BE885-0A42-6D38-01F3-E280CFB9CF1A}"/>
              </a:ext>
            </a:extLst>
          </p:cNvPr>
          <p:cNvSpPr>
            <a:spLocks noGrp="1"/>
          </p:cNvSpPr>
          <p:nvPr>
            <p:ph type="dt" sz="half" idx="10"/>
          </p:nvPr>
        </p:nvSpPr>
        <p:spPr/>
        <p:txBody>
          <a:bodyPr/>
          <a:lstStyle/>
          <a:p>
            <a:fld id="{5065A318-0514-4A73-AF9E-6FD7E8DE28C5}" type="datetime3">
              <a:rPr lang="en-ZA" smtClean="0"/>
              <a:t>5 March 2026</a:t>
            </a:fld>
            <a:endParaRPr lang="en-ZA" dirty="0"/>
          </a:p>
        </p:txBody>
      </p:sp>
      <p:sp>
        <p:nvSpPr>
          <p:cNvPr id="3" name="Footer Placeholder 2">
            <a:extLst>
              <a:ext uri="{FF2B5EF4-FFF2-40B4-BE49-F238E27FC236}">
                <a16:creationId xmlns:a16="http://schemas.microsoft.com/office/drawing/2014/main" id="{223EE5F1-4B05-5D11-8AFE-8591F497EDCE}"/>
              </a:ext>
            </a:extLst>
          </p:cNvPr>
          <p:cNvSpPr>
            <a:spLocks noGrp="1"/>
          </p:cNvSpPr>
          <p:nvPr>
            <p:ph type="ftr" sz="quarter" idx="11"/>
          </p:nvPr>
        </p:nvSpPr>
        <p:spPr/>
        <p:txBody>
          <a:bodyPr/>
          <a:lstStyle/>
          <a:p>
            <a:endParaRPr lang="en-ZA"/>
          </a:p>
          <a:p>
            <a:r>
              <a:rPr lang="en-ZA" dirty="0"/>
              <a:t>Department of Mathematics &amp; Physics</a:t>
            </a:r>
          </a:p>
        </p:txBody>
      </p:sp>
      <p:sp>
        <p:nvSpPr>
          <p:cNvPr id="4" name="Slide Number Placeholder 3">
            <a:extLst>
              <a:ext uri="{FF2B5EF4-FFF2-40B4-BE49-F238E27FC236}">
                <a16:creationId xmlns:a16="http://schemas.microsoft.com/office/drawing/2014/main" id="{7CAA9C97-370C-4AD3-87BC-E976DAF87A7A}"/>
              </a:ext>
            </a:extLst>
          </p:cNvPr>
          <p:cNvSpPr>
            <a:spLocks noGrp="1"/>
          </p:cNvSpPr>
          <p:nvPr>
            <p:ph type="sldNum" sz="quarter" idx="12"/>
          </p:nvPr>
        </p:nvSpPr>
        <p:spPr/>
        <p:txBody>
          <a:bodyPr/>
          <a:lstStyle/>
          <a:p>
            <a:fld id="{FCDC5D13-0321-4383-81EA-F2073319DF27}" type="slidenum">
              <a:rPr lang="en-ZA" smtClean="0"/>
              <a:pPr/>
              <a:t>20</a:t>
            </a:fld>
            <a:endParaRPr lang="en-ZA" dirty="0"/>
          </a:p>
        </p:txBody>
      </p:sp>
      <p:pic>
        <p:nvPicPr>
          <p:cNvPr id="10" name="Picture 9">
            <a:extLst>
              <a:ext uri="{FF2B5EF4-FFF2-40B4-BE49-F238E27FC236}">
                <a16:creationId xmlns:a16="http://schemas.microsoft.com/office/drawing/2014/main" id="{8619B738-6F87-DB0C-1FEA-DB7DA689EFD9}"/>
              </a:ext>
            </a:extLst>
          </p:cNvPr>
          <p:cNvPicPr>
            <a:picLocks noChangeAspect="1"/>
          </p:cNvPicPr>
          <p:nvPr/>
        </p:nvPicPr>
        <p:blipFill>
          <a:blip r:embed="rId3"/>
          <a:stretch>
            <a:fillRect/>
          </a:stretch>
        </p:blipFill>
        <p:spPr>
          <a:xfrm>
            <a:off x="1399523" y="857714"/>
            <a:ext cx="8605977" cy="47071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9" name="Table 8">
            <a:extLst>
              <a:ext uri="{FF2B5EF4-FFF2-40B4-BE49-F238E27FC236}">
                <a16:creationId xmlns:a16="http://schemas.microsoft.com/office/drawing/2014/main" id="{F623103A-15D4-F413-00E0-247E2A4A1C05}"/>
              </a:ext>
            </a:extLst>
          </p:cNvPr>
          <p:cNvGraphicFramePr>
            <a:graphicFrameLocks noGrp="1"/>
          </p:cNvGraphicFramePr>
          <p:nvPr>
            <p:extLst>
              <p:ext uri="{D42A27DB-BD31-4B8C-83A1-F6EECF244321}">
                <p14:modId xmlns:p14="http://schemas.microsoft.com/office/powerpoint/2010/main" val="2897308605"/>
              </p:ext>
            </p:extLst>
          </p:nvPr>
        </p:nvGraphicFramePr>
        <p:xfrm>
          <a:off x="1399523" y="5665405"/>
          <a:ext cx="7097658" cy="467691"/>
        </p:xfrm>
        <a:graphic>
          <a:graphicData uri="http://schemas.openxmlformats.org/drawingml/2006/table">
            <a:tbl>
              <a:tblPr>
                <a:tableStyleId>{2D5ABB26-0587-4C30-8999-92F81FD0307C}</a:tableStyleId>
              </a:tblPr>
              <a:tblGrid>
                <a:gridCol w="7097658">
                  <a:extLst>
                    <a:ext uri="{9D8B030D-6E8A-4147-A177-3AD203B41FA5}">
                      <a16:colId xmlns:a16="http://schemas.microsoft.com/office/drawing/2014/main" val="500599182"/>
                    </a:ext>
                  </a:extLst>
                </a:gridCol>
              </a:tblGrid>
              <a:tr h="467691">
                <a:tc>
                  <a:txBody>
                    <a:bodyPr/>
                    <a:lstStyle/>
                    <a:p>
                      <a:pPr algn="l"/>
                      <a:r>
                        <a:rPr lang="en-ZA" sz="1400" b="1" i="1" dirty="0"/>
                        <a:t>Figure 1.1 </a:t>
                      </a:r>
                      <a:r>
                        <a:rPr lang="en-ZA" sz="1400" b="0" i="1" dirty="0"/>
                        <a:t>Relationship of Province and employment  status in South Africa</a:t>
                      </a:r>
                    </a:p>
                  </a:txBody>
                  <a:tcPr/>
                </a:tc>
                <a:extLst>
                  <a:ext uri="{0D108BD9-81ED-4DB2-BD59-A6C34878D82A}">
                    <a16:rowId xmlns:a16="http://schemas.microsoft.com/office/drawing/2014/main" val="3672680739"/>
                  </a:ext>
                </a:extLst>
              </a:tr>
            </a:tbl>
          </a:graphicData>
        </a:graphic>
      </p:graphicFrame>
      <p:graphicFrame>
        <p:nvGraphicFramePr>
          <p:cNvPr id="11" name="Table 10">
            <a:extLst>
              <a:ext uri="{FF2B5EF4-FFF2-40B4-BE49-F238E27FC236}">
                <a16:creationId xmlns:a16="http://schemas.microsoft.com/office/drawing/2014/main" id="{F623103A-15D4-F413-00E0-247E2A4A1C05}"/>
              </a:ext>
            </a:extLst>
          </p:cNvPr>
          <p:cNvGraphicFramePr>
            <a:graphicFrameLocks noGrp="1"/>
          </p:cNvGraphicFramePr>
          <p:nvPr>
            <p:extLst>
              <p:ext uri="{D42A27DB-BD31-4B8C-83A1-F6EECF244321}">
                <p14:modId xmlns:p14="http://schemas.microsoft.com/office/powerpoint/2010/main" val="3368246098"/>
              </p:ext>
            </p:extLst>
          </p:nvPr>
        </p:nvGraphicFramePr>
        <p:xfrm>
          <a:off x="1399522" y="286910"/>
          <a:ext cx="8779790" cy="467691"/>
        </p:xfrm>
        <a:graphic>
          <a:graphicData uri="http://schemas.openxmlformats.org/drawingml/2006/table">
            <a:tbl>
              <a:tblPr>
                <a:tableStyleId>{2D5ABB26-0587-4C30-8999-92F81FD0307C}</a:tableStyleId>
              </a:tblPr>
              <a:tblGrid>
                <a:gridCol w="8779790">
                  <a:extLst>
                    <a:ext uri="{9D8B030D-6E8A-4147-A177-3AD203B41FA5}">
                      <a16:colId xmlns:a16="http://schemas.microsoft.com/office/drawing/2014/main" val="500599182"/>
                    </a:ext>
                  </a:extLst>
                </a:gridCol>
              </a:tblGrid>
              <a:tr h="467691">
                <a:tc>
                  <a:txBody>
                    <a:bodyPr/>
                    <a:lstStyle/>
                    <a:p>
                      <a:r>
                        <a:rPr lang="en-ZA" sz="1800" b="1" i="0" dirty="0"/>
                        <a:t>Bar graph</a:t>
                      </a:r>
                      <a:r>
                        <a:rPr lang="en-ZA" sz="1800" b="1" i="0" baseline="0" dirty="0"/>
                        <a:t> of the relationship of employment status by provinces in South Africa</a:t>
                      </a:r>
                      <a:endParaRPr lang="en-ZA" sz="1800" b="1" i="0" dirty="0"/>
                    </a:p>
                  </a:txBody>
                  <a:tcPr/>
                </a:tc>
                <a:extLst>
                  <a:ext uri="{0D108BD9-81ED-4DB2-BD59-A6C34878D82A}">
                    <a16:rowId xmlns:a16="http://schemas.microsoft.com/office/drawing/2014/main" val="3672680739"/>
                  </a:ext>
                </a:extLst>
              </a:tr>
            </a:tbl>
          </a:graphicData>
        </a:graphic>
      </p:graphicFrame>
    </p:spTree>
    <p:extLst>
      <p:ext uri="{BB962C8B-B14F-4D97-AF65-F5344CB8AC3E}">
        <p14:creationId xmlns:p14="http://schemas.microsoft.com/office/powerpoint/2010/main" val="1381110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D3054A-42A1-F0B8-D588-D5E24C2A2B08}"/>
              </a:ext>
            </a:extLst>
          </p:cNvPr>
          <p:cNvSpPr>
            <a:spLocks noGrp="1"/>
          </p:cNvSpPr>
          <p:nvPr>
            <p:ph type="dt" sz="half" idx="10"/>
          </p:nvPr>
        </p:nvSpPr>
        <p:spPr/>
        <p:txBody>
          <a:bodyPr/>
          <a:lstStyle/>
          <a:p>
            <a:fld id="{5065A318-0514-4A73-AF9E-6FD7E8DE28C5}" type="datetime3">
              <a:rPr lang="en-ZA" smtClean="0"/>
              <a:t>5 March 2026</a:t>
            </a:fld>
            <a:endParaRPr lang="en-ZA" dirty="0"/>
          </a:p>
        </p:txBody>
      </p:sp>
      <p:sp>
        <p:nvSpPr>
          <p:cNvPr id="3" name="Footer Placeholder 2">
            <a:extLst>
              <a:ext uri="{FF2B5EF4-FFF2-40B4-BE49-F238E27FC236}">
                <a16:creationId xmlns:a16="http://schemas.microsoft.com/office/drawing/2014/main" id="{F9C048DB-9346-D776-EF54-A55D1D319446}"/>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4" name="Slide Number Placeholder 3">
            <a:extLst>
              <a:ext uri="{FF2B5EF4-FFF2-40B4-BE49-F238E27FC236}">
                <a16:creationId xmlns:a16="http://schemas.microsoft.com/office/drawing/2014/main" id="{7C0EF743-4BA9-58C2-D08C-F9DA188C7665}"/>
              </a:ext>
            </a:extLst>
          </p:cNvPr>
          <p:cNvSpPr>
            <a:spLocks noGrp="1"/>
          </p:cNvSpPr>
          <p:nvPr>
            <p:ph type="sldNum" sz="quarter" idx="12"/>
          </p:nvPr>
        </p:nvSpPr>
        <p:spPr/>
        <p:txBody>
          <a:bodyPr/>
          <a:lstStyle/>
          <a:p>
            <a:fld id="{FCDC5D13-0321-4383-81EA-F2073319DF27}" type="slidenum">
              <a:rPr lang="en-ZA" smtClean="0"/>
              <a:pPr/>
              <a:t>21</a:t>
            </a:fld>
            <a:endParaRPr lang="en-ZA" dirty="0"/>
          </a:p>
        </p:txBody>
      </p:sp>
      <p:graphicFrame>
        <p:nvGraphicFramePr>
          <p:cNvPr id="7" name="Table 6">
            <a:extLst>
              <a:ext uri="{FF2B5EF4-FFF2-40B4-BE49-F238E27FC236}">
                <a16:creationId xmlns:a16="http://schemas.microsoft.com/office/drawing/2014/main" id="{F623103A-15D4-F413-00E0-247E2A4A1C05}"/>
              </a:ext>
            </a:extLst>
          </p:cNvPr>
          <p:cNvGraphicFramePr>
            <a:graphicFrameLocks noGrp="1"/>
          </p:cNvGraphicFramePr>
          <p:nvPr>
            <p:extLst>
              <p:ext uri="{D42A27DB-BD31-4B8C-83A1-F6EECF244321}">
                <p14:modId xmlns:p14="http://schemas.microsoft.com/office/powerpoint/2010/main" val="2296946661"/>
              </p:ext>
            </p:extLst>
          </p:nvPr>
        </p:nvGraphicFramePr>
        <p:xfrm>
          <a:off x="1109272" y="5690389"/>
          <a:ext cx="7097658" cy="467691"/>
        </p:xfrm>
        <a:graphic>
          <a:graphicData uri="http://schemas.openxmlformats.org/drawingml/2006/table">
            <a:tbl>
              <a:tblPr>
                <a:tableStyleId>{2D5ABB26-0587-4C30-8999-92F81FD0307C}</a:tableStyleId>
              </a:tblPr>
              <a:tblGrid>
                <a:gridCol w="7097658">
                  <a:extLst>
                    <a:ext uri="{9D8B030D-6E8A-4147-A177-3AD203B41FA5}">
                      <a16:colId xmlns:a16="http://schemas.microsoft.com/office/drawing/2014/main" val="500599182"/>
                    </a:ext>
                  </a:extLst>
                </a:gridCol>
              </a:tblGrid>
              <a:tr h="467691">
                <a:tc>
                  <a:txBody>
                    <a:bodyPr/>
                    <a:lstStyle/>
                    <a:p>
                      <a:r>
                        <a:rPr lang="en-ZA" sz="1400" b="1" i="1" dirty="0"/>
                        <a:t>Figure 1.2  </a:t>
                      </a:r>
                      <a:r>
                        <a:rPr lang="en-ZA" sz="1400" i="1" dirty="0"/>
                        <a:t>Distribution</a:t>
                      </a:r>
                      <a:r>
                        <a:rPr lang="en-ZA" sz="1400" i="1" baseline="0" dirty="0"/>
                        <a:t> of informal employment by population group</a:t>
                      </a:r>
                      <a:endParaRPr lang="en-ZA" sz="1400" i="1" dirty="0"/>
                    </a:p>
                  </a:txBody>
                  <a:tcPr/>
                </a:tc>
                <a:extLst>
                  <a:ext uri="{0D108BD9-81ED-4DB2-BD59-A6C34878D82A}">
                    <a16:rowId xmlns:a16="http://schemas.microsoft.com/office/drawing/2014/main" val="3672680739"/>
                  </a:ext>
                </a:extLst>
              </a:tr>
            </a:tbl>
          </a:graphicData>
        </a:graphic>
      </p:graphicFrame>
      <p:pic>
        <p:nvPicPr>
          <p:cNvPr id="8" name="Picture 7">
            <a:extLst>
              <a:ext uri="{FF2B5EF4-FFF2-40B4-BE49-F238E27FC236}">
                <a16:creationId xmlns:a16="http://schemas.microsoft.com/office/drawing/2014/main" id="{07060689-A31E-1778-E5EC-FA8816E47892}"/>
              </a:ext>
            </a:extLst>
          </p:cNvPr>
          <p:cNvPicPr>
            <a:picLocks noChangeAspect="1"/>
          </p:cNvPicPr>
          <p:nvPr/>
        </p:nvPicPr>
        <p:blipFill>
          <a:blip r:embed="rId3"/>
          <a:stretch>
            <a:fillRect/>
          </a:stretch>
        </p:blipFill>
        <p:spPr>
          <a:xfrm>
            <a:off x="1109272" y="949569"/>
            <a:ext cx="8654404" cy="46653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9" name="Table 8">
            <a:extLst>
              <a:ext uri="{FF2B5EF4-FFF2-40B4-BE49-F238E27FC236}">
                <a16:creationId xmlns:a16="http://schemas.microsoft.com/office/drawing/2014/main" id="{F623103A-15D4-F413-00E0-247E2A4A1C05}"/>
              </a:ext>
            </a:extLst>
          </p:cNvPr>
          <p:cNvGraphicFramePr>
            <a:graphicFrameLocks noGrp="1"/>
          </p:cNvGraphicFramePr>
          <p:nvPr>
            <p:extLst>
              <p:ext uri="{D42A27DB-BD31-4B8C-83A1-F6EECF244321}">
                <p14:modId xmlns:p14="http://schemas.microsoft.com/office/powerpoint/2010/main" val="1574741118"/>
              </p:ext>
            </p:extLst>
          </p:nvPr>
        </p:nvGraphicFramePr>
        <p:xfrm>
          <a:off x="1109271" y="401142"/>
          <a:ext cx="8261439" cy="467691"/>
        </p:xfrm>
        <a:graphic>
          <a:graphicData uri="http://schemas.openxmlformats.org/drawingml/2006/table">
            <a:tbl>
              <a:tblPr>
                <a:tableStyleId>{2D5ABB26-0587-4C30-8999-92F81FD0307C}</a:tableStyleId>
              </a:tblPr>
              <a:tblGrid>
                <a:gridCol w="8261439">
                  <a:extLst>
                    <a:ext uri="{9D8B030D-6E8A-4147-A177-3AD203B41FA5}">
                      <a16:colId xmlns:a16="http://schemas.microsoft.com/office/drawing/2014/main" val="500599182"/>
                    </a:ext>
                  </a:extLst>
                </a:gridCol>
              </a:tblGrid>
              <a:tr h="467691">
                <a:tc>
                  <a:txBody>
                    <a:bodyPr/>
                    <a:lstStyle/>
                    <a:p>
                      <a:r>
                        <a:rPr lang="en-ZA" sz="1800" b="1" i="0" dirty="0">
                          <a:latin typeface="+mn-lt"/>
                        </a:rPr>
                        <a:t>Pie</a:t>
                      </a:r>
                      <a:r>
                        <a:rPr lang="en-ZA" sz="1800" b="1" i="0" baseline="0" dirty="0">
                          <a:latin typeface="+mn-lt"/>
                        </a:rPr>
                        <a:t> chart graph of distribution of  population group by employment status</a:t>
                      </a:r>
                      <a:endParaRPr lang="en-ZA" sz="1800" b="1" i="0" dirty="0">
                        <a:latin typeface="+mn-lt"/>
                      </a:endParaRPr>
                    </a:p>
                  </a:txBody>
                  <a:tcPr/>
                </a:tc>
                <a:extLst>
                  <a:ext uri="{0D108BD9-81ED-4DB2-BD59-A6C34878D82A}">
                    <a16:rowId xmlns:a16="http://schemas.microsoft.com/office/drawing/2014/main" val="3672680739"/>
                  </a:ext>
                </a:extLst>
              </a:tr>
            </a:tbl>
          </a:graphicData>
        </a:graphic>
      </p:graphicFrame>
    </p:spTree>
    <p:extLst>
      <p:ext uri="{BB962C8B-B14F-4D97-AF65-F5344CB8AC3E}">
        <p14:creationId xmlns:p14="http://schemas.microsoft.com/office/powerpoint/2010/main" val="28869594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A1E0E5A-268B-29A9-837D-BB89159BEBB2}"/>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5007D0E8-B224-EB20-D250-294B77071827}"/>
              </a:ext>
            </a:extLst>
          </p:cNvPr>
          <p:cNvSpPr>
            <a:spLocks noGrp="1"/>
          </p:cNvSpPr>
          <p:nvPr>
            <p:ph type="ftr" sz="quarter" idx="11"/>
          </p:nvPr>
        </p:nvSpPr>
        <p:spPr>
          <a:xfrm>
            <a:off x="1013513" y="6263640"/>
            <a:ext cx="5901189" cy="320040"/>
          </a:xfrm>
        </p:spPr>
        <p:txBody>
          <a:bodyPr/>
          <a:lstStyle/>
          <a:p>
            <a:endParaRPr lang="en-ZA" dirty="0"/>
          </a:p>
          <a:p>
            <a:r>
              <a:rPr lang="en-ZA" dirty="0"/>
              <a:t>Department of Mathematics &amp; Physics</a:t>
            </a:r>
          </a:p>
        </p:txBody>
      </p:sp>
      <p:sp>
        <p:nvSpPr>
          <p:cNvPr id="6" name="Slide Number Placeholder 5">
            <a:extLst>
              <a:ext uri="{FF2B5EF4-FFF2-40B4-BE49-F238E27FC236}">
                <a16:creationId xmlns:a16="http://schemas.microsoft.com/office/drawing/2014/main" id="{3F256293-426A-7908-A478-B8FC4273F01C}"/>
              </a:ext>
            </a:extLst>
          </p:cNvPr>
          <p:cNvSpPr>
            <a:spLocks noGrp="1"/>
          </p:cNvSpPr>
          <p:nvPr>
            <p:ph type="sldNum" sz="quarter" idx="12"/>
          </p:nvPr>
        </p:nvSpPr>
        <p:spPr/>
        <p:txBody>
          <a:bodyPr/>
          <a:lstStyle/>
          <a:p>
            <a:fld id="{FCDC5D13-0321-4383-81EA-F2073319DF27}" type="slidenum">
              <a:rPr lang="en-ZA" smtClean="0"/>
              <a:pPr/>
              <a:t>22</a:t>
            </a:fld>
            <a:endParaRPr lang="en-ZA" dirty="0"/>
          </a:p>
        </p:txBody>
      </p:sp>
      <p:pic>
        <p:nvPicPr>
          <p:cNvPr id="10" name="Content Placeholder 9">
            <a:extLst>
              <a:ext uri="{FF2B5EF4-FFF2-40B4-BE49-F238E27FC236}">
                <a16:creationId xmlns:a16="http://schemas.microsoft.com/office/drawing/2014/main" id="{FACF9D6A-26AE-7996-31C0-9C2C61825316}"/>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1731"/>
          <a:stretch/>
        </p:blipFill>
        <p:spPr bwMode="auto">
          <a:xfrm>
            <a:off x="1013513" y="914237"/>
            <a:ext cx="9040496" cy="48064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423E79B4-11DF-7AFC-B07E-CD10B4DAD9B7}"/>
              </a:ext>
            </a:extLst>
          </p:cNvPr>
          <p:cNvSpPr txBox="1"/>
          <p:nvPr/>
        </p:nvSpPr>
        <p:spPr>
          <a:xfrm>
            <a:off x="1013513" y="5777079"/>
            <a:ext cx="7971020" cy="307777"/>
          </a:xfrm>
          <a:prstGeom prst="rect">
            <a:avLst/>
          </a:prstGeom>
          <a:noFill/>
        </p:spPr>
        <p:txBody>
          <a:bodyPr wrap="square">
            <a:spAutoFit/>
          </a:bodyPr>
          <a:lstStyle/>
          <a:p>
            <a:r>
              <a:rPr lang="en-GB" sz="1400" b="1" i="1" dirty="0"/>
              <a:t>Figure 1.3 </a:t>
            </a:r>
            <a:r>
              <a:rPr lang="en-GB" sz="1400" i="1" dirty="0"/>
              <a:t>Metro code by province in each sector</a:t>
            </a:r>
            <a:endParaRPr lang="en-ZA" sz="1400" i="1" dirty="0"/>
          </a:p>
        </p:txBody>
      </p:sp>
      <p:sp>
        <p:nvSpPr>
          <p:cNvPr id="8" name="Rectangle 7"/>
          <p:cNvSpPr/>
          <p:nvPr/>
        </p:nvSpPr>
        <p:spPr>
          <a:xfrm>
            <a:off x="915272" y="360239"/>
            <a:ext cx="8946646" cy="459036"/>
          </a:xfrm>
          <a:prstGeom prst="rect">
            <a:avLst/>
          </a:prstGeom>
        </p:spPr>
        <p:txBody>
          <a:bodyPr wrap="square">
            <a:spAutoFit/>
          </a:bodyPr>
          <a:lstStyle/>
          <a:p>
            <a:pPr>
              <a:lnSpc>
                <a:spcPct val="150000"/>
              </a:lnSpc>
            </a:pPr>
            <a:r>
              <a:rPr lang="en-ZA" b="1" dirty="0">
                <a:solidFill>
                  <a:srgbClr val="000000"/>
                </a:solidFill>
                <a:cs typeface="Arial"/>
              </a:rPr>
              <a:t>The metro code contribution to each sector in the informal economy</a:t>
            </a:r>
          </a:p>
        </p:txBody>
      </p:sp>
    </p:spTree>
    <p:extLst>
      <p:ext uri="{BB962C8B-B14F-4D97-AF65-F5344CB8AC3E}">
        <p14:creationId xmlns:p14="http://schemas.microsoft.com/office/powerpoint/2010/main" val="3879117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FB3C7C-7D80-8FE2-8D74-E513FD6ECC36}"/>
              </a:ext>
            </a:extLst>
          </p:cNvPr>
          <p:cNvSpPr>
            <a:spLocks noGrp="1"/>
          </p:cNvSpPr>
          <p:nvPr>
            <p:ph type="dt" sz="half" idx="10"/>
          </p:nvPr>
        </p:nvSpPr>
        <p:spPr/>
        <p:txBody>
          <a:bodyPr/>
          <a:lstStyle/>
          <a:p>
            <a:fld id="{5065A318-0514-4A73-AF9E-6FD7E8DE28C5}" type="datetime3">
              <a:rPr lang="en-ZA" smtClean="0"/>
              <a:t>5 March 2026</a:t>
            </a:fld>
            <a:endParaRPr lang="en-ZA" dirty="0"/>
          </a:p>
        </p:txBody>
      </p:sp>
      <p:sp>
        <p:nvSpPr>
          <p:cNvPr id="3" name="Footer Placeholder 2">
            <a:extLst>
              <a:ext uri="{FF2B5EF4-FFF2-40B4-BE49-F238E27FC236}">
                <a16:creationId xmlns:a16="http://schemas.microsoft.com/office/drawing/2014/main" id="{CFB4E7FC-8A48-D81F-CD12-FEB3268D6982}"/>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4" name="Slide Number Placeholder 3">
            <a:extLst>
              <a:ext uri="{FF2B5EF4-FFF2-40B4-BE49-F238E27FC236}">
                <a16:creationId xmlns:a16="http://schemas.microsoft.com/office/drawing/2014/main" id="{7988A863-E2D3-FAA3-2421-46087907BCB2}"/>
              </a:ext>
            </a:extLst>
          </p:cNvPr>
          <p:cNvSpPr>
            <a:spLocks noGrp="1"/>
          </p:cNvSpPr>
          <p:nvPr>
            <p:ph type="sldNum" sz="quarter" idx="12"/>
          </p:nvPr>
        </p:nvSpPr>
        <p:spPr/>
        <p:txBody>
          <a:bodyPr/>
          <a:lstStyle/>
          <a:p>
            <a:fld id="{FCDC5D13-0321-4383-81EA-F2073319DF27}" type="slidenum">
              <a:rPr lang="en-ZA" smtClean="0"/>
              <a:pPr/>
              <a:t>23</a:t>
            </a:fld>
            <a:endParaRPr lang="en-ZA" dirty="0"/>
          </a:p>
        </p:txBody>
      </p:sp>
      <p:sp>
        <p:nvSpPr>
          <p:cNvPr id="6" name="TextBox 5">
            <a:extLst>
              <a:ext uri="{FF2B5EF4-FFF2-40B4-BE49-F238E27FC236}">
                <a16:creationId xmlns:a16="http://schemas.microsoft.com/office/drawing/2014/main" id="{BB9E395C-BBB6-153C-B7B9-7163A5D00967}"/>
              </a:ext>
            </a:extLst>
          </p:cNvPr>
          <p:cNvSpPr txBox="1"/>
          <p:nvPr/>
        </p:nvSpPr>
        <p:spPr>
          <a:xfrm>
            <a:off x="656300" y="5560565"/>
            <a:ext cx="6093500" cy="307777"/>
          </a:xfrm>
          <a:prstGeom prst="rect">
            <a:avLst/>
          </a:prstGeom>
          <a:noFill/>
        </p:spPr>
        <p:txBody>
          <a:bodyPr wrap="square">
            <a:spAutoFit/>
          </a:bodyPr>
          <a:lstStyle/>
          <a:p>
            <a:r>
              <a:rPr lang="en-GB" sz="1400" b="1" i="1" dirty="0"/>
              <a:t>Figure 1.4  </a:t>
            </a:r>
            <a:r>
              <a:rPr lang="en-GB" sz="1400" i="1" dirty="0"/>
              <a:t>Age group of employment by sector</a:t>
            </a:r>
            <a:endParaRPr lang="en-ZA" sz="1400" i="1" dirty="0"/>
          </a:p>
        </p:txBody>
      </p:sp>
      <p:pic>
        <p:nvPicPr>
          <p:cNvPr id="5" name="Picture 4">
            <a:extLst>
              <a:ext uri="{FF2B5EF4-FFF2-40B4-BE49-F238E27FC236}">
                <a16:creationId xmlns:a16="http://schemas.microsoft.com/office/drawing/2014/main" id="{1DFADA62-924B-D052-0A0E-5C8D347247B1}"/>
              </a:ext>
            </a:extLst>
          </p:cNvPr>
          <p:cNvPicPr>
            <a:picLocks noChangeAspect="1"/>
          </p:cNvPicPr>
          <p:nvPr/>
        </p:nvPicPr>
        <p:blipFill rotWithShape="1">
          <a:blip r:embed="rId3">
            <a:extLst>
              <a:ext uri="{28A0092B-C50C-407E-A947-70E740481C1C}">
                <a14:useLocalDpi xmlns:a14="http://schemas.microsoft.com/office/drawing/2010/main" val="0"/>
              </a:ext>
            </a:extLst>
          </a:blip>
          <a:srcRect t="4478" b="4478"/>
          <a:stretch/>
        </p:blipFill>
        <p:spPr bwMode="auto">
          <a:xfrm>
            <a:off x="610766" y="923165"/>
            <a:ext cx="6912900" cy="459233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a:ext uri="{53640926-AAD7-44D8-BBD7-CCE9431645EC}">
              <a14:shadowObscured xmlns:a14="http://schemas.microsoft.com/office/drawing/2010/main"/>
            </a:ext>
          </a:extLst>
        </p:spPr>
      </p:pic>
      <p:sp>
        <p:nvSpPr>
          <p:cNvPr id="7" name="Rectangle 6"/>
          <p:cNvSpPr/>
          <p:nvPr/>
        </p:nvSpPr>
        <p:spPr>
          <a:xfrm>
            <a:off x="656300" y="324101"/>
            <a:ext cx="7138869" cy="553998"/>
          </a:xfrm>
          <a:prstGeom prst="rect">
            <a:avLst/>
          </a:prstGeom>
        </p:spPr>
        <p:txBody>
          <a:bodyPr wrap="square">
            <a:spAutoFit/>
          </a:bodyPr>
          <a:lstStyle/>
          <a:p>
            <a:pPr>
              <a:lnSpc>
                <a:spcPct val="150000"/>
              </a:lnSpc>
            </a:pPr>
            <a:r>
              <a:rPr lang="en-ZA" sz="2000" b="1" dirty="0">
                <a:solidFill>
                  <a:srgbClr val="000000"/>
                </a:solidFill>
                <a:cs typeface="Arial"/>
              </a:rPr>
              <a:t>The relationship of age group in the informal economy</a:t>
            </a:r>
          </a:p>
        </p:txBody>
      </p:sp>
      <p:pic>
        <p:nvPicPr>
          <p:cNvPr id="9" name="Picture 8">
            <a:extLst>
              <a:ext uri="{FF2B5EF4-FFF2-40B4-BE49-F238E27FC236}">
                <a16:creationId xmlns:a16="http://schemas.microsoft.com/office/drawing/2014/main" id="{EA62F9B3-FAAA-006B-AE2C-718A951DFE80}"/>
              </a:ext>
            </a:extLst>
          </p:cNvPr>
          <p:cNvPicPr>
            <a:picLocks noChangeAspect="1"/>
          </p:cNvPicPr>
          <p:nvPr/>
        </p:nvPicPr>
        <p:blipFill rotWithShape="1">
          <a:blip r:embed="rId4"/>
          <a:srcRect b="-3312"/>
          <a:stretch/>
        </p:blipFill>
        <p:spPr>
          <a:xfrm>
            <a:off x="7795169" y="878099"/>
            <a:ext cx="4292600" cy="46824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6B735F45-2A77-8854-EF15-F33B5C24187C}"/>
                  </a:ext>
                </a:extLst>
              </p14:cNvPr>
              <p14:cNvContentPartPr/>
              <p14:nvPr/>
            </p14:nvContentPartPr>
            <p14:xfrm>
              <a:off x="7061200" y="2884999"/>
              <a:ext cx="313267" cy="341027"/>
            </p14:xfrm>
          </p:contentPart>
        </mc:Choice>
        <mc:Fallback xmlns="">
          <p:pic>
            <p:nvPicPr>
              <p:cNvPr id="11" name="Ink 10">
                <a:extLst>
                  <a:ext uri="{FF2B5EF4-FFF2-40B4-BE49-F238E27FC236}">
                    <a16:creationId xmlns:a16="http://schemas.microsoft.com/office/drawing/2014/main" id="{6B735F45-2A77-8854-EF15-F33B5C24187C}"/>
                  </a:ext>
                </a:extLst>
              </p:cNvPr>
              <p:cNvPicPr/>
              <p:nvPr/>
            </p:nvPicPr>
            <p:blipFill>
              <a:blip r:embed="rId6"/>
              <a:stretch>
                <a:fillRect/>
              </a:stretch>
            </p:blipFill>
            <p:spPr>
              <a:xfrm>
                <a:off x="6998187" y="2822339"/>
                <a:ext cx="438934" cy="466706"/>
              </a:xfrm>
              <a:prstGeom prst="rect">
                <a:avLst/>
              </a:prstGeom>
            </p:spPr>
          </p:pic>
        </mc:Fallback>
      </mc:AlternateContent>
      <p:sp>
        <p:nvSpPr>
          <p:cNvPr id="12" name="Rectangle 11">
            <a:extLst>
              <a:ext uri="{FF2B5EF4-FFF2-40B4-BE49-F238E27FC236}">
                <a16:creationId xmlns:a16="http://schemas.microsoft.com/office/drawing/2014/main" id="{78BB1CA4-B920-CF23-BB33-3AC106EB41F2}"/>
              </a:ext>
            </a:extLst>
          </p:cNvPr>
          <p:cNvSpPr/>
          <p:nvPr/>
        </p:nvSpPr>
        <p:spPr>
          <a:xfrm>
            <a:off x="6978598" y="2674655"/>
            <a:ext cx="920802" cy="613758"/>
          </a:xfrm>
          <a:prstGeom prst="rect">
            <a:avLst/>
          </a:prstGeom>
        </p:spPr>
        <p:txBody>
          <a:bodyPr wrap="square">
            <a:spAutoFit/>
          </a:bodyPr>
          <a:lstStyle/>
          <a:p>
            <a:pPr>
              <a:lnSpc>
                <a:spcPct val="150000"/>
              </a:lnSpc>
            </a:pPr>
            <a:r>
              <a:rPr lang="en-US" sz="1200" dirty="0">
                <a:solidFill>
                  <a:srgbClr val="000000"/>
                </a:solidFill>
                <a:cs typeface="Arial"/>
              </a:rPr>
              <a:t>Rural</a:t>
            </a:r>
            <a:endParaRPr lang="en-ZA" sz="1200" dirty="0">
              <a:solidFill>
                <a:srgbClr val="000000"/>
              </a:solidFill>
              <a:cs typeface="Arial"/>
            </a:endParaRPr>
          </a:p>
          <a:p>
            <a:pPr>
              <a:lnSpc>
                <a:spcPct val="150000"/>
              </a:lnSpc>
            </a:pPr>
            <a:r>
              <a:rPr lang="en-ZA" sz="1200" dirty="0">
                <a:solidFill>
                  <a:srgbClr val="000000"/>
                </a:solidFill>
                <a:cs typeface="Arial"/>
              </a:rPr>
              <a:t>Farms</a:t>
            </a:r>
          </a:p>
        </p:txBody>
      </p:sp>
    </p:spTree>
    <p:extLst>
      <p:ext uri="{BB962C8B-B14F-4D97-AF65-F5344CB8AC3E}">
        <p14:creationId xmlns:p14="http://schemas.microsoft.com/office/powerpoint/2010/main" val="227867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231136" y="467418"/>
            <a:ext cx="7729728" cy="1188720"/>
          </a:xfrm>
        </p:spPr>
        <p:txBody>
          <a:bodyPr>
            <a:normAutofit/>
          </a:bodyPr>
          <a:lstStyle/>
          <a:p>
            <a:r>
              <a:rPr lang="en-ZA"/>
              <a:t>Conclusion </a:t>
            </a:r>
            <a:endParaRPr lang="en-ZA" dirty="0"/>
          </a:p>
        </p:txBody>
      </p:sp>
      <p:sp>
        <p:nvSpPr>
          <p:cNvPr id="3" name="Content Placeholder 2"/>
          <p:cNvSpPr>
            <a:spLocks noGrp="1"/>
          </p:cNvSpPr>
          <p:nvPr>
            <p:ph idx="1"/>
          </p:nvPr>
        </p:nvSpPr>
        <p:spPr>
          <a:xfrm>
            <a:off x="1706062" y="2291262"/>
            <a:ext cx="8779512" cy="2879256"/>
          </a:xfrm>
        </p:spPr>
        <p:txBody>
          <a:bodyPr>
            <a:normAutofit lnSpcReduction="10000"/>
          </a:bodyPr>
          <a:lstStyle/>
          <a:p>
            <a:pPr marL="0" indent="0">
              <a:lnSpc>
                <a:spcPct val="90000"/>
              </a:lnSpc>
              <a:buNone/>
            </a:pPr>
            <a:r>
              <a:rPr lang="en-GB" sz="1300" dirty="0">
                <a:solidFill>
                  <a:srgbClr val="404040"/>
                </a:solidFill>
              </a:rPr>
              <a:t>This research conclude that  the informal economy does contribute to economic growth of Western Cape. To achieve our objective, we have</a:t>
            </a:r>
          </a:p>
          <a:p>
            <a:pPr>
              <a:lnSpc>
                <a:spcPct val="90000"/>
              </a:lnSpc>
              <a:buFont typeface="Wingdings" panose="05000000000000000000" pitchFamily="2" charset="2"/>
              <a:buChar char="v"/>
            </a:pPr>
            <a:r>
              <a:rPr lang="en-GB" sz="1300" dirty="0">
                <a:solidFill>
                  <a:srgbClr val="404040"/>
                </a:solidFill>
              </a:rPr>
              <a:t>Conclude that informal employment contribute 31,12% in year 2023</a:t>
            </a:r>
          </a:p>
          <a:p>
            <a:pPr>
              <a:lnSpc>
                <a:spcPct val="90000"/>
              </a:lnSpc>
              <a:buFont typeface="Wingdings" panose="05000000000000000000" pitchFamily="2" charset="2"/>
              <a:buChar char="v"/>
            </a:pPr>
            <a:r>
              <a:rPr lang="en-GB" sz="1300" dirty="0">
                <a:solidFill>
                  <a:srgbClr val="404040"/>
                </a:solidFill>
              </a:rPr>
              <a:t>Province , Age group, education status contribute more to informal economy</a:t>
            </a:r>
          </a:p>
          <a:p>
            <a:pPr>
              <a:lnSpc>
                <a:spcPct val="90000"/>
              </a:lnSpc>
              <a:buFont typeface="Wingdings" panose="05000000000000000000" pitchFamily="2" charset="2"/>
              <a:buChar char="v"/>
            </a:pPr>
            <a:r>
              <a:rPr lang="en-GB" sz="1300" dirty="0">
                <a:solidFill>
                  <a:srgbClr val="404040"/>
                </a:solidFill>
              </a:rPr>
              <a:t>On our findings we conclude that gender does not significant to economic growth due to inequalities or limitations.</a:t>
            </a:r>
          </a:p>
          <a:p>
            <a:pPr>
              <a:lnSpc>
                <a:spcPct val="90000"/>
              </a:lnSpc>
              <a:buFont typeface="Wingdings" panose="05000000000000000000" pitchFamily="2" charset="2"/>
              <a:buChar char="v"/>
            </a:pPr>
            <a:r>
              <a:rPr lang="en-GB" sz="1300" dirty="0">
                <a:solidFill>
                  <a:srgbClr val="404040"/>
                </a:solidFill>
              </a:rPr>
              <a:t>Population group does not have a significant influence in economy because the is a lot discrimination</a:t>
            </a:r>
          </a:p>
          <a:p>
            <a:pPr>
              <a:lnSpc>
                <a:spcPct val="90000"/>
              </a:lnSpc>
              <a:buFont typeface="Wingdings" panose="05000000000000000000" pitchFamily="2" charset="2"/>
              <a:buChar char="v"/>
            </a:pPr>
            <a:r>
              <a:rPr lang="en-GB" sz="1300" dirty="0">
                <a:solidFill>
                  <a:srgbClr val="404040"/>
                </a:solidFill>
              </a:rPr>
              <a:t> An increase in age group, the more people move to informal, and it has a positive contribution. </a:t>
            </a:r>
          </a:p>
          <a:p>
            <a:pPr>
              <a:lnSpc>
                <a:spcPct val="90000"/>
              </a:lnSpc>
              <a:buFont typeface="Wingdings" panose="05000000000000000000" pitchFamily="2" charset="2"/>
              <a:buChar char="v"/>
            </a:pPr>
            <a:r>
              <a:rPr lang="en-GB" sz="1300" dirty="0">
                <a:solidFill>
                  <a:srgbClr val="404040"/>
                </a:solidFill>
              </a:rPr>
              <a:t>Education level contribute to economy because some can be able to move from informal to formal sector. </a:t>
            </a:r>
          </a:p>
          <a:p>
            <a:pPr>
              <a:lnSpc>
                <a:spcPct val="90000"/>
              </a:lnSpc>
              <a:buFont typeface="Wingdings" panose="05000000000000000000" pitchFamily="2" charset="2"/>
              <a:buChar char="v"/>
            </a:pPr>
            <a:r>
              <a:rPr lang="en-GB" sz="1300" dirty="0">
                <a:solidFill>
                  <a:srgbClr val="404040"/>
                </a:solidFill>
              </a:rPr>
              <a:t>Informal employment has a positive impact because it create job opportunities, reduce poverty. </a:t>
            </a:r>
          </a:p>
          <a:p>
            <a:pPr>
              <a:lnSpc>
                <a:spcPct val="90000"/>
              </a:lnSpc>
              <a:buFont typeface="Wingdings" panose="05000000000000000000" pitchFamily="2" charset="2"/>
              <a:buChar char="v"/>
            </a:pPr>
            <a:r>
              <a:rPr lang="en-GB" sz="1300" dirty="0">
                <a:solidFill>
                  <a:srgbClr val="404040"/>
                </a:solidFill>
              </a:rPr>
              <a:t>The higher the industrial increase the probability of economic growth of a country by province</a:t>
            </a:r>
          </a:p>
        </p:txBody>
      </p:sp>
      <p:sp>
        <p:nvSpPr>
          <p:cNvPr id="6" name="Footer Placeholder 5"/>
          <p:cNvSpPr>
            <a:spLocks noGrp="1"/>
          </p:cNvSpPr>
          <p:nvPr>
            <p:ph type="ftr" sz="quarter" idx="11"/>
          </p:nvPr>
        </p:nvSpPr>
        <p:spPr>
          <a:xfrm>
            <a:off x="1600200" y="6236208"/>
            <a:ext cx="5901189" cy="320040"/>
          </a:xfrm>
        </p:spPr>
        <p:txBody>
          <a:bodyPr>
            <a:normAutofit/>
          </a:bodyPr>
          <a:lstStyle/>
          <a:p>
            <a:pPr>
              <a:lnSpc>
                <a:spcPct val="90000"/>
              </a:lnSpc>
              <a:spcAft>
                <a:spcPts val="600"/>
              </a:spcAft>
            </a:pPr>
            <a:endParaRPr lang="en-ZA" sz="500">
              <a:solidFill>
                <a:srgbClr val="262626"/>
              </a:solidFill>
            </a:endParaRPr>
          </a:p>
          <a:p>
            <a:pPr>
              <a:lnSpc>
                <a:spcPct val="90000"/>
              </a:lnSpc>
              <a:spcAft>
                <a:spcPts val="600"/>
              </a:spcAft>
            </a:pPr>
            <a:r>
              <a:rPr lang="en-ZA" sz="500">
                <a:solidFill>
                  <a:srgbClr val="262626"/>
                </a:solidFill>
              </a:rPr>
              <a:t>Department of Mathematics &amp; Physics</a:t>
            </a:r>
          </a:p>
        </p:txBody>
      </p:sp>
      <p:sp>
        <p:nvSpPr>
          <p:cNvPr id="4" name="Date Placeholder 3"/>
          <p:cNvSpPr>
            <a:spLocks noGrp="1"/>
          </p:cNvSpPr>
          <p:nvPr>
            <p:ph type="dt" sz="half" idx="10"/>
          </p:nvPr>
        </p:nvSpPr>
        <p:spPr>
          <a:xfrm>
            <a:off x="7821429" y="6238816"/>
            <a:ext cx="2753746" cy="323968"/>
          </a:xfrm>
        </p:spPr>
        <p:txBody>
          <a:bodyPr>
            <a:normAutofit/>
          </a:bodyPr>
          <a:lstStyle/>
          <a:p>
            <a:pPr>
              <a:spcAft>
                <a:spcPts val="600"/>
              </a:spcAft>
            </a:pPr>
            <a:fld id="{2AD394A7-1302-450B-95EB-FFC37E100C94}" type="datetime3">
              <a:rPr lang="en-ZA">
                <a:solidFill>
                  <a:srgbClr val="262626"/>
                </a:solidFill>
              </a:rPr>
              <a:pPr>
                <a:spcAft>
                  <a:spcPts val="600"/>
                </a:spcAft>
              </a:pPr>
              <a:t>5 March 2026</a:t>
            </a:fld>
            <a:endParaRPr lang="en-ZA">
              <a:solidFill>
                <a:srgbClr val="262626"/>
              </a:solidFill>
            </a:endParaRPr>
          </a:p>
        </p:txBody>
      </p:sp>
      <p:sp>
        <p:nvSpPr>
          <p:cNvPr id="5" name="Slide Number Placeholder 4"/>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FCDC5D13-0321-4383-81EA-F2073319DF27}" type="slidenum">
              <a:rPr lang="en-ZA" smtClean="0"/>
              <a:pPr>
                <a:lnSpc>
                  <a:spcPct val="90000"/>
                </a:lnSpc>
                <a:spcAft>
                  <a:spcPts val="600"/>
                </a:spcAft>
              </a:pPr>
              <a:t>24</a:t>
            </a:fld>
            <a:endParaRPr lang="en-ZA"/>
          </a:p>
        </p:txBody>
      </p:sp>
    </p:spTree>
    <p:extLst>
      <p:ext uri="{BB962C8B-B14F-4D97-AF65-F5344CB8AC3E}">
        <p14:creationId xmlns:p14="http://schemas.microsoft.com/office/powerpoint/2010/main" val="615032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0443B-0FD5-D5B3-B8C0-283A92CF8747}"/>
              </a:ext>
            </a:extLst>
          </p:cNvPr>
          <p:cNvSpPr>
            <a:spLocks noGrp="1"/>
          </p:cNvSpPr>
          <p:nvPr>
            <p:ph type="title"/>
          </p:nvPr>
        </p:nvSpPr>
        <p:spPr>
          <a:xfrm>
            <a:off x="1259175" y="605570"/>
            <a:ext cx="9316000" cy="788515"/>
          </a:xfrm>
        </p:spPr>
        <p:txBody>
          <a:bodyPr/>
          <a:lstStyle/>
          <a:p>
            <a:r>
              <a:rPr lang="en-ZA" dirty="0"/>
              <a:t>Policy Recommendations and Strategies</a:t>
            </a:r>
          </a:p>
        </p:txBody>
      </p:sp>
      <p:graphicFrame>
        <p:nvGraphicFramePr>
          <p:cNvPr id="7" name="Content Placeholder 6">
            <a:extLst>
              <a:ext uri="{FF2B5EF4-FFF2-40B4-BE49-F238E27FC236}">
                <a16:creationId xmlns:a16="http://schemas.microsoft.com/office/drawing/2014/main" id="{C6FD3A5D-13A6-A2AC-48C2-AF547E4CC045}"/>
              </a:ext>
            </a:extLst>
          </p:cNvPr>
          <p:cNvGraphicFramePr>
            <a:graphicFrameLocks noGrp="1"/>
          </p:cNvGraphicFramePr>
          <p:nvPr>
            <p:ph idx="1"/>
            <p:extLst>
              <p:ext uri="{D42A27DB-BD31-4B8C-83A1-F6EECF244321}">
                <p14:modId xmlns:p14="http://schemas.microsoft.com/office/powerpoint/2010/main" val="1561411770"/>
              </p:ext>
            </p:extLst>
          </p:nvPr>
        </p:nvGraphicFramePr>
        <p:xfrm>
          <a:off x="6963508" y="4590092"/>
          <a:ext cx="3364523" cy="1645920"/>
        </p:xfrm>
        <a:graphic>
          <a:graphicData uri="http://schemas.openxmlformats.org/drawingml/2006/table">
            <a:tbl>
              <a:tblPr>
                <a:tableStyleId>{2D5ABB26-0587-4C30-8999-92F81FD0307C}</a:tableStyleId>
              </a:tblPr>
              <a:tblGrid>
                <a:gridCol w="3364523">
                  <a:extLst>
                    <a:ext uri="{9D8B030D-6E8A-4147-A177-3AD203B41FA5}">
                      <a16:colId xmlns:a16="http://schemas.microsoft.com/office/drawing/2014/main" val="3166512284"/>
                    </a:ext>
                  </a:extLst>
                </a:gridCol>
              </a:tblGrid>
              <a:tr h="1266093">
                <a:tc>
                  <a:txBody>
                    <a:bodyPr/>
                    <a:lstStyle/>
                    <a:p>
                      <a:pPr>
                        <a:lnSpc>
                          <a:spcPct val="150000"/>
                        </a:lnSpc>
                      </a:pPr>
                      <a:r>
                        <a:rPr lang="en-GB" sz="1400" dirty="0">
                          <a:latin typeface="+mn-lt"/>
                        </a:rPr>
                        <a:t>Extending social safety nets and labour protections to informal workers can improve their working conditions and overall well-being.</a:t>
                      </a:r>
                    </a:p>
                    <a:p>
                      <a:endParaRPr lang="en-ZA" dirty="0"/>
                    </a:p>
                  </a:txBody>
                  <a:tcPr/>
                </a:tc>
                <a:extLst>
                  <a:ext uri="{0D108BD9-81ED-4DB2-BD59-A6C34878D82A}">
                    <a16:rowId xmlns:a16="http://schemas.microsoft.com/office/drawing/2014/main" val="171384497"/>
                  </a:ext>
                </a:extLst>
              </a:tr>
            </a:tbl>
          </a:graphicData>
        </a:graphic>
      </p:graphicFrame>
      <p:sp>
        <p:nvSpPr>
          <p:cNvPr id="4" name="Date Placeholder 3">
            <a:extLst>
              <a:ext uri="{FF2B5EF4-FFF2-40B4-BE49-F238E27FC236}">
                <a16:creationId xmlns:a16="http://schemas.microsoft.com/office/drawing/2014/main" id="{8D66E345-1B40-5D2E-1EAD-AD08B8A9B090}"/>
              </a:ext>
            </a:extLst>
          </p:cNvPr>
          <p:cNvSpPr>
            <a:spLocks noGrp="1"/>
          </p:cNvSpPr>
          <p:nvPr>
            <p:ph type="dt" sz="half" idx="10"/>
          </p:nvPr>
        </p:nvSpPr>
        <p:spPr/>
        <p:txBody>
          <a:bodyPr/>
          <a:lstStyle/>
          <a:p>
            <a:fld id="{2AD394A7-1302-450B-95EB-FFC37E100C94}" type="datetime3">
              <a:rPr lang="en-ZA" smtClean="0"/>
              <a:t>5 March 2026</a:t>
            </a:fld>
            <a:endParaRPr lang="en-ZA" dirty="0"/>
          </a:p>
        </p:txBody>
      </p:sp>
      <p:sp>
        <p:nvSpPr>
          <p:cNvPr id="5" name="Footer Placeholder 4">
            <a:extLst>
              <a:ext uri="{FF2B5EF4-FFF2-40B4-BE49-F238E27FC236}">
                <a16:creationId xmlns:a16="http://schemas.microsoft.com/office/drawing/2014/main" id="{5FFA0019-3E6C-33AC-1319-513E1F6D1025}"/>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6" name="Slide Number Placeholder 5">
            <a:extLst>
              <a:ext uri="{FF2B5EF4-FFF2-40B4-BE49-F238E27FC236}">
                <a16:creationId xmlns:a16="http://schemas.microsoft.com/office/drawing/2014/main" id="{02C67A62-870B-4DC6-E376-F01B328027AA}"/>
              </a:ext>
            </a:extLst>
          </p:cNvPr>
          <p:cNvSpPr>
            <a:spLocks noGrp="1"/>
          </p:cNvSpPr>
          <p:nvPr>
            <p:ph type="sldNum" sz="quarter" idx="12"/>
          </p:nvPr>
        </p:nvSpPr>
        <p:spPr/>
        <p:txBody>
          <a:bodyPr/>
          <a:lstStyle/>
          <a:p>
            <a:fld id="{FCDC5D13-0321-4383-81EA-F2073319DF27}" type="slidenum">
              <a:rPr lang="en-ZA" smtClean="0"/>
              <a:pPr/>
              <a:t>25</a:t>
            </a:fld>
            <a:endParaRPr lang="en-ZA" dirty="0"/>
          </a:p>
        </p:txBody>
      </p:sp>
      <p:pic>
        <p:nvPicPr>
          <p:cNvPr id="3" name="Image 1" descr="preencoded.png">
            <a:extLst>
              <a:ext uri="{FF2B5EF4-FFF2-40B4-BE49-F238E27FC236}">
                <a16:creationId xmlns:a16="http://schemas.microsoft.com/office/drawing/2014/main" id="{57B60B79-B988-B889-829A-7ACCE753BEA5}"/>
              </a:ext>
            </a:extLst>
          </p:cNvPr>
          <p:cNvPicPr>
            <a:picLocks noChangeAspect="1"/>
          </p:cNvPicPr>
          <p:nvPr/>
        </p:nvPicPr>
        <p:blipFill>
          <a:blip r:embed="rId3"/>
          <a:stretch>
            <a:fillRect/>
          </a:stretch>
        </p:blipFill>
        <p:spPr>
          <a:xfrm>
            <a:off x="1258349" y="2078309"/>
            <a:ext cx="480893" cy="480893"/>
          </a:xfrm>
          <a:prstGeom prst="rect">
            <a:avLst/>
          </a:prstGeom>
        </p:spPr>
      </p:pic>
      <p:pic>
        <p:nvPicPr>
          <p:cNvPr id="8" name="Image 2" descr="preencoded.png">
            <a:extLst>
              <a:ext uri="{FF2B5EF4-FFF2-40B4-BE49-F238E27FC236}">
                <a16:creationId xmlns:a16="http://schemas.microsoft.com/office/drawing/2014/main" id="{1A815CC8-EA07-1B6C-2148-7F6F279183EA}"/>
              </a:ext>
            </a:extLst>
          </p:cNvPr>
          <p:cNvPicPr>
            <a:picLocks noChangeAspect="1"/>
          </p:cNvPicPr>
          <p:nvPr/>
        </p:nvPicPr>
        <p:blipFill>
          <a:blip r:embed="rId4"/>
          <a:stretch>
            <a:fillRect/>
          </a:stretch>
        </p:blipFill>
        <p:spPr>
          <a:xfrm>
            <a:off x="6184532" y="2035027"/>
            <a:ext cx="480893" cy="480893"/>
          </a:xfrm>
          <a:prstGeom prst="rect">
            <a:avLst/>
          </a:prstGeom>
        </p:spPr>
      </p:pic>
      <p:pic>
        <p:nvPicPr>
          <p:cNvPr id="9" name="Image 3" descr="preencoded.png">
            <a:extLst>
              <a:ext uri="{FF2B5EF4-FFF2-40B4-BE49-F238E27FC236}">
                <a16:creationId xmlns:a16="http://schemas.microsoft.com/office/drawing/2014/main" id="{1B60F296-331C-E36C-72E6-D592CB13ED0B}"/>
              </a:ext>
            </a:extLst>
          </p:cNvPr>
          <p:cNvPicPr>
            <a:picLocks noChangeAspect="1"/>
          </p:cNvPicPr>
          <p:nvPr/>
        </p:nvPicPr>
        <p:blipFill>
          <a:blip r:embed="rId5"/>
          <a:stretch>
            <a:fillRect/>
          </a:stretch>
        </p:blipFill>
        <p:spPr>
          <a:xfrm>
            <a:off x="1199609" y="4157258"/>
            <a:ext cx="480893" cy="480893"/>
          </a:xfrm>
          <a:prstGeom prst="rect">
            <a:avLst/>
          </a:prstGeom>
        </p:spPr>
      </p:pic>
      <p:pic>
        <p:nvPicPr>
          <p:cNvPr id="10" name="Image 4" descr="preencoded.png">
            <a:extLst>
              <a:ext uri="{FF2B5EF4-FFF2-40B4-BE49-F238E27FC236}">
                <a16:creationId xmlns:a16="http://schemas.microsoft.com/office/drawing/2014/main" id="{610FA37B-DC98-4F69-4DD2-A3D5824F2CB4}"/>
              </a:ext>
            </a:extLst>
          </p:cNvPr>
          <p:cNvPicPr>
            <a:picLocks noChangeAspect="1"/>
          </p:cNvPicPr>
          <p:nvPr/>
        </p:nvPicPr>
        <p:blipFill>
          <a:blip r:embed="rId6"/>
          <a:stretch>
            <a:fillRect/>
          </a:stretch>
        </p:blipFill>
        <p:spPr>
          <a:xfrm>
            <a:off x="6246170" y="4082182"/>
            <a:ext cx="480893" cy="480893"/>
          </a:xfrm>
          <a:prstGeom prst="rect">
            <a:avLst/>
          </a:prstGeom>
        </p:spPr>
      </p:pic>
      <p:sp>
        <p:nvSpPr>
          <p:cNvPr id="19" name="Text 7">
            <a:extLst>
              <a:ext uri="{FF2B5EF4-FFF2-40B4-BE49-F238E27FC236}">
                <a16:creationId xmlns:a16="http://schemas.microsoft.com/office/drawing/2014/main" id="{FB86A295-299A-F87B-CC80-28D732A81D54}"/>
              </a:ext>
            </a:extLst>
          </p:cNvPr>
          <p:cNvSpPr/>
          <p:nvPr/>
        </p:nvSpPr>
        <p:spPr>
          <a:xfrm>
            <a:off x="7054352" y="4227614"/>
            <a:ext cx="3004048" cy="316349"/>
          </a:xfrm>
          <a:prstGeom prst="rect">
            <a:avLst/>
          </a:prstGeom>
          <a:noFill/>
          <a:ln/>
        </p:spPr>
        <p:txBody>
          <a:bodyPr wrap="none" lIns="0" tIns="0" rIns="0" bIns="0" rtlCol="0" anchor="t"/>
          <a:lstStyle/>
          <a:p>
            <a:pPr marL="0" indent="0" algn="l">
              <a:lnSpc>
                <a:spcPts val="2450"/>
              </a:lnSpc>
              <a:buNone/>
            </a:pPr>
            <a:r>
              <a:rPr lang="en-US" sz="1950" b="1" dirty="0">
                <a:ea typeface="Barlow Bold" pitchFamily="34" charset="-122"/>
                <a:cs typeface="Barlow Bold" pitchFamily="34" charset="-120"/>
              </a:rPr>
              <a:t>Social Protection </a:t>
            </a:r>
            <a:r>
              <a:rPr lang="en-US" b="1" dirty="0">
                <a:ea typeface="Barlow Bold" pitchFamily="34" charset="-122"/>
                <a:cs typeface="Barlow Bold" pitchFamily="34" charset="-120"/>
              </a:rPr>
              <a:t>CPA</a:t>
            </a:r>
            <a:endParaRPr lang="en-US" b="1" dirty="0"/>
          </a:p>
        </p:txBody>
      </p:sp>
      <p:sp>
        <p:nvSpPr>
          <p:cNvPr id="20" name="Text 3">
            <a:extLst>
              <a:ext uri="{FF2B5EF4-FFF2-40B4-BE49-F238E27FC236}">
                <a16:creationId xmlns:a16="http://schemas.microsoft.com/office/drawing/2014/main" id="{4B5FB769-2F73-8BE6-C53E-CD9B143C62BE}"/>
              </a:ext>
            </a:extLst>
          </p:cNvPr>
          <p:cNvSpPr/>
          <p:nvPr/>
        </p:nvSpPr>
        <p:spPr>
          <a:xfrm>
            <a:off x="6963508" y="1879144"/>
            <a:ext cx="2868181" cy="316349"/>
          </a:xfrm>
          <a:prstGeom prst="rect">
            <a:avLst/>
          </a:prstGeom>
          <a:noFill/>
          <a:ln/>
        </p:spPr>
        <p:txBody>
          <a:bodyPr wrap="none" lIns="0" tIns="0" rIns="0" bIns="0" rtlCol="0" anchor="t"/>
          <a:lstStyle/>
          <a:p>
            <a:pPr marL="0" indent="0" algn="l">
              <a:lnSpc>
                <a:spcPts val="2450"/>
              </a:lnSpc>
              <a:buNone/>
            </a:pPr>
            <a:r>
              <a:rPr lang="en-US" sz="1950" b="1" dirty="0">
                <a:ea typeface="Barlow Bold" pitchFamily="34" charset="-122"/>
                <a:cs typeface="Barlow Bold" pitchFamily="34" charset="-120"/>
              </a:rPr>
              <a:t>Skills Development Act </a:t>
            </a:r>
            <a:endParaRPr lang="en-US" sz="1950" dirty="0"/>
          </a:p>
        </p:txBody>
      </p:sp>
      <p:sp>
        <p:nvSpPr>
          <p:cNvPr id="21" name="Text 4">
            <a:extLst>
              <a:ext uri="{FF2B5EF4-FFF2-40B4-BE49-F238E27FC236}">
                <a16:creationId xmlns:a16="http://schemas.microsoft.com/office/drawing/2014/main" id="{1B09BA30-16F2-4352-5EA0-31307E6788D0}"/>
              </a:ext>
            </a:extLst>
          </p:cNvPr>
          <p:cNvSpPr/>
          <p:nvPr/>
        </p:nvSpPr>
        <p:spPr>
          <a:xfrm>
            <a:off x="6963508" y="2353471"/>
            <a:ext cx="3754517" cy="1231106"/>
          </a:xfrm>
          <a:prstGeom prst="rect">
            <a:avLst/>
          </a:prstGeom>
          <a:noFill/>
          <a:ln/>
        </p:spPr>
        <p:txBody>
          <a:bodyPr wrap="square" lIns="0" tIns="0" rIns="0" bIns="0" rtlCol="0" anchor="t"/>
          <a:lstStyle/>
          <a:p>
            <a:pPr marL="0" indent="0" algn="l">
              <a:lnSpc>
                <a:spcPct val="150000"/>
              </a:lnSpc>
              <a:buNone/>
            </a:pPr>
            <a:r>
              <a:rPr lang="en-US" sz="1500" dirty="0">
                <a:ea typeface="Montserrat" pitchFamily="34" charset="-122"/>
                <a:cs typeface="Montserrat" pitchFamily="34" charset="-120"/>
              </a:rPr>
              <a:t>Providing training, mentorship, and access to resources can enhance the capabilities of informal entrepreneurs and workers.</a:t>
            </a:r>
            <a:endParaRPr lang="en-US" sz="1500" dirty="0"/>
          </a:p>
        </p:txBody>
      </p:sp>
      <p:sp>
        <p:nvSpPr>
          <p:cNvPr id="22" name="Text 2">
            <a:extLst>
              <a:ext uri="{FF2B5EF4-FFF2-40B4-BE49-F238E27FC236}">
                <a16:creationId xmlns:a16="http://schemas.microsoft.com/office/drawing/2014/main" id="{30CE80C7-0D36-7439-1415-740A03E36688}"/>
              </a:ext>
            </a:extLst>
          </p:cNvPr>
          <p:cNvSpPr/>
          <p:nvPr/>
        </p:nvSpPr>
        <p:spPr>
          <a:xfrm>
            <a:off x="1870947" y="2421075"/>
            <a:ext cx="3754398" cy="1394071"/>
          </a:xfrm>
          <a:prstGeom prst="rect">
            <a:avLst/>
          </a:prstGeom>
          <a:noFill/>
          <a:ln/>
        </p:spPr>
        <p:txBody>
          <a:bodyPr wrap="square" lIns="0" tIns="0" rIns="0" bIns="0" rtlCol="0" anchor="t"/>
          <a:lstStyle/>
          <a:p>
            <a:pPr marL="0" indent="0" algn="l">
              <a:lnSpc>
                <a:spcPct val="150000"/>
              </a:lnSpc>
              <a:buNone/>
            </a:pPr>
            <a:r>
              <a:rPr lang="en-US" sz="1300" dirty="0">
                <a:ea typeface="Montserrat" pitchFamily="34" charset="-122"/>
                <a:cs typeface="Montserrat" pitchFamily="34" charset="-120"/>
              </a:rPr>
              <a:t>Streamlining administrative processes and reducing barriers to formalization can help informal businesses and workers integrate into the formal economy.</a:t>
            </a:r>
            <a:endParaRPr lang="en-US" sz="1300" dirty="0"/>
          </a:p>
        </p:txBody>
      </p:sp>
      <p:sp>
        <p:nvSpPr>
          <p:cNvPr id="23" name="Text 1">
            <a:extLst>
              <a:ext uri="{FF2B5EF4-FFF2-40B4-BE49-F238E27FC236}">
                <a16:creationId xmlns:a16="http://schemas.microsoft.com/office/drawing/2014/main" id="{2BA4DB9E-93F6-73F3-CA75-69AD9FBBB7F9}"/>
              </a:ext>
            </a:extLst>
          </p:cNvPr>
          <p:cNvSpPr/>
          <p:nvPr/>
        </p:nvSpPr>
        <p:spPr>
          <a:xfrm>
            <a:off x="1870947" y="2002406"/>
            <a:ext cx="2920207" cy="316349"/>
          </a:xfrm>
          <a:prstGeom prst="rect">
            <a:avLst/>
          </a:prstGeom>
          <a:noFill/>
          <a:ln/>
        </p:spPr>
        <p:txBody>
          <a:bodyPr wrap="none" lIns="0" tIns="0" rIns="0" bIns="0" rtlCol="0" anchor="t"/>
          <a:lstStyle/>
          <a:p>
            <a:pPr marL="0" indent="0" algn="l">
              <a:lnSpc>
                <a:spcPts val="2450"/>
              </a:lnSpc>
              <a:buNone/>
            </a:pPr>
            <a:r>
              <a:rPr lang="en-US" sz="1950" b="1" dirty="0">
                <a:ea typeface="Barlow Bold" pitchFamily="34" charset="-122"/>
                <a:cs typeface="Barlow Bold" pitchFamily="34" charset="-120"/>
              </a:rPr>
              <a:t>Regulatory Reform </a:t>
            </a:r>
            <a:r>
              <a:rPr lang="en-US" b="1" dirty="0">
                <a:ea typeface="Barlow Bold" pitchFamily="34" charset="-122"/>
                <a:cs typeface="Barlow Bold" pitchFamily="34" charset="-120"/>
              </a:rPr>
              <a:t>LRA</a:t>
            </a:r>
            <a:endParaRPr lang="en-US" dirty="0"/>
          </a:p>
        </p:txBody>
      </p:sp>
      <p:sp>
        <p:nvSpPr>
          <p:cNvPr id="24" name="Text 6">
            <a:extLst>
              <a:ext uri="{FF2B5EF4-FFF2-40B4-BE49-F238E27FC236}">
                <a16:creationId xmlns:a16="http://schemas.microsoft.com/office/drawing/2014/main" id="{AEAD6EB7-3298-731C-B8D6-7F9B62086622}"/>
              </a:ext>
            </a:extLst>
          </p:cNvPr>
          <p:cNvSpPr/>
          <p:nvPr/>
        </p:nvSpPr>
        <p:spPr>
          <a:xfrm>
            <a:off x="1863969" y="4771335"/>
            <a:ext cx="3754398" cy="1231106"/>
          </a:xfrm>
          <a:prstGeom prst="rect">
            <a:avLst/>
          </a:prstGeom>
          <a:noFill/>
          <a:ln/>
        </p:spPr>
        <p:txBody>
          <a:bodyPr wrap="square" lIns="0" tIns="0" rIns="0" bIns="0" rtlCol="0" anchor="t"/>
          <a:lstStyle/>
          <a:p>
            <a:pPr marL="0" indent="0" algn="l">
              <a:lnSpc>
                <a:spcPct val="150000"/>
              </a:lnSpc>
              <a:buNone/>
            </a:pPr>
            <a:r>
              <a:rPr lang="en-US" sz="1500" dirty="0">
                <a:ea typeface="Montserrat" pitchFamily="34" charset="-122"/>
                <a:cs typeface="Montserrat" pitchFamily="34" charset="-120"/>
              </a:rPr>
              <a:t>Developing tailored financial products and services can help informal businesses access the capital they need to grow and thrive.</a:t>
            </a:r>
            <a:endParaRPr lang="en-US" sz="1500" dirty="0"/>
          </a:p>
        </p:txBody>
      </p:sp>
      <p:sp>
        <p:nvSpPr>
          <p:cNvPr id="25" name="Text 5">
            <a:extLst>
              <a:ext uri="{FF2B5EF4-FFF2-40B4-BE49-F238E27FC236}">
                <a16:creationId xmlns:a16="http://schemas.microsoft.com/office/drawing/2014/main" id="{3EBDBE31-BE12-AB2C-65EC-03226DD32489}"/>
              </a:ext>
            </a:extLst>
          </p:cNvPr>
          <p:cNvSpPr/>
          <p:nvPr/>
        </p:nvSpPr>
        <p:spPr>
          <a:xfrm>
            <a:off x="1863969" y="4253694"/>
            <a:ext cx="3116110" cy="316349"/>
          </a:xfrm>
          <a:prstGeom prst="rect">
            <a:avLst/>
          </a:prstGeom>
          <a:noFill/>
          <a:ln/>
        </p:spPr>
        <p:txBody>
          <a:bodyPr wrap="none" lIns="0" tIns="0" rIns="0" bIns="0" rtlCol="0" anchor="t"/>
          <a:lstStyle/>
          <a:p>
            <a:pPr marL="0" indent="0" algn="l">
              <a:lnSpc>
                <a:spcPts val="2450"/>
              </a:lnSpc>
              <a:buNone/>
            </a:pPr>
            <a:r>
              <a:rPr lang="en-US" sz="1950" b="1" dirty="0">
                <a:ea typeface="Barlow Bold" pitchFamily="34" charset="-122"/>
                <a:cs typeface="Barlow Bold" pitchFamily="34" charset="-120"/>
              </a:rPr>
              <a:t>Access to Financing </a:t>
            </a:r>
            <a:r>
              <a:rPr lang="en-US" b="1" dirty="0">
                <a:ea typeface="Barlow Bold" pitchFamily="34" charset="-122"/>
                <a:cs typeface="Barlow Bold" pitchFamily="34" charset="-120"/>
              </a:rPr>
              <a:t>SAA</a:t>
            </a:r>
            <a:endParaRPr lang="en-US" dirty="0"/>
          </a:p>
        </p:txBody>
      </p:sp>
    </p:spTree>
    <p:extLst>
      <p:ext uri="{BB962C8B-B14F-4D97-AF65-F5344CB8AC3E}">
        <p14:creationId xmlns:p14="http://schemas.microsoft.com/office/powerpoint/2010/main" val="4289459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4125" y="542306"/>
            <a:ext cx="9241050" cy="609275"/>
          </a:xfrm>
        </p:spPr>
        <p:txBody>
          <a:bodyPr>
            <a:normAutofit fontScale="90000"/>
          </a:bodyPr>
          <a:lstStyle/>
          <a:p>
            <a:r>
              <a:rPr lang="en-ZA" dirty="0"/>
              <a:t>References</a:t>
            </a:r>
          </a:p>
        </p:txBody>
      </p:sp>
      <p:sp>
        <p:nvSpPr>
          <p:cNvPr id="3" name="Content Placeholder 2"/>
          <p:cNvSpPr>
            <a:spLocks noGrp="1"/>
          </p:cNvSpPr>
          <p:nvPr>
            <p:ph idx="1"/>
          </p:nvPr>
        </p:nvSpPr>
        <p:spPr>
          <a:xfrm>
            <a:off x="1334125" y="1525699"/>
            <a:ext cx="10137440" cy="4692221"/>
          </a:xfrm>
        </p:spPr>
        <p:txBody>
          <a:bodyPr>
            <a:normAutofit fontScale="25000" lnSpcReduction="20000"/>
          </a:bodyPr>
          <a:lstStyle/>
          <a:p>
            <a:pPr marL="0" indent="0">
              <a:lnSpc>
                <a:spcPct val="170000"/>
              </a:lnSpc>
              <a:buNone/>
            </a:pPr>
            <a:r>
              <a:rPr lang="en-US" sz="4000" dirty="0">
                <a:solidFill>
                  <a:schemeClr val="tx1"/>
                </a:solidFill>
                <a:latin typeface="Arial" panose="020B0604020202020204" pitchFamily="34" charset="0"/>
                <a:cs typeface="Arial" panose="020B0604020202020204" pitchFamily="34" charset="0"/>
              </a:rPr>
              <a:t>Hart, K., 1973. Informal income opportunities and urban employment in Ghana. The journal of modern African studies, 11(1), pp.61-89.</a:t>
            </a:r>
          </a:p>
          <a:p>
            <a:pPr marL="0" indent="0">
              <a:lnSpc>
                <a:spcPct val="170000"/>
              </a:lnSpc>
              <a:buNone/>
            </a:pPr>
            <a:r>
              <a:rPr lang="en-US" sz="4000" dirty="0">
                <a:solidFill>
                  <a:schemeClr val="tx1"/>
                </a:solidFill>
                <a:latin typeface="Arial" panose="020B0604020202020204" pitchFamily="34" charset="0"/>
                <a:cs typeface="Arial" panose="020B0604020202020204" pitchFamily="34" charset="0"/>
              </a:rPr>
              <a:t>Ntuli, I.S., 2020. Informal trading in post-apartheid South Africa: an examination of the experiences of black African women street traders in Durban (Doctoral dissertation).</a:t>
            </a:r>
          </a:p>
          <a:p>
            <a:pPr marL="0" indent="0">
              <a:lnSpc>
                <a:spcPct val="170000"/>
              </a:lnSpc>
              <a:buNone/>
            </a:pPr>
            <a:r>
              <a:rPr lang="en-US" sz="4000" dirty="0" err="1">
                <a:solidFill>
                  <a:schemeClr val="tx1"/>
                </a:solidFill>
                <a:latin typeface="Arial" panose="020B0604020202020204" pitchFamily="34" charset="0"/>
                <a:cs typeface="Arial" panose="020B0604020202020204" pitchFamily="34" charset="0"/>
              </a:rPr>
              <a:t>Tawodzera</a:t>
            </a:r>
            <a:r>
              <a:rPr lang="en-US" sz="4000" dirty="0">
                <a:solidFill>
                  <a:schemeClr val="tx1"/>
                </a:solidFill>
                <a:latin typeface="Arial" panose="020B0604020202020204" pitchFamily="34" charset="0"/>
                <a:cs typeface="Arial" panose="020B0604020202020204" pitchFamily="34" charset="0"/>
              </a:rPr>
              <a:t>, G. and </a:t>
            </a:r>
            <a:r>
              <a:rPr lang="en-US" sz="4000" dirty="0" err="1">
                <a:solidFill>
                  <a:schemeClr val="tx1"/>
                </a:solidFill>
                <a:latin typeface="Arial" panose="020B0604020202020204" pitchFamily="34" charset="0"/>
                <a:cs typeface="Arial" panose="020B0604020202020204" pitchFamily="34" charset="0"/>
              </a:rPr>
              <a:t>Chikanda</a:t>
            </a:r>
            <a:r>
              <a:rPr lang="en-US" sz="4000" dirty="0">
                <a:solidFill>
                  <a:schemeClr val="tx1"/>
                </a:solidFill>
                <a:latin typeface="Arial" panose="020B0604020202020204" pitchFamily="34" charset="0"/>
                <a:cs typeface="Arial" panose="020B0604020202020204" pitchFamily="34" charset="0"/>
              </a:rPr>
              <a:t>, A., 2016. International Migrants and Refugees in Cape Towns Informal Economy. OSSREA.</a:t>
            </a:r>
          </a:p>
          <a:p>
            <a:pPr marL="0" indent="0">
              <a:lnSpc>
                <a:spcPct val="170000"/>
              </a:lnSpc>
              <a:buNone/>
            </a:pPr>
            <a:r>
              <a:rPr lang="en-US" sz="4000" dirty="0">
                <a:solidFill>
                  <a:schemeClr val="tx1"/>
                </a:solidFill>
                <a:latin typeface="Arial" panose="020B0604020202020204" pitchFamily="34" charset="0"/>
                <a:cs typeface="Arial" panose="020B0604020202020204" pitchFamily="34" charset="0"/>
              </a:rPr>
              <a:t>Rodríguez-Pose, A., 2002. The role of the ILO in implementing local economic development strategies in a globalized world.</a:t>
            </a:r>
          </a:p>
          <a:p>
            <a:pPr marL="0" indent="0">
              <a:lnSpc>
                <a:spcPct val="170000"/>
              </a:lnSpc>
              <a:buNone/>
            </a:pPr>
            <a:r>
              <a:rPr lang="en-US" sz="4000" dirty="0">
                <a:solidFill>
                  <a:schemeClr val="tx1"/>
                </a:solidFill>
                <a:latin typeface="Arial" panose="020B0604020202020204" pitchFamily="34" charset="0"/>
                <a:cs typeface="Arial" panose="020B0604020202020204" pitchFamily="34" charset="0"/>
              </a:rPr>
              <a:t>Rogan, M. and Skinner, C., 2017. The nature of the South African informal sector as reflected in the quarterly labour-force survey, 2008-2014. Cape town: University of Capetown.</a:t>
            </a:r>
          </a:p>
          <a:p>
            <a:pPr marL="0" indent="0">
              <a:lnSpc>
                <a:spcPct val="170000"/>
              </a:lnSpc>
              <a:buNone/>
            </a:pPr>
            <a:r>
              <a:rPr lang="en-US" sz="4000" dirty="0" err="1">
                <a:solidFill>
                  <a:schemeClr val="tx1"/>
                </a:solidFill>
                <a:latin typeface="Arial" panose="020B0604020202020204" pitchFamily="34" charset="0"/>
                <a:cs typeface="Arial" panose="020B0604020202020204" pitchFamily="34" charset="0"/>
              </a:rPr>
              <a:t>StatsS.A</a:t>
            </a:r>
            <a:r>
              <a:rPr lang="en-US" sz="4000" dirty="0">
                <a:solidFill>
                  <a:schemeClr val="tx1"/>
                </a:solidFill>
                <a:latin typeface="Arial" panose="020B0604020202020204" pitchFamily="34" charset="0"/>
                <a:cs typeface="Arial" panose="020B0604020202020204" pitchFamily="34" charset="0"/>
              </a:rPr>
              <a:t>., 2011. Statistics south </a:t>
            </a:r>
            <a:r>
              <a:rPr lang="en-US" sz="4000" dirty="0" err="1">
                <a:solidFill>
                  <a:schemeClr val="tx1"/>
                </a:solidFill>
                <a:latin typeface="Arial" panose="020B0604020202020204" pitchFamily="34" charset="0"/>
                <a:cs typeface="Arial" panose="020B0604020202020204" pitchFamily="34" charset="0"/>
              </a:rPr>
              <a:t>africa</a:t>
            </a:r>
            <a:r>
              <a:rPr lang="en-US" sz="4000" dirty="0">
                <a:solidFill>
                  <a:schemeClr val="tx1"/>
                </a:solidFill>
                <a:latin typeface="Arial" panose="020B0604020202020204" pitchFamily="34" charset="0"/>
                <a:cs typeface="Arial" panose="020B0604020202020204" pitchFamily="34" charset="0"/>
              </a:rPr>
              <a:t>. Formal census, 1, pp.79-106.</a:t>
            </a:r>
          </a:p>
          <a:p>
            <a:pPr marL="0" indent="0">
              <a:lnSpc>
                <a:spcPct val="170000"/>
              </a:lnSpc>
              <a:buNone/>
            </a:pPr>
            <a:r>
              <a:rPr lang="en-US" sz="4000" dirty="0" err="1">
                <a:solidFill>
                  <a:schemeClr val="tx1"/>
                </a:solidFill>
                <a:latin typeface="Arial" panose="020B0604020202020204" pitchFamily="34" charset="0"/>
                <a:cs typeface="Arial" panose="020B0604020202020204" pitchFamily="34" charset="0"/>
              </a:rPr>
              <a:t>Valodia</a:t>
            </a:r>
            <a:r>
              <a:rPr lang="en-US" sz="4000" dirty="0">
                <a:solidFill>
                  <a:schemeClr val="tx1"/>
                </a:solidFill>
                <a:latin typeface="Arial" panose="020B0604020202020204" pitchFamily="34" charset="0"/>
                <a:cs typeface="Arial" panose="020B0604020202020204" pitchFamily="34" charset="0"/>
              </a:rPr>
              <a:t>, I., 2013. Bringing the informal economy into the National Development Plan. Social dynamics, 39(1), pp.115-118.</a:t>
            </a:r>
          </a:p>
          <a:p>
            <a:pPr marL="0" indent="0">
              <a:lnSpc>
                <a:spcPct val="170000"/>
              </a:lnSpc>
              <a:buNone/>
            </a:pPr>
            <a:r>
              <a:rPr lang="en-US" sz="4000" dirty="0">
                <a:solidFill>
                  <a:schemeClr val="tx1"/>
                </a:solidFill>
                <a:latin typeface="Arial" panose="020B0604020202020204" pitchFamily="34" charset="0"/>
                <a:cs typeface="Arial" panose="020B0604020202020204" pitchFamily="34" charset="0"/>
              </a:rPr>
              <a:t>Skinner, C., 2002. Understanding formal and informal economy labour market dynamics: A conceptual and statistical review concerning South Africa (p. 25). Durban: School of Development Studies, University of Natal.</a:t>
            </a:r>
          </a:p>
          <a:p>
            <a:pPr marL="0" indent="0">
              <a:lnSpc>
                <a:spcPct val="170000"/>
              </a:lnSpc>
              <a:buNone/>
            </a:pPr>
            <a:r>
              <a:rPr lang="en-US" sz="4000" dirty="0">
                <a:solidFill>
                  <a:schemeClr val="tx1"/>
                </a:solidFill>
                <a:latin typeface="Arial" panose="020B0604020202020204" pitchFamily="34" charset="0"/>
                <a:cs typeface="Arial" panose="020B0604020202020204" pitchFamily="34" charset="0"/>
              </a:rPr>
              <a:t>Brown, M., 2010. Review on the environment of women workers in the informal economy in South Africa.</a:t>
            </a:r>
          </a:p>
          <a:p>
            <a:pPr marL="0" indent="0">
              <a:lnSpc>
                <a:spcPct val="170000"/>
              </a:lnSpc>
              <a:buNone/>
            </a:pPr>
            <a:r>
              <a:rPr lang="en-US" sz="4000" dirty="0">
                <a:solidFill>
                  <a:schemeClr val="tx1"/>
                </a:solidFill>
                <a:latin typeface="Arial" panose="020B0604020202020204" pitchFamily="34" charset="0"/>
                <a:cs typeface="Arial" panose="020B0604020202020204" pitchFamily="34" charset="0"/>
              </a:rPr>
              <a:t>Margolis, D., Rosas, N., </a:t>
            </a:r>
            <a:r>
              <a:rPr lang="en-US" sz="4000" dirty="0" err="1">
                <a:solidFill>
                  <a:schemeClr val="tx1"/>
                </a:solidFill>
                <a:latin typeface="Arial" panose="020B0604020202020204" pitchFamily="34" charset="0"/>
                <a:cs typeface="Arial" panose="020B0604020202020204" pitchFamily="34" charset="0"/>
              </a:rPr>
              <a:t>Turay</a:t>
            </a:r>
            <a:r>
              <a:rPr lang="en-US" sz="4000" dirty="0">
                <a:solidFill>
                  <a:schemeClr val="tx1"/>
                </a:solidFill>
                <a:latin typeface="Arial" panose="020B0604020202020204" pitchFamily="34" charset="0"/>
                <a:cs typeface="Arial" panose="020B0604020202020204" pitchFamily="34" charset="0"/>
              </a:rPr>
              <a:t>, A. and </a:t>
            </a:r>
            <a:r>
              <a:rPr lang="en-US" sz="4000" dirty="0" err="1">
                <a:solidFill>
                  <a:schemeClr val="tx1"/>
                </a:solidFill>
                <a:latin typeface="Arial" panose="020B0604020202020204" pitchFamily="34" charset="0"/>
                <a:cs typeface="Arial" panose="020B0604020202020204" pitchFamily="34" charset="0"/>
              </a:rPr>
              <a:t>Turay</a:t>
            </a:r>
            <a:r>
              <a:rPr lang="en-US" sz="4000" dirty="0">
                <a:solidFill>
                  <a:schemeClr val="tx1"/>
                </a:solidFill>
                <a:latin typeface="Arial" panose="020B0604020202020204" pitchFamily="34" charset="0"/>
                <a:cs typeface="Arial" panose="020B0604020202020204" pitchFamily="34" charset="0"/>
              </a:rPr>
              <a:t>, S., 2016. Findings from the 2014 Labor force survey in Sierra Leone. World Bank Publications.</a:t>
            </a:r>
          </a:p>
          <a:p>
            <a:pPr marL="0" indent="0">
              <a:lnSpc>
                <a:spcPct val="170000"/>
              </a:lnSpc>
              <a:buNone/>
            </a:pPr>
            <a:r>
              <a:rPr lang="en-US" sz="4000" dirty="0">
                <a:solidFill>
                  <a:schemeClr val="tx1"/>
                </a:solidFill>
                <a:latin typeface="Arial" panose="020B0604020202020204" pitchFamily="34" charset="0"/>
                <a:cs typeface="Arial" panose="020B0604020202020204" pitchFamily="34" charset="0"/>
              </a:rPr>
              <a:t>Kabeer, N., 2008. Mainstreaming gender in social protection for the informal economy. Commonwealth Secretariat.</a:t>
            </a:r>
          </a:p>
          <a:p>
            <a:endParaRPr lang="en-ZA" dirty="0"/>
          </a:p>
        </p:txBody>
      </p:sp>
      <p:sp>
        <p:nvSpPr>
          <p:cNvPr id="4" name="Date Placeholder 3"/>
          <p:cNvSpPr>
            <a:spLocks noGrp="1"/>
          </p:cNvSpPr>
          <p:nvPr>
            <p:ph type="dt" sz="half" idx="10"/>
          </p:nvPr>
        </p:nvSpPr>
        <p:spPr/>
        <p:txBody>
          <a:bodyPr/>
          <a:lstStyle/>
          <a:p>
            <a:fld id="{2AD394A7-1302-450B-95EB-FFC37E100C94}" type="datetime3">
              <a:rPr lang="en-ZA" smtClean="0"/>
              <a:t>5 March 2026</a:t>
            </a:fld>
            <a:endParaRPr lang="en-ZA" dirty="0"/>
          </a:p>
        </p:txBody>
      </p:sp>
      <p:sp>
        <p:nvSpPr>
          <p:cNvPr id="6" name="Footer Placeholder 5"/>
          <p:cNvSpPr>
            <a:spLocks noGrp="1"/>
          </p:cNvSpPr>
          <p:nvPr>
            <p:ph type="ftr" sz="quarter" idx="11"/>
          </p:nvPr>
        </p:nvSpPr>
        <p:spPr/>
        <p:txBody>
          <a:bodyPr/>
          <a:lstStyle/>
          <a:p>
            <a:endParaRPr lang="en-ZA"/>
          </a:p>
          <a:p>
            <a:r>
              <a:rPr lang="en-ZA"/>
              <a:t>Department of Mathematics &amp; Physics</a:t>
            </a:r>
            <a:endParaRPr lang="en-ZA" dirty="0"/>
          </a:p>
        </p:txBody>
      </p:sp>
      <p:sp>
        <p:nvSpPr>
          <p:cNvPr id="5" name="Slide Number Placeholder 4"/>
          <p:cNvSpPr>
            <a:spLocks noGrp="1"/>
          </p:cNvSpPr>
          <p:nvPr>
            <p:ph type="sldNum" sz="quarter" idx="12"/>
          </p:nvPr>
        </p:nvSpPr>
        <p:spPr/>
        <p:txBody>
          <a:bodyPr/>
          <a:lstStyle/>
          <a:p>
            <a:fld id="{FCDC5D13-0321-4383-81EA-F2073319DF27}" type="slidenum">
              <a:rPr lang="en-ZA" smtClean="0"/>
              <a:pPr/>
              <a:t>26</a:t>
            </a:fld>
            <a:endParaRPr lang="en-ZA" dirty="0"/>
          </a:p>
        </p:txBody>
      </p:sp>
    </p:spTree>
    <p:extLst>
      <p:ext uri="{BB962C8B-B14F-4D97-AF65-F5344CB8AC3E}">
        <p14:creationId xmlns:p14="http://schemas.microsoft.com/office/powerpoint/2010/main" val="366140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130707-BCA1-2D53-F781-776D4D077414}"/>
              </a:ext>
            </a:extLst>
          </p:cNvPr>
          <p:cNvSpPr>
            <a:spLocks noGrp="1"/>
          </p:cNvSpPr>
          <p:nvPr>
            <p:ph type="dt" sz="half" idx="10"/>
          </p:nvPr>
        </p:nvSpPr>
        <p:spPr/>
        <p:txBody>
          <a:bodyPr/>
          <a:lstStyle/>
          <a:p>
            <a:fld id="{5065A318-0514-4A73-AF9E-6FD7E8DE28C5}" type="datetime3">
              <a:rPr lang="en-ZA" smtClean="0"/>
              <a:t>5 March 2026</a:t>
            </a:fld>
            <a:endParaRPr lang="en-ZA" dirty="0"/>
          </a:p>
        </p:txBody>
      </p:sp>
      <p:sp>
        <p:nvSpPr>
          <p:cNvPr id="3" name="Footer Placeholder 2">
            <a:extLst>
              <a:ext uri="{FF2B5EF4-FFF2-40B4-BE49-F238E27FC236}">
                <a16:creationId xmlns:a16="http://schemas.microsoft.com/office/drawing/2014/main" id="{C8657B8A-437A-BD1D-7E52-10CE45BA0C1A}"/>
              </a:ext>
            </a:extLst>
          </p:cNvPr>
          <p:cNvSpPr>
            <a:spLocks noGrp="1"/>
          </p:cNvSpPr>
          <p:nvPr>
            <p:ph type="ftr" sz="quarter" idx="11"/>
          </p:nvPr>
        </p:nvSpPr>
        <p:spPr/>
        <p:txBody>
          <a:bodyPr/>
          <a:lstStyle/>
          <a:p>
            <a:endParaRPr lang="en-ZA"/>
          </a:p>
          <a:p>
            <a:r>
              <a:rPr lang="en-ZA"/>
              <a:t>Department of Mathematics &amp; Physics</a:t>
            </a:r>
            <a:endParaRPr lang="en-ZA" dirty="0"/>
          </a:p>
        </p:txBody>
      </p:sp>
      <p:sp>
        <p:nvSpPr>
          <p:cNvPr id="4" name="Slide Number Placeholder 3">
            <a:extLst>
              <a:ext uri="{FF2B5EF4-FFF2-40B4-BE49-F238E27FC236}">
                <a16:creationId xmlns:a16="http://schemas.microsoft.com/office/drawing/2014/main" id="{B8837151-F56D-F9A9-4234-ED2E55B71E29}"/>
              </a:ext>
            </a:extLst>
          </p:cNvPr>
          <p:cNvSpPr>
            <a:spLocks noGrp="1"/>
          </p:cNvSpPr>
          <p:nvPr>
            <p:ph type="sldNum" sz="quarter" idx="12"/>
          </p:nvPr>
        </p:nvSpPr>
        <p:spPr/>
        <p:txBody>
          <a:bodyPr/>
          <a:lstStyle/>
          <a:p>
            <a:fld id="{FCDC5D13-0321-4383-81EA-F2073319DF27}" type="slidenum">
              <a:rPr lang="en-ZA" smtClean="0"/>
              <a:pPr/>
              <a:t>27</a:t>
            </a:fld>
            <a:endParaRPr lang="en-ZA"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236208"/>
          </a:xfrm>
          <a:prstGeom prst="rect">
            <a:avLst/>
          </a:prstGeom>
        </p:spPr>
      </p:pic>
    </p:spTree>
    <p:extLst>
      <p:ext uri="{BB962C8B-B14F-4D97-AF65-F5344CB8AC3E}">
        <p14:creationId xmlns:p14="http://schemas.microsoft.com/office/powerpoint/2010/main" val="150383138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71C241A9-A460-4AD1-916F-25308628A5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72e6644-6026-4fd6-8b5e-510b74971ce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BB5DACC0DB97E4E90BC54199C4C1670" ma:contentTypeVersion="15" ma:contentTypeDescription="Create a new document." ma:contentTypeScope="" ma:versionID="7d7db3c00539d267ebcb5d545d0c1c37">
  <xsd:schema xmlns:xsd="http://www.w3.org/2001/XMLSchema" xmlns:xs="http://www.w3.org/2001/XMLSchema" xmlns:p="http://schemas.microsoft.com/office/2006/metadata/properties" xmlns:ns3="b86d935a-ac0b-4964-89ca-c6322b8812e9" xmlns:ns4="a72e6644-6026-4fd6-8b5e-510b74971cef" targetNamespace="http://schemas.microsoft.com/office/2006/metadata/properties" ma:root="true" ma:fieldsID="1d4bf84598c7bae14e4cdd3a57576923" ns3:_="" ns4:_="">
    <xsd:import namespace="b86d935a-ac0b-4964-89ca-c6322b8812e9"/>
    <xsd:import namespace="a72e6644-6026-4fd6-8b5e-510b74971cef"/>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ServiceObjectDetectorVersions" minOccurs="0"/>
                <xsd:element ref="ns4:_activity"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6d935a-ac0b-4964-89ca-c6322b8812e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72e6644-6026-4fd6-8b5e-510b74971ce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481E27-F203-47EE-B829-A971002ADC39}">
  <ds:schemaRefs>
    <ds:schemaRef ds:uri="http://schemas.microsoft.com/office/2006/metadata/properties"/>
    <ds:schemaRef ds:uri="http://purl.org/dc/elements/1.1/"/>
    <ds:schemaRef ds:uri="http://schemas.microsoft.com/office/infopath/2007/PartnerControls"/>
    <ds:schemaRef ds:uri="http://www.w3.org/XML/1998/namespace"/>
    <ds:schemaRef ds:uri="http://purl.org/dc/dcmitype/"/>
    <ds:schemaRef ds:uri="a72e6644-6026-4fd6-8b5e-510b74971cef"/>
    <ds:schemaRef ds:uri="b86d935a-ac0b-4964-89ca-c6322b8812e9"/>
    <ds:schemaRef ds:uri="http://schemas.microsoft.com/office/2006/documentManagement/type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BFD1C148-838C-4B35-AFE7-201C12F0571D}">
  <ds:schemaRefs>
    <ds:schemaRef ds:uri="http://schemas.microsoft.com/sharepoint/v3/contenttype/forms"/>
  </ds:schemaRefs>
</ds:datastoreItem>
</file>

<file path=customXml/itemProps3.xml><?xml version="1.0" encoding="utf-8"?>
<ds:datastoreItem xmlns:ds="http://schemas.openxmlformats.org/officeDocument/2006/customXml" ds:itemID="{CC2B2F92-1D06-47C9-84FC-29CD9219D3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6d935a-ac0b-4964-89ca-c6322b8812e9"/>
    <ds:schemaRef ds:uri="a72e6644-6026-4fd6-8b5e-510b74971ce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View</Template>
  <TotalTime>3626</TotalTime>
  <Words>3356</Words>
  <Application>Microsoft Office PowerPoint</Application>
  <PresentationFormat>Widescreen</PresentationFormat>
  <Paragraphs>459</Paragraphs>
  <Slides>27</Slides>
  <Notes>14</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Parcel</vt:lpstr>
      <vt:lpstr>THE SIGNIFICANT CONTRIBUTION OF  INFORMAL ECONOMY TO ECONOMIC GROWTH IN South Africa’s and labour market</vt:lpstr>
      <vt:lpstr>CONTENTS</vt:lpstr>
      <vt:lpstr>Introduction</vt:lpstr>
      <vt:lpstr>Intro:BACKGROUND</vt:lpstr>
      <vt:lpstr>What is INFORMAL ECONOMY</vt:lpstr>
      <vt:lpstr>THE SIZE AND COMPOSITION OF INFORMAL?</vt:lpstr>
      <vt:lpstr>Challenges Faced by the Informal Economy </vt:lpstr>
      <vt:lpstr> Intro: problem STATEMENT</vt:lpstr>
      <vt:lpstr>Intro:Research questions</vt:lpstr>
      <vt:lpstr>Intro: RESEARCH OBJECTIVE </vt:lpstr>
      <vt:lpstr>LITERATURE REVIEW</vt:lpstr>
      <vt:lpstr>Methodology</vt:lpstr>
      <vt:lpstr>DATA DISTRIBUTIONS</vt:lpstr>
      <vt:lpstr>Binary Logistic Regression Model</vt:lpstr>
      <vt:lpstr>Data analysis</vt:lpstr>
      <vt:lpstr>Results &amp; Discussion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lpstr>Policy Recommendations and Strategies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Community detection in social media</dc:title>
  <dc:creator>Hendry Mike Mkhonto</dc:creator>
  <cp:lastModifiedBy>Hendry Mike Mkhonto</cp:lastModifiedBy>
  <cp:revision>280</cp:revision>
  <dcterms:created xsi:type="dcterms:W3CDTF">2024-06-07T15:10:25Z</dcterms:created>
  <dcterms:modified xsi:type="dcterms:W3CDTF">2026-03-06T07:30:34Z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0x010100EBB5DACC0DB97E4E90BC54199C4C1670</vt:lpwstr>
  </property>
</Properties>
</file>